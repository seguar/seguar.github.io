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Mbit/s</c:v>
                </c:pt>
              </c:strCache>
            </c:strRef>
          </c:tx>
          <c:invertIfNegative val="1"/>
          <c:dPt>
            <c:idx val="0"/>
            <c:invertIfNegative val="1"/>
            <c:bubble3D val="0"/>
            <c:spPr>
              <a:solidFill>
                <a:srgbClr val="B8C1CA"/>
              </a:solidFill>
              <a:ln>
                <a:noFill/>
              </a:ln>
            </c:spPr>
            <c:extLst>
              <c:ext xmlns:c16="http://schemas.microsoft.com/office/drawing/2014/chart" uri="{C3380CC4-5D6E-409C-BE32-E72D297353CC}">
                <c16:uniqueId val="{00000001-7D76-4569-8807-B88F606F64C0}"/>
              </c:ext>
            </c:extLst>
          </c:dPt>
          <c:dPt>
            <c:idx val="1"/>
            <c:invertIfNegative val="1"/>
            <c:bubble3D val="0"/>
            <c:spPr>
              <a:solidFill>
                <a:srgbClr val="B8C1CA"/>
              </a:solidFill>
              <a:ln>
                <a:noFill/>
              </a:ln>
            </c:spPr>
            <c:extLst>
              <c:ext xmlns:c16="http://schemas.microsoft.com/office/drawing/2014/chart" uri="{C3380CC4-5D6E-409C-BE32-E72D297353CC}">
                <c16:uniqueId val="{00000003-7D76-4569-8807-B88F606F64C0}"/>
              </c:ext>
            </c:extLst>
          </c:dPt>
          <c:dPt>
            <c:idx val="2"/>
            <c:invertIfNegative val="1"/>
            <c:bubble3D val="0"/>
            <c:spPr>
              <a:solidFill>
                <a:srgbClr val="B8C1CA"/>
              </a:solidFill>
              <a:ln>
                <a:noFill/>
              </a:ln>
            </c:spPr>
            <c:extLst>
              <c:ext xmlns:c16="http://schemas.microsoft.com/office/drawing/2014/chart" uri="{C3380CC4-5D6E-409C-BE32-E72D297353CC}">
                <c16:uniqueId val="{00000005-7D76-4569-8807-B88F606F64C0}"/>
              </c:ext>
            </c:extLst>
          </c:dPt>
          <c:dPt>
            <c:idx val="3"/>
            <c:invertIfNegative val="1"/>
            <c:bubble3D val="0"/>
            <c:spPr>
              <a:solidFill>
                <a:srgbClr val="B8C1CA"/>
              </a:solidFill>
              <a:ln>
                <a:noFill/>
              </a:ln>
            </c:spPr>
            <c:extLst>
              <c:ext xmlns:c16="http://schemas.microsoft.com/office/drawing/2014/chart" uri="{C3380CC4-5D6E-409C-BE32-E72D297353CC}">
                <c16:uniqueId val="{00000007-7D76-4569-8807-B88F606F64C0}"/>
              </c:ext>
            </c:extLst>
          </c:dPt>
          <c:dPt>
            <c:idx val="4"/>
            <c:invertIfNegative val="1"/>
            <c:bubble3D val="0"/>
            <c:spPr>
              <a:solidFill>
                <a:srgbClr val="B8C1CA"/>
              </a:solidFill>
              <a:ln>
                <a:noFill/>
              </a:ln>
            </c:spPr>
            <c:extLst>
              <c:ext xmlns:c16="http://schemas.microsoft.com/office/drawing/2014/chart" uri="{C3380CC4-5D6E-409C-BE32-E72D297353CC}">
                <c16:uniqueId val="{00000009-7D76-4569-8807-B88F606F64C0}"/>
              </c:ext>
            </c:extLst>
          </c:dPt>
          <c:dPt>
            <c:idx val="5"/>
            <c:invertIfNegative val="1"/>
            <c:bubble3D val="0"/>
            <c:spPr>
              <a:solidFill>
                <a:srgbClr val="B8C1CA"/>
              </a:solidFill>
              <a:ln>
                <a:noFill/>
              </a:ln>
            </c:spPr>
            <c:extLst>
              <c:ext xmlns:c16="http://schemas.microsoft.com/office/drawing/2014/chart" uri="{C3380CC4-5D6E-409C-BE32-E72D297353CC}">
                <c16:uniqueId val="{0000000B-7D76-4569-8807-B88F606F64C0}"/>
              </c:ext>
            </c:extLst>
          </c:dPt>
          <c:dPt>
            <c:idx val="6"/>
            <c:invertIfNegative val="1"/>
            <c:bubble3D val="0"/>
            <c:spPr>
              <a:solidFill>
                <a:srgbClr val="1F5C99"/>
              </a:solidFill>
              <a:ln>
                <a:noFill/>
              </a:ln>
            </c:spPr>
            <c:extLst>
              <c:ext xmlns:c16="http://schemas.microsoft.com/office/drawing/2014/chart" uri="{C3380CC4-5D6E-409C-BE32-E72D297353CC}">
                <c16:uniqueId val="{0000000D-7D76-4569-8807-B88F606F64C0}"/>
              </c:ext>
            </c:extLst>
          </c:dPt>
          <c:dPt>
            <c:idx val="7"/>
            <c:invertIfNegative val="1"/>
            <c:bubble3D val="0"/>
            <c:spPr>
              <a:solidFill>
                <a:srgbClr val="1F5C99"/>
              </a:solidFill>
              <a:ln>
                <a:noFill/>
              </a:ln>
            </c:spPr>
            <c:extLst>
              <c:ext xmlns:c16="http://schemas.microsoft.com/office/drawing/2014/chart" uri="{C3380CC4-5D6E-409C-BE32-E72D297353CC}">
                <c16:uniqueId val="{0000000F-7D76-4569-8807-B88F606F64C0}"/>
              </c:ext>
            </c:extLst>
          </c:dPt>
          <c:dPt>
            <c:idx val="8"/>
            <c:invertIfNegative val="1"/>
            <c:bubble3D val="0"/>
            <c:spPr>
              <a:solidFill>
                <a:srgbClr val="1F5C99"/>
              </a:solidFill>
              <a:ln>
                <a:noFill/>
              </a:ln>
            </c:spPr>
            <c:extLst>
              <c:ext xmlns:c16="http://schemas.microsoft.com/office/drawing/2014/chart" uri="{C3380CC4-5D6E-409C-BE32-E72D297353CC}">
                <c16:uniqueId val="{00000011-7D76-4569-8807-B88F606F64C0}"/>
              </c:ext>
            </c:extLst>
          </c:dPt>
          <c:dLbls>
            <c:numFmt formatCode="#,##0&quot; Mbit/s&quot;" sourceLinked="0"/>
            <c:spPr>
              <a:noFill/>
              <a:ln>
                <a:noFill/>
              </a:ln>
              <a:effectLst/>
            </c:spPr>
            <c:txPr>
              <a:bodyPr/>
              <a:lstStyle/>
              <a:p>
                <a:pPr>
                  <a:defRPr sz="1000">
                    <a:solidFill>
                      <a:srgbClr val="1D2733"/>
                    </a:solidFill>
                  </a:defRPr>
                </a:pPr>
                <a:endParaRPr lang="LID4096"/>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C5 UART (ESP-SDR default)</c:v>
                </c:pt>
                <c:pt idx="1">
                  <c:v>C5 USB-Serial-JTAG (ESP-SDR)</c:v>
                </c:pt>
                <c:pt idx="2">
                  <c:v>C5 PARLIO, 2 bit × 40 MHz</c:v>
                </c:pt>
                <c:pt idx="3">
                  <c:v>C5 PARLIO, 8 bit × 40 MHz</c:v>
                </c:pt>
                <c:pt idx="4">
                  <c:v>S31 PARLIO, 16 bit × 40 MHz</c:v>
                </c:pt>
                <c:pt idx="5">
                  <c:v>Gigabit Ethernet</c:v>
                </c:pt>
                <c:pt idx="6">
                  <c:v>1 element, 80 MS/s</c:v>
                </c:pt>
                <c:pt idx="7">
                  <c:v>16 elements, 20 MS/s</c:v>
                </c:pt>
                <c:pt idx="8">
                  <c:v>16 elements, 80 MS/s</c:v>
                </c:pt>
              </c:strCache>
            </c:strRef>
          </c:cat>
          <c:val>
            <c:numRef>
              <c:f>Sheet1!$B$2:$B$10</c:f>
              <c:numCache>
                <c:formatCode>General</c:formatCode>
                <c:ptCount val="9"/>
                <c:pt idx="0">
                  <c:v>2</c:v>
                </c:pt>
                <c:pt idx="1">
                  <c:v>12</c:v>
                </c:pt>
                <c:pt idx="2">
                  <c:v>80</c:v>
                </c:pt>
                <c:pt idx="3">
                  <c:v>320</c:v>
                </c:pt>
                <c:pt idx="4">
                  <c:v>640</c:v>
                </c:pt>
                <c:pt idx="5">
                  <c:v>1000</c:v>
                </c:pt>
                <c:pt idx="6">
                  <c:v>1280</c:v>
                </c:pt>
                <c:pt idx="7">
                  <c:v>5120</c:v>
                </c:pt>
                <c:pt idx="8">
                  <c:v>20480</c:v>
                </c:pt>
              </c:numCache>
            </c:numRef>
          </c:val>
          <c:extLst>
            <c:ext xmlns:c16="http://schemas.microsoft.com/office/drawing/2014/chart" uri="{C3380CC4-5D6E-409C-BE32-E72D297353CC}">
              <c16:uniqueId val="{00000012-7D76-4569-8807-B88F606F64C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3D9DF"/>
            </a:solidFill>
          </a:ln>
        </c:spPr>
        <c:txPr>
          <a:bodyPr/>
          <a:lstStyle/>
          <a:p>
            <a:pPr>
              <a:defRPr sz="1100">
                <a:solidFill>
                  <a:srgbClr val="1D2733"/>
                </a:solidFill>
                <a:latin typeface="Calibri"/>
              </a:defRPr>
            </a:pPr>
            <a:endParaRPr lang="LID4096"/>
          </a:p>
        </c:txPr>
        <c:crossAx val="-2113994440"/>
        <c:crosses val="autoZero"/>
        <c:auto val="1"/>
        <c:lblAlgn val="ctr"/>
        <c:lblOffset val="100"/>
        <c:noMultiLvlLbl val="0"/>
      </c:catAx>
      <c:valAx>
        <c:axId val="-2113994440"/>
        <c:scaling>
          <c:logBase val="10"/>
          <c:orientation val="minMax"/>
          <c:max val="100000"/>
          <c:min val="1"/>
        </c:scaling>
        <c:delete val="0"/>
        <c:axPos val="b"/>
        <c:majorGridlines>
          <c:spPr>
            <a:ln>
              <a:solidFill>
                <a:srgbClr val="E6EAEE"/>
              </a:solidFill>
            </a:ln>
          </c:spPr>
        </c:majorGridlines>
        <c:title>
          <c:tx>
            <c:rich>
              <a:bodyPr/>
              <a:lstStyle/>
              <a:p>
                <a:r>
                  <a:rPr sz="1000" b="0">
                    <a:solidFill>
                      <a:srgbClr val="5B6776"/>
                    </a:solidFill>
                  </a:rPr>
                  <a:t>Mbit/s (log scale)</a:t>
                </a:r>
              </a:p>
            </c:rich>
          </c:tx>
          <c:overlay val="0"/>
        </c:title>
        <c:numFmt formatCode="#,##0" sourceLinked="0"/>
        <c:majorTickMark val="out"/>
        <c:minorTickMark val="none"/>
        <c:tickLblPos val="nextTo"/>
        <c:spPr>
          <a:ln>
            <a:solidFill>
              <a:srgbClr val="D3D9DF"/>
            </a:solidFill>
          </a:ln>
        </c:spPr>
        <c:txPr>
          <a:bodyPr/>
          <a:lstStyle/>
          <a:p>
            <a:pPr>
              <a:defRPr sz="1000">
                <a:solidFill>
                  <a:srgbClr val="5B6776"/>
                </a:solidFill>
                <a:latin typeface="Calibri"/>
              </a:defRPr>
            </a:pPr>
            <a:endParaRPr lang="LID4096"/>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steered to 0°</c:v>
                </c:pt>
              </c:strCache>
            </c:strRef>
          </c:tx>
          <c:spPr>
            <a:ln w="22225">
              <a:solidFill>
                <a:srgbClr val="1F5C99"/>
              </a:solidFill>
            </a:ln>
          </c:spPr>
          <c:marker>
            <c:symbol val="none"/>
          </c:marker>
          <c:xVal>
            <c:numRef>
              <c:f>Sheet1!$A$2:$A$182</c:f>
              <c:numCache>
                <c:formatCode>General</c:formatCode>
                <c:ptCount val="181"/>
                <c:pt idx="0">
                  <c:v>-90</c:v>
                </c:pt>
                <c:pt idx="1">
                  <c:v>-89</c:v>
                </c:pt>
                <c:pt idx="2">
                  <c:v>-88</c:v>
                </c:pt>
                <c:pt idx="3">
                  <c:v>-87</c:v>
                </c:pt>
                <c:pt idx="4">
                  <c:v>-86</c:v>
                </c:pt>
                <c:pt idx="5">
                  <c:v>-85</c:v>
                </c:pt>
                <c:pt idx="6">
                  <c:v>-84</c:v>
                </c:pt>
                <c:pt idx="7">
                  <c:v>-83</c:v>
                </c:pt>
                <c:pt idx="8">
                  <c:v>-82</c:v>
                </c:pt>
                <c:pt idx="9">
                  <c:v>-81</c:v>
                </c:pt>
                <c:pt idx="10">
                  <c:v>-80</c:v>
                </c:pt>
                <c:pt idx="11">
                  <c:v>-79</c:v>
                </c:pt>
                <c:pt idx="12">
                  <c:v>-78</c:v>
                </c:pt>
                <c:pt idx="13">
                  <c:v>-77</c:v>
                </c:pt>
                <c:pt idx="14">
                  <c:v>-76</c:v>
                </c:pt>
                <c:pt idx="15">
                  <c:v>-75</c:v>
                </c:pt>
                <c:pt idx="16">
                  <c:v>-74</c:v>
                </c:pt>
                <c:pt idx="17">
                  <c:v>-73</c:v>
                </c:pt>
                <c:pt idx="18">
                  <c:v>-72</c:v>
                </c:pt>
                <c:pt idx="19">
                  <c:v>-71</c:v>
                </c:pt>
                <c:pt idx="20">
                  <c:v>-70</c:v>
                </c:pt>
                <c:pt idx="21">
                  <c:v>-69</c:v>
                </c:pt>
                <c:pt idx="22">
                  <c:v>-68</c:v>
                </c:pt>
                <c:pt idx="23">
                  <c:v>-67</c:v>
                </c:pt>
                <c:pt idx="24">
                  <c:v>-66</c:v>
                </c:pt>
                <c:pt idx="25">
                  <c:v>-65</c:v>
                </c:pt>
                <c:pt idx="26">
                  <c:v>-64</c:v>
                </c:pt>
                <c:pt idx="27">
                  <c:v>-63</c:v>
                </c:pt>
                <c:pt idx="28">
                  <c:v>-62</c:v>
                </c:pt>
                <c:pt idx="29">
                  <c:v>-61</c:v>
                </c:pt>
                <c:pt idx="30">
                  <c:v>-60</c:v>
                </c:pt>
                <c:pt idx="31">
                  <c:v>-59</c:v>
                </c:pt>
                <c:pt idx="32">
                  <c:v>-58</c:v>
                </c:pt>
                <c:pt idx="33">
                  <c:v>-57</c:v>
                </c:pt>
                <c:pt idx="34">
                  <c:v>-56</c:v>
                </c:pt>
                <c:pt idx="35">
                  <c:v>-55</c:v>
                </c:pt>
                <c:pt idx="36">
                  <c:v>-54</c:v>
                </c:pt>
                <c:pt idx="37">
                  <c:v>-53</c:v>
                </c:pt>
                <c:pt idx="38">
                  <c:v>-52</c:v>
                </c:pt>
                <c:pt idx="39">
                  <c:v>-51</c:v>
                </c:pt>
                <c:pt idx="40">
                  <c:v>-50</c:v>
                </c:pt>
                <c:pt idx="41">
                  <c:v>-49</c:v>
                </c:pt>
                <c:pt idx="42">
                  <c:v>-48</c:v>
                </c:pt>
                <c:pt idx="43">
                  <c:v>-47</c:v>
                </c:pt>
                <c:pt idx="44">
                  <c:v>-46</c:v>
                </c:pt>
                <c:pt idx="45">
                  <c:v>-45</c:v>
                </c:pt>
                <c:pt idx="46">
                  <c:v>-44</c:v>
                </c:pt>
                <c:pt idx="47">
                  <c:v>-43</c:v>
                </c:pt>
                <c:pt idx="48">
                  <c:v>-42</c:v>
                </c:pt>
                <c:pt idx="49">
                  <c:v>-41</c:v>
                </c:pt>
                <c:pt idx="50">
                  <c:v>-40</c:v>
                </c:pt>
                <c:pt idx="51">
                  <c:v>-39</c:v>
                </c:pt>
                <c:pt idx="52">
                  <c:v>-38</c:v>
                </c:pt>
                <c:pt idx="53">
                  <c:v>-37</c:v>
                </c:pt>
                <c:pt idx="54">
                  <c:v>-36</c:v>
                </c:pt>
                <c:pt idx="55">
                  <c:v>-35</c:v>
                </c:pt>
                <c:pt idx="56">
                  <c:v>-34</c:v>
                </c:pt>
                <c:pt idx="57">
                  <c:v>-33</c:v>
                </c:pt>
                <c:pt idx="58">
                  <c:v>-32</c:v>
                </c:pt>
                <c:pt idx="59">
                  <c:v>-31</c:v>
                </c:pt>
                <c:pt idx="60">
                  <c:v>-30</c:v>
                </c:pt>
                <c:pt idx="61">
                  <c:v>-29</c:v>
                </c:pt>
                <c:pt idx="62">
                  <c:v>-28</c:v>
                </c:pt>
                <c:pt idx="63">
                  <c:v>-27</c:v>
                </c:pt>
                <c:pt idx="64">
                  <c:v>-26</c:v>
                </c:pt>
                <c:pt idx="65">
                  <c:v>-25</c:v>
                </c:pt>
                <c:pt idx="66">
                  <c:v>-24</c:v>
                </c:pt>
                <c:pt idx="67">
                  <c:v>-23</c:v>
                </c:pt>
                <c:pt idx="68">
                  <c:v>-22</c:v>
                </c:pt>
                <c:pt idx="69">
                  <c:v>-21</c:v>
                </c:pt>
                <c:pt idx="70">
                  <c:v>-20</c:v>
                </c:pt>
                <c:pt idx="71">
                  <c:v>-19</c:v>
                </c:pt>
                <c:pt idx="72">
                  <c:v>-18</c:v>
                </c:pt>
                <c:pt idx="73">
                  <c:v>-17</c:v>
                </c:pt>
                <c:pt idx="74">
                  <c:v>-16</c:v>
                </c:pt>
                <c:pt idx="75">
                  <c:v>-15</c:v>
                </c:pt>
                <c:pt idx="76">
                  <c:v>-14</c:v>
                </c:pt>
                <c:pt idx="77">
                  <c:v>-13</c:v>
                </c:pt>
                <c:pt idx="78">
                  <c:v>-12</c:v>
                </c:pt>
                <c:pt idx="79">
                  <c:v>-11</c:v>
                </c:pt>
                <c:pt idx="80">
                  <c:v>-10</c:v>
                </c:pt>
                <c:pt idx="81">
                  <c:v>-9</c:v>
                </c:pt>
                <c:pt idx="82">
                  <c:v>-8</c:v>
                </c:pt>
                <c:pt idx="83">
                  <c:v>-7</c:v>
                </c:pt>
                <c:pt idx="84">
                  <c:v>-6</c:v>
                </c:pt>
                <c:pt idx="85">
                  <c:v>-5</c:v>
                </c:pt>
                <c:pt idx="86">
                  <c:v>-4</c:v>
                </c:pt>
                <c:pt idx="87">
                  <c:v>-3</c:v>
                </c:pt>
                <c:pt idx="88">
                  <c:v>-2</c:v>
                </c:pt>
                <c:pt idx="89">
                  <c:v>-1</c:v>
                </c:pt>
                <c:pt idx="90">
                  <c:v>0</c:v>
                </c:pt>
                <c:pt idx="91">
                  <c:v>1</c:v>
                </c:pt>
                <c:pt idx="92">
                  <c:v>2</c:v>
                </c:pt>
                <c:pt idx="93">
                  <c:v>3</c:v>
                </c:pt>
                <c:pt idx="94">
                  <c:v>4</c:v>
                </c:pt>
                <c:pt idx="95">
                  <c:v>5</c:v>
                </c:pt>
                <c:pt idx="96">
                  <c:v>6</c:v>
                </c:pt>
                <c:pt idx="97">
                  <c:v>7</c:v>
                </c:pt>
                <c:pt idx="98">
                  <c:v>8</c:v>
                </c:pt>
                <c:pt idx="99">
                  <c:v>9</c:v>
                </c:pt>
                <c:pt idx="100">
                  <c:v>10</c:v>
                </c:pt>
                <c:pt idx="101">
                  <c:v>11</c:v>
                </c:pt>
                <c:pt idx="102">
                  <c:v>12</c:v>
                </c:pt>
                <c:pt idx="103">
                  <c:v>13</c:v>
                </c:pt>
                <c:pt idx="104">
                  <c:v>14</c:v>
                </c:pt>
                <c:pt idx="105">
                  <c:v>15</c:v>
                </c:pt>
                <c:pt idx="106">
                  <c:v>16</c:v>
                </c:pt>
                <c:pt idx="107">
                  <c:v>17</c:v>
                </c:pt>
                <c:pt idx="108">
                  <c:v>18</c:v>
                </c:pt>
                <c:pt idx="109">
                  <c:v>19</c:v>
                </c:pt>
                <c:pt idx="110">
                  <c:v>20</c:v>
                </c:pt>
                <c:pt idx="111">
                  <c:v>21</c:v>
                </c:pt>
                <c:pt idx="112">
                  <c:v>22</c:v>
                </c:pt>
                <c:pt idx="113">
                  <c:v>23</c:v>
                </c:pt>
                <c:pt idx="114">
                  <c:v>24</c:v>
                </c:pt>
                <c:pt idx="115">
                  <c:v>25</c:v>
                </c:pt>
                <c:pt idx="116">
                  <c:v>26</c:v>
                </c:pt>
                <c:pt idx="117">
                  <c:v>27</c:v>
                </c:pt>
                <c:pt idx="118">
                  <c:v>28</c:v>
                </c:pt>
                <c:pt idx="119">
                  <c:v>29</c:v>
                </c:pt>
                <c:pt idx="120">
                  <c:v>30</c:v>
                </c:pt>
                <c:pt idx="121">
                  <c:v>31</c:v>
                </c:pt>
                <c:pt idx="122">
                  <c:v>32</c:v>
                </c:pt>
                <c:pt idx="123">
                  <c:v>33</c:v>
                </c:pt>
                <c:pt idx="124">
                  <c:v>34</c:v>
                </c:pt>
                <c:pt idx="125">
                  <c:v>35</c:v>
                </c:pt>
                <c:pt idx="126">
                  <c:v>36</c:v>
                </c:pt>
                <c:pt idx="127">
                  <c:v>37</c:v>
                </c:pt>
                <c:pt idx="128">
                  <c:v>38</c:v>
                </c:pt>
                <c:pt idx="129">
                  <c:v>39</c:v>
                </c:pt>
                <c:pt idx="130">
                  <c:v>40</c:v>
                </c:pt>
                <c:pt idx="131">
                  <c:v>41</c:v>
                </c:pt>
                <c:pt idx="132">
                  <c:v>42</c:v>
                </c:pt>
                <c:pt idx="133">
                  <c:v>43</c:v>
                </c:pt>
                <c:pt idx="134">
                  <c:v>44</c:v>
                </c:pt>
                <c:pt idx="135">
                  <c:v>45</c:v>
                </c:pt>
                <c:pt idx="136">
                  <c:v>46</c:v>
                </c:pt>
                <c:pt idx="137">
                  <c:v>47</c:v>
                </c:pt>
                <c:pt idx="138">
                  <c:v>48</c:v>
                </c:pt>
                <c:pt idx="139">
                  <c:v>49</c:v>
                </c:pt>
                <c:pt idx="140">
                  <c:v>50</c:v>
                </c:pt>
                <c:pt idx="141">
                  <c:v>51</c:v>
                </c:pt>
                <c:pt idx="142">
                  <c:v>52</c:v>
                </c:pt>
                <c:pt idx="143">
                  <c:v>53</c:v>
                </c:pt>
                <c:pt idx="144">
                  <c:v>54</c:v>
                </c:pt>
                <c:pt idx="145">
                  <c:v>55</c:v>
                </c:pt>
                <c:pt idx="146">
                  <c:v>56</c:v>
                </c:pt>
                <c:pt idx="147">
                  <c:v>57</c:v>
                </c:pt>
                <c:pt idx="148">
                  <c:v>58</c:v>
                </c:pt>
                <c:pt idx="149">
                  <c:v>59</c:v>
                </c:pt>
                <c:pt idx="150">
                  <c:v>60</c:v>
                </c:pt>
                <c:pt idx="151">
                  <c:v>61</c:v>
                </c:pt>
                <c:pt idx="152">
                  <c:v>62</c:v>
                </c:pt>
                <c:pt idx="153">
                  <c:v>63</c:v>
                </c:pt>
                <c:pt idx="154">
                  <c:v>64</c:v>
                </c:pt>
                <c:pt idx="155">
                  <c:v>65</c:v>
                </c:pt>
                <c:pt idx="156">
                  <c:v>66</c:v>
                </c:pt>
                <c:pt idx="157">
                  <c:v>67</c:v>
                </c:pt>
                <c:pt idx="158">
                  <c:v>68</c:v>
                </c:pt>
                <c:pt idx="159">
                  <c:v>69</c:v>
                </c:pt>
                <c:pt idx="160">
                  <c:v>70</c:v>
                </c:pt>
                <c:pt idx="161">
                  <c:v>71</c:v>
                </c:pt>
                <c:pt idx="162">
                  <c:v>72</c:v>
                </c:pt>
                <c:pt idx="163">
                  <c:v>73</c:v>
                </c:pt>
                <c:pt idx="164">
                  <c:v>74</c:v>
                </c:pt>
                <c:pt idx="165">
                  <c:v>75</c:v>
                </c:pt>
                <c:pt idx="166">
                  <c:v>76</c:v>
                </c:pt>
                <c:pt idx="167">
                  <c:v>77</c:v>
                </c:pt>
                <c:pt idx="168">
                  <c:v>78</c:v>
                </c:pt>
                <c:pt idx="169">
                  <c:v>79</c:v>
                </c:pt>
                <c:pt idx="170">
                  <c:v>80</c:v>
                </c:pt>
                <c:pt idx="171">
                  <c:v>81</c:v>
                </c:pt>
                <c:pt idx="172">
                  <c:v>82</c:v>
                </c:pt>
                <c:pt idx="173">
                  <c:v>83</c:v>
                </c:pt>
                <c:pt idx="174">
                  <c:v>84</c:v>
                </c:pt>
                <c:pt idx="175">
                  <c:v>85</c:v>
                </c:pt>
                <c:pt idx="176">
                  <c:v>86</c:v>
                </c:pt>
                <c:pt idx="177">
                  <c:v>87</c:v>
                </c:pt>
                <c:pt idx="178">
                  <c:v>88</c:v>
                </c:pt>
                <c:pt idx="179">
                  <c:v>89</c:v>
                </c:pt>
                <c:pt idx="180">
                  <c:v>90</c:v>
                </c:pt>
              </c:numCache>
            </c:numRef>
          </c:xVal>
          <c:yVal>
            <c:numRef>
              <c:f>Sheet1!$B$2:$B$182</c:f>
              <c:numCache>
                <c:formatCode>General</c:formatCode>
                <c:ptCount val="181"/>
                <c:pt idx="0">
                  <c:v>-40</c:v>
                </c:pt>
                <c:pt idx="1">
                  <c:v>-40</c:v>
                </c:pt>
                <c:pt idx="2">
                  <c:v>-40</c:v>
                </c:pt>
                <c:pt idx="3">
                  <c:v>-40</c:v>
                </c:pt>
                <c:pt idx="4">
                  <c:v>-40</c:v>
                </c:pt>
                <c:pt idx="5">
                  <c:v>-40</c:v>
                </c:pt>
                <c:pt idx="6">
                  <c:v>-40</c:v>
                </c:pt>
                <c:pt idx="7">
                  <c:v>-38.632571539957191</c:v>
                </c:pt>
                <c:pt idx="8">
                  <c:v>-36.318020330737639</c:v>
                </c:pt>
                <c:pt idx="9">
                  <c:v>-34.278310724764964</c:v>
                </c:pt>
                <c:pt idx="10">
                  <c:v>-32.455883405252735</c:v>
                </c:pt>
                <c:pt idx="11">
                  <c:v>-30.80977040158027</c:v>
                </c:pt>
                <c:pt idx="12">
                  <c:v>-29.309810105004203</c:v>
                </c:pt>
                <c:pt idx="13">
                  <c:v>-27.933185798512639</c:v>
                </c:pt>
                <c:pt idx="14">
                  <c:v>-26.66225064813441</c:v>
                </c:pt>
                <c:pt idx="15">
                  <c:v>-25.483104944051107</c:v>
                </c:pt>
                <c:pt idx="16">
                  <c:v>-24.384633542646977</c:v>
                </c:pt>
                <c:pt idx="17">
                  <c:v>-23.357835766747058</c:v>
                </c:pt>
                <c:pt idx="18">
                  <c:v>-22.395347315797185</c:v>
                </c:pt>
                <c:pt idx="19">
                  <c:v>-21.491091849184855</c:v>
                </c:pt>
                <c:pt idx="20">
                  <c:v>-20.640022343410944</c:v>
                </c:pt>
                <c:pt idx="21">
                  <c:v>-19.837925987007569</c:v>
                </c:pt>
                <c:pt idx="22">
                  <c:v>-19.081274947943221</c:v>
                </c:pt>
                <c:pt idx="23">
                  <c:v>-18.36711086849736</c:v>
                </c:pt>
                <c:pt idx="24">
                  <c:v>-17.692954583388694</c:v>
                </c:pt>
                <c:pt idx="25">
                  <c:v>-17.056735010676444</c:v>
                </c:pt>
                <c:pt idx="26">
                  <c:v>-16.456732852195991</c:v>
                </c:pt>
                <c:pt idx="27">
                  <c:v>-15.891535922929705</c:v>
                </c:pt>
                <c:pt idx="28">
                  <c:v>-15.36000377360358</c:v>
                </c:pt>
                <c:pt idx="29">
                  <c:v>-14.86123988662894</c:v>
                </c:pt>
                <c:pt idx="30">
                  <c:v>-14.394570184667316</c:v>
                </c:pt>
                <c:pt idx="31">
                  <c:v>-13.959526943005651</c:v>
                </c:pt>
                <c:pt idx="32">
                  <c:v>-13.555837476366765</c:v>
                </c:pt>
                <c:pt idx="33">
                  <c:v>-13.183417203251706</c:v>
                </c:pt>
                <c:pt idx="34">
                  <c:v>-12.842366896285002</c:v>
                </c:pt>
                <c:pt idx="35">
                  <c:v>-12.532974122166005</c:v>
                </c:pt>
                <c:pt idx="36">
                  <c:v>-12.255719075704556</c:v>
                </c:pt>
                <c:pt idx="37">
                  <c:v>-12.011285236180305</c:v>
                </c:pt>
                <c:pt idx="38">
                  <c:v>-11.800575541518759</c:v>
                </c:pt>
                <c:pt idx="39">
                  <c:v>-11.624735113610772</c:v>
                </c:pt>
                <c:pt idx="40">
                  <c:v>-11.48518201448857</c:v>
                </c:pt>
                <c:pt idx="41">
                  <c:v>-11.383648123683933</c:v>
                </c:pt>
                <c:pt idx="42">
                  <c:v>-11.322233086374958</c:v>
                </c:pt>
                <c:pt idx="43">
                  <c:v>-11.303475521585806</c:v>
                </c:pt>
                <c:pt idx="44">
                  <c:v>-11.330447510620775</c:v>
                </c:pt>
                <c:pt idx="45">
                  <c:v>-11.406881154729135</c:v>
                </c:pt>
                <c:pt idx="46">
                  <c:v>-11.537340283646762</c:v>
                </c:pt>
                <c:pt idx="47">
                  <c:v>-11.727457234285465</c:v>
                </c:pt>
                <c:pt idx="48">
                  <c:v>-11.984265842651915</c:v>
                </c:pt>
                <c:pt idx="49">
                  <c:v>-12.316680852045089</c:v>
                </c:pt>
                <c:pt idx="50">
                  <c:v>-12.736207591401321</c:v>
                </c:pt>
                <c:pt idx="51">
                  <c:v>-13.258027933712995</c:v>
                </c:pt>
                <c:pt idx="52">
                  <c:v>-13.902729628352953</c:v>
                </c:pt>
                <c:pt idx="53">
                  <c:v>-14.699197523749856</c:v>
                </c:pt>
                <c:pt idx="54">
                  <c:v>-15.689749696510919</c:v>
                </c:pt>
                <c:pt idx="55">
                  <c:v>-16.93999992065698</c:v>
                </c:pt>
                <c:pt idx="56">
                  <c:v>-18.559866868471435</c:v>
                </c:pt>
                <c:pt idx="57">
                  <c:v>-20.755392377480682</c:v>
                </c:pt>
                <c:pt idx="58">
                  <c:v>-23.989104747708339</c:v>
                </c:pt>
                <c:pt idx="59">
                  <c:v>-29.736789666337145</c:v>
                </c:pt>
                <c:pt idx="60">
                  <c:v>-40</c:v>
                </c:pt>
                <c:pt idx="61">
                  <c:v>-29.236841488508524</c:v>
                </c:pt>
                <c:pt idx="62">
                  <c:v>-22.989372883704689</c:v>
                </c:pt>
                <c:pt idx="63">
                  <c:v>-19.256205269562138</c:v>
                </c:pt>
                <c:pt idx="64">
                  <c:v>-16.561715822354511</c:v>
                </c:pt>
                <c:pt idx="65">
                  <c:v>-14.443537462072239</c:v>
                </c:pt>
                <c:pt idx="66">
                  <c:v>-12.695787355990319</c:v>
                </c:pt>
                <c:pt idx="67">
                  <c:v>-11.20870302863716</c:v>
                </c:pt>
                <c:pt idx="68">
                  <c:v>-9.9168234751765922</c:v>
                </c:pt>
                <c:pt idx="69">
                  <c:v>-8.7779793077837027</c:v>
                </c:pt>
                <c:pt idx="70">
                  <c:v>-7.7634295936925559</c:v>
                </c:pt>
                <c:pt idx="71">
                  <c:v>-6.8527249859637918</c:v>
                </c:pt>
                <c:pt idx="72">
                  <c:v>-6.0308157050754385</c:v>
                </c:pt>
                <c:pt idx="73">
                  <c:v>-5.2863213460738869</c:v>
                </c:pt>
                <c:pt idx="74">
                  <c:v>-4.6104439845572411</c:v>
                </c:pt>
                <c:pt idx="75">
                  <c:v>-3.9962574760504967</c:v>
                </c:pt>
                <c:pt idx="76">
                  <c:v>-3.4382269256623688</c:v>
                </c:pt>
                <c:pt idx="77">
                  <c:v>-2.9318744590985419</c:v>
                </c:pt>
                <c:pt idx="78">
                  <c:v>-2.4735410746977329</c:v>
                </c:pt>
                <c:pt idx="79">
                  <c:v>-2.0602134134660548</c:v>
                </c:pt>
                <c:pt idx="80">
                  <c:v>-1.6893955047156439</c:v>
                </c:pt>
                <c:pt idx="81">
                  <c:v>-1.3590123787197212</c:v>
                </c:pt>
                <c:pt idx="82">
                  <c:v>-1.0673367258413964</c:v>
                </c:pt>
                <c:pt idx="83">
                  <c:v>-0.81293254483245803</c:v>
                </c:pt>
                <c:pt idx="84">
                  <c:v>-0.59461154712869313</c:v>
                </c:pt>
                <c:pt idx="85">
                  <c:v>-0.41139931532348245</c:v>
                </c:pt>
                <c:pt idx="86">
                  <c:v>-0.26250906306663269</c:v>
                </c:pt>
                <c:pt idx="87">
                  <c:v>-0.14732144160653637</c:v>
                </c:pt>
                <c:pt idx="88">
                  <c:v>-6.5369268836302591E-2</c:v>
                </c:pt>
                <c:pt idx="89">
                  <c:v>-1.6326374804880896E-2</c:v>
                </c:pt>
                <c:pt idx="90">
                  <c:v>0</c:v>
                </c:pt>
                <c:pt idx="91">
                  <c:v>-1.6326374804880896E-2</c:v>
                </c:pt>
                <c:pt idx="92">
                  <c:v>-6.5369268836302591E-2</c:v>
                </c:pt>
                <c:pt idx="93">
                  <c:v>-0.14732144160653637</c:v>
                </c:pt>
                <c:pt idx="94">
                  <c:v>-0.26250906306663269</c:v>
                </c:pt>
                <c:pt idx="95">
                  <c:v>-0.41139931532348245</c:v>
                </c:pt>
                <c:pt idx="96">
                  <c:v>-0.59461154712869313</c:v>
                </c:pt>
                <c:pt idx="97">
                  <c:v>-0.81293254483245803</c:v>
                </c:pt>
                <c:pt idx="98">
                  <c:v>-1.0673367258413964</c:v>
                </c:pt>
                <c:pt idx="99">
                  <c:v>-1.3590123787197212</c:v>
                </c:pt>
                <c:pt idx="100">
                  <c:v>-1.6893955047156439</c:v>
                </c:pt>
                <c:pt idx="101">
                  <c:v>-2.0602134134660548</c:v>
                </c:pt>
                <c:pt idx="102">
                  <c:v>-2.4735410746977329</c:v>
                </c:pt>
                <c:pt idx="103">
                  <c:v>-2.9318744590985419</c:v>
                </c:pt>
                <c:pt idx="104">
                  <c:v>-3.4382269256623688</c:v>
                </c:pt>
                <c:pt idx="105">
                  <c:v>-3.9962574760504967</c:v>
                </c:pt>
                <c:pt idx="106">
                  <c:v>-4.6104439845572411</c:v>
                </c:pt>
                <c:pt idx="107">
                  <c:v>-5.2863213460738869</c:v>
                </c:pt>
                <c:pt idx="108">
                  <c:v>-6.0308157050754385</c:v>
                </c:pt>
                <c:pt idx="109">
                  <c:v>-6.8527249859637918</c:v>
                </c:pt>
                <c:pt idx="110">
                  <c:v>-7.7634295936925559</c:v>
                </c:pt>
                <c:pt idx="111">
                  <c:v>-8.7779793077837027</c:v>
                </c:pt>
                <c:pt idx="112">
                  <c:v>-9.9168234751765922</c:v>
                </c:pt>
                <c:pt idx="113">
                  <c:v>-11.20870302863716</c:v>
                </c:pt>
                <c:pt idx="114">
                  <c:v>-12.695787355990319</c:v>
                </c:pt>
                <c:pt idx="115">
                  <c:v>-14.443537462072239</c:v>
                </c:pt>
                <c:pt idx="116">
                  <c:v>-16.561715822354511</c:v>
                </c:pt>
                <c:pt idx="117">
                  <c:v>-19.256205269562138</c:v>
                </c:pt>
                <c:pt idx="118">
                  <c:v>-22.989372883704689</c:v>
                </c:pt>
                <c:pt idx="119">
                  <c:v>-29.236841488508524</c:v>
                </c:pt>
                <c:pt idx="120">
                  <c:v>-40</c:v>
                </c:pt>
                <c:pt idx="121">
                  <c:v>-29.736789666337145</c:v>
                </c:pt>
                <c:pt idx="122">
                  <c:v>-23.989104747708339</c:v>
                </c:pt>
                <c:pt idx="123">
                  <c:v>-20.755392377480682</c:v>
                </c:pt>
                <c:pt idx="124">
                  <c:v>-18.559866868471435</c:v>
                </c:pt>
                <c:pt idx="125">
                  <c:v>-16.93999992065698</c:v>
                </c:pt>
                <c:pt idx="126">
                  <c:v>-15.689749696510919</c:v>
                </c:pt>
                <c:pt idx="127">
                  <c:v>-14.699197523749856</c:v>
                </c:pt>
                <c:pt idx="128">
                  <c:v>-13.902729628352953</c:v>
                </c:pt>
                <c:pt idx="129">
                  <c:v>-13.258027933712995</c:v>
                </c:pt>
                <c:pt idx="130">
                  <c:v>-12.736207591401321</c:v>
                </c:pt>
                <c:pt idx="131">
                  <c:v>-12.316680852045089</c:v>
                </c:pt>
                <c:pt idx="132">
                  <c:v>-11.984265842651915</c:v>
                </c:pt>
                <c:pt idx="133">
                  <c:v>-11.727457234285465</c:v>
                </c:pt>
                <c:pt idx="134">
                  <c:v>-11.537340283646762</c:v>
                </c:pt>
                <c:pt idx="135">
                  <c:v>-11.406881154729135</c:v>
                </c:pt>
                <c:pt idx="136">
                  <c:v>-11.330447510620775</c:v>
                </c:pt>
                <c:pt idx="137">
                  <c:v>-11.303475521585806</c:v>
                </c:pt>
                <c:pt idx="138">
                  <c:v>-11.322233086374958</c:v>
                </c:pt>
                <c:pt idx="139">
                  <c:v>-11.383648123683933</c:v>
                </c:pt>
                <c:pt idx="140">
                  <c:v>-11.48518201448857</c:v>
                </c:pt>
                <c:pt idx="141">
                  <c:v>-11.624735113610772</c:v>
                </c:pt>
                <c:pt idx="142">
                  <c:v>-11.800575541518759</c:v>
                </c:pt>
                <c:pt idx="143">
                  <c:v>-12.011285236180305</c:v>
                </c:pt>
                <c:pt idx="144">
                  <c:v>-12.255719075704556</c:v>
                </c:pt>
                <c:pt idx="145">
                  <c:v>-12.532974122166005</c:v>
                </c:pt>
                <c:pt idx="146">
                  <c:v>-12.842366896285002</c:v>
                </c:pt>
                <c:pt idx="147">
                  <c:v>-13.183417203251706</c:v>
                </c:pt>
                <c:pt idx="148">
                  <c:v>-13.555837476366765</c:v>
                </c:pt>
                <c:pt idx="149">
                  <c:v>-13.959526943005651</c:v>
                </c:pt>
                <c:pt idx="150">
                  <c:v>-14.394570184667316</c:v>
                </c:pt>
                <c:pt idx="151">
                  <c:v>-14.86123988662894</c:v>
                </c:pt>
                <c:pt idx="152">
                  <c:v>-15.36000377360358</c:v>
                </c:pt>
                <c:pt idx="153">
                  <c:v>-15.891535922929705</c:v>
                </c:pt>
                <c:pt idx="154">
                  <c:v>-16.456732852195991</c:v>
                </c:pt>
                <c:pt idx="155">
                  <c:v>-17.056735010676444</c:v>
                </c:pt>
                <c:pt idx="156">
                  <c:v>-17.692954583388694</c:v>
                </c:pt>
                <c:pt idx="157">
                  <c:v>-18.36711086849736</c:v>
                </c:pt>
                <c:pt idx="158">
                  <c:v>-19.081274947943221</c:v>
                </c:pt>
                <c:pt idx="159">
                  <c:v>-19.837925987007569</c:v>
                </c:pt>
                <c:pt idx="160">
                  <c:v>-20.640022343410944</c:v>
                </c:pt>
                <c:pt idx="161">
                  <c:v>-21.491091849184855</c:v>
                </c:pt>
                <c:pt idx="162">
                  <c:v>-22.395347315797185</c:v>
                </c:pt>
                <c:pt idx="163">
                  <c:v>-23.357835766747058</c:v>
                </c:pt>
                <c:pt idx="164">
                  <c:v>-24.384633542646977</c:v>
                </c:pt>
                <c:pt idx="165">
                  <c:v>-25.483104944051107</c:v>
                </c:pt>
                <c:pt idx="166">
                  <c:v>-26.66225064813441</c:v>
                </c:pt>
                <c:pt idx="167">
                  <c:v>-27.933185798512639</c:v>
                </c:pt>
                <c:pt idx="168">
                  <c:v>-29.309810105004203</c:v>
                </c:pt>
                <c:pt idx="169">
                  <c:v>-30.80977040158027</c:v>
                </c:pt>
                <c:pt idx="170">
                  <c:v>-32.455883405252735</c:v>
                </c:pt>
                <c:pt idx="171">
                  <c:v>-34.278310724764964</c:v>
                </c:pt>
                <c:pt idx="172">
                  <c:v>-36.318020330737639</c:v>
                </c:pt>
                <c:pt idx="173">
                  <c:v>-38.632571539957191</c:v>
                </c:pt>
                <c:pt idx="174">
                  <c:v>-40</c:v>
                </c:pt>
                <c:pt idx="175">
                  <c:v>-40</c:v>
                </c:pt>
                <c:pt idx="176">
                  <c:v>-40</c:v>
                </c:pt>
                <c:pt idx="177">
                  <c:v>-40</c:v>
                </c:pt>
                <c:pt idx="178">
                  <c:v>-40</c:v>
                </c:pt>
                <c:pt idx="179">
                  <c:v>-40</c:v>
                </c:pt>
                <c:pt idx="180">
                  <c:v>-40</c:v>
                </c:pt>
              </c:numCache>
            </c:numRef>
          </c:yVal>
          <c:smooth val="0"/>
          <c:extLst>
            <c:ext xmlns:c16="http://schemas.microsoft.com/office/drawing/2014/chart" uri="{C3380CC4-5D6E-409C-BE32-E72D297353CC}">
              <c16:uniqueId val="{00000000-3B6B-4A60-AD61-855156DD3CCA}"/>
            </c:ext>
          </c:extLst>
        </c:ser>
        <c:ser>
          <c:idx val="1"/>
          <c:order val="1"/>
          <c:tx>
            <c:strRef>
              <c:f>Sheet1!$B$184</c:f>
              <c:strCache>
                <c:ptCount val="1"/>
                <c:pt idx="0">
                  <c:v>steered to 30°</c:v>
                </c:pt>
              </c:strCache>
            </c:strRef>
          </c:tx>
          <c:spPr>
            <a:ln w="22225">
              <a:solidFill>
                <a:srgbClr val="0E7C76"/>
              </a:solidFill>
            </a:ln>
          </c:spPr>
          <c:marker>
            <c:symbol val="none"/>
          </c:marker>
          <c:xVal>
            <c:numRef>
              <c:f>Sheet1!$A$185:$A$365</c:f>
              <c:numCache>
                <c:formatCode>General</c:formatCode>
                <c:ptCount val="181"/>
                <c:pt idx="0">
                  <c:v>-90</c:v>
                </c:pt>
                <c:pt idx="1">
                  <c:v>-89</c:v>
                </c:pt>
                <c:pt idx="2">
                  <c:v>-88</c:v>
                </c:pt>
                <c:pt idx="3">
                  <c:v>-87</c:v>
                </c:pt>
                <c:pt idx="4">
                  <c:v>-86</c:v>
                </c:pt>
                <c:pt idx="5">
                  <c:v>-85</c:v>
                </c:pt>
                <c:pt idx="6">
                  <c:v>-84</c:v>
                </c:pt>
                <c:pt idx="7">
                  <c:v>-83</c:v>
                </c:pt>
                <c:pt idx="8">
                  <c:v>-82</c:v>
                </c:pt>
                <c:pt idx="9">
                  <c:v>-81</c:v>
                </c:pt>
                <c:pt idx="10">
                  <c:v>-80</c:v>
                </c:pt>
                <c:pt idx="11">
                  <c:v>-79</c:v>
                </c:pt>
                <c:pt idx="12">
                  <c:v>-78</c:v>
                </c:pt>
                <c:pt idx="13">
                  <c:v>-77</c:v>
                </c:pt>
                <c:pt idx="14">
                  <c:v>-76</c:v>
                </c:pt>
                <c:pt idx="15">
                  <c:v>-75</c:v>
                </c:pt>
                <c:pt idx="16">
                  <c:v>-74</c:v>
                </c:pt>
                <c:pt idx="17">
                  <c:v>-73</c:v>
                </c:pt>
                <c:pt idx="18">
                  <c:v>-72</c:v>
                </c:pt>
                <c:pt idx="19">
                  <c:v>-71</c:v>
                </c:pt>
                <c:pt idx="20">
                  <c:v>-70</c:v>
                </c:pt>
                <c:pt idx="21">
                  <c:v>-69</c:v>
                </c:pt>
                <c:pt idx="22">
                  <c:v>-68</c:v>
                </c:pt>
                <c:pt idx="23">
                  <c:v>-67</c:v>
                </c:pt>
                <c:pt idx="24">
                  <c:v>-66</c:v>
                </c:pt>
                <c:pt idx="25">
                  <c:v>-65</c:v>
                </c:pt>
                <c:pt idx="26">
                  <c:v>-64</c:v>
                </c:pt>
                <c:pt idx="27">
                  <c:v>-63</c:v>
                </c:pt>
                <c:pt idx="28">
                  <c:v>-62</c:v>
                </c:pt>
                <c:pt idx="29">
                  <c:v>-61</c:v>
                </c:pt>
                <c:pt idx="30">
                  <c:v>-60</c:v>
                </c:pt>
                <c:pt idx="31">
                  <c:v>-59</c:v>
                </c:pt>
                <c:pt idx="32">
                  <c:v>-58</c:v>
                </c:pt>
                <c:pt idx="33">
                  <c:v>-57</c:v>
                </c:pt>
                <c:pt idx="34">
                  <c:v>-56</c:v>
                </c:pt>
                <c:pt idx="35">
                  <c:v>-55</c:v>
                </c:pt>
                <c:pt idx="36">
                  <c:v>-54</c:v>
                </c:pt>
                <c:pt idx="37">
                  <c:v>-53</c:v>
                </c:pt>
                <c:pt idx="38">
                  <c:v>-52</c:v>
                </c:pt>
                <c:pt idx="39">
                  <c:v>-51</c:v>
                </c:pt>
                <c:pt idx="40">
                  <c:v>-50</c:v>
                </c:pt>
                <c:pt idx="41">
                  <c:v>-49</c:v>
                </c:pt>
                <c:pt idx="42">
                  <c:v>-48</c:v>
                </c:pt>
                <c:pt idx="43">
                  <c:v>-47</c:v>
                </c:pt>
                <c:pt idx="44">
                  <c:v>-46</c:v>
                </c:pt>
                <c:pt idx="45">
                  <c:v>-45</c:v>
                </c:pt>
                <c:pt idx="46">
                  <c:v>-44</c:v>
                </c:pt>
                <c:pt idx="47">
                  <c:v>-43</c:v>
                </c:pt>
                <c:pt idx="48">
                  <c:v>-42</c:v>
                </c:pt>
                <c:pt idx="49">
                  <c:v>-41</c:v>
                </c:pt>
                <c:pt idx="50">
                  <c:v>-40</c:v>
                </c:pt>
                <c:pt idx="51">
                  <c:v>-39</c:v>
                </c:pt>
                <c:pt idx="52">
                  <c:v>-38</c:v>
                </c:pt>
                <c:pt idx="53">
                  <c:v>-37</c:v>
                </c:pt>
                <c:pt idx="54">
                  <c:v>-36</c:v>
                </c:pt>
                <c:pt idx="55">
                  <c:v>-35</c:v>
                </c:pt>
                <c:pt idx="56">
                  <c:v>-34</c:v>
                </c:pt>
                <c:pt idx="57">
                  <c:v>-33</c:v>
                </c:pt>
                <c:pt idx="58">
                  <c:v>-32</c:v>
                </c:pt>
                <c:pt idx="59">
                  <c:v>-31</c:v>
                </c:pt>
                <c:pt idx="60">
                  <c:v>-30</c:v>
                </c:pt>
                <c:pt idx="61">
                  <c:v>-29</c:v>
                </c:pt>
                <c:pt idx="62">
                  <c:v>-28</c:v>
                </c:pt>
                <c:pt idx="63">
                  <c:v>-27</c:v>
                </c:pt>
                <c:pt idx="64">
                  <c:v>-26</c:v>
                </c:pt>
                <c:pt idx="65">
                  <c:v>-25</c:v>
                </c:pt>
                <c:pt idx="66">
                  <c:v>-24</c:v>
                </c:pt>
                <c:pt idx="67">
                  <c:v>-23</c:v>
                </c:pt>
                <c:pt idx="68">
                  <c:v>-22</c:v>
                </c:pt>
                <c:pt idx="69">
                  <c:v>-21</c:v>
                </c:pt>
                <c:pt idx="70">
                  <c:v>-20</c:v>
                </c:pt>
                <c:pt idx="71">
                  <c:v>-19</c:v>
                </c:pt>
                <c:pt idx="72">
                  <c:v>-18</c:v>
                </c:pt>
                <c:pt idx="73">
                  <c:v>-17</c:v>
                </c:pt>
                <c:pt idx="74">
                  <c:v>-16</c:v>
                </c:pt>
                <c:pt idx="75">
                  <c:v>-15</c:v>
                </c:pt>
                <c:pt idx="76">
                  <c:v>-14</c:v>
                </c:pt>
                <c:pt idx="77">
                  <c:v>-13</c:v>
                </c:pt>
                <c:pt idx="78">
                  <c:v>-12</c:v>
                </c:pt>
                <c:pt idx="79">
                  <c:v>-11</c:v>
                </c:pt>
                <c:pt idx="80">
                  <c:v>-10</c:v>
                </c:pt>
                <c:pt idx="81">
                  <c:v>-9</c:v>
                </c:pt>
                <c:pt idx="82">
                  <c:v>-8</c:v>
                </c:pt>
                <c:pt idx="83">
                  <c:v>-7</c:v>
                </c:pt>
                <c:pt idx="84">
                  <c:v>-6</c:v>
                </c:pt>
                <c:pt idx="85">
                  <c:v>-5</c:v>
                </c:pt>
                <c:pt idx="86">
                  <c:v>-4</c:v>
                </c:pt>
                <c:pt idx="87">
                  <c:v>-3</c:v>
                </c:pt>
                <c:pt idx="88">
                  <c:v>-2</c:v>
                </c:pt>
                <c:pt idx="89">
                  <c:v>-1</c:v>
                </c:pt>
                <c:pt idx="90">
                  <c:v>0</c:v>
                </c:pt>
                <c:pt idx="91">
                  <c:v>1</c:v>
                </c:pt>
                <c:pt idx="92">
                  <c:v>2</c:v>
                </c:pt>
                <c:pt idx="93">
                  <c:v>3</c:v>
                </c:pt>
                <c:pt idx="94">
                  <c:v>4</c:v>
                </c:pt>
                <c:pt idx="95">
                  <c:v>5</c:v>
                </c:pt>
                <c:pt idx="96">
                  <c:v>6</c:v>
                </c:pt>
                <c:pt idx="97">
                  <c:v>7</c:v>
                </c:pt>
                <c:pt idx="98">
                  <c:v>8</c:v>
                </c:pt>
                <c:pt idx="99">
                  <c:v>9</c:v>
                </c:pt>
                <c:pt idx="100">
                  <c:v>10</c:v>
                </c:pt>
                <c:pt idx="101">
                  <c:v>11</c:v>
                </c:pt>
                <c:pt idx="102">
                  <c:v>12</c:v>
                </c:pt>
                <c:pt idx="103">
                  <c:v>13</c:v>
                </c:pt>
                <c:pt idx="104">
                  <c:v>14</c:v>
                </c:pt>
                <c:pt idx="105">
                  <c:v>15</c:v>
                </c:pt>
                <c:pt idx="106">
                  <c:v>16</c:v>
                </c:pt>
                <c:pt idx="107">
                  <c:v>17</c:v>
                </c:pt>
                <c:pt idx="108">
                  <c:v>18</c:v>
                </c:pt>
                <c:pt idx="109">
                  <c:v>19</c:v>
                </c:pt>
                <c:pt idx="110">
                  <c:v>20</c:v>
                </c:pt>
                <c:pt idx="111">
                  <c:v>21</c:v>
                </c:pt>
                <c:pt idx="112">
                  <c:v>22</c:v>
                </c:pt>
                <c:pt idx="113">
                  <c:v>23</c:v>
                </c:pt>
                <c:pt idx="114">
                  <c:v>24</c:v>
                </c:pt>
                <c:pt idx="115">
                  <c:v>25</c:v>
                </c:pt>
                <c:pt idx="116">
                  <c:v>26</c:v>
                </c:pt>
                <c:pt idx="117">
                  <c:v>27</c:v>
                </c:pt>
                <c:pt idx="118">
                  <c:v>28</c:v>
                </c:pt>
                <c:pt idx="119">
                  <c:v>29</c:v>
                </c:pt>
                <c:pt idx="120">
                  <c:v>30</c:v>
                </c:pt>
                <c:pt idx="121">
                  <c:v>31</c:v>
                </c:pt>
                <c:pt idx="122">
                  <c:v>32</c:v>
                </c:pt>
                <c:pt idx="123">
                  <c:v>33</c:v>
                </c:pt>
                <c:pt idx="124">
                  <c:v>34</c:v>
                </c:pt>
                <c:pt idx="125">
                  <c:v>35</c:v>
                </c:pt>
                <c:pt idx="126">
                  <c:v>36</c:v>
                </c:pt>
                <c:pt idx="127">
                  <c:v>37</c:v>
                </c:pt>
                <c:pt idx="128">
                  <c:v>38</c:v>
                </c:pt>
                <c:pt idx="129">
                  <c:v>39</c:v>
                </c:pt>
                <c:pt idx="130">
                  <c:v>40</c:v>
                </c:pt>
                <c:pt idx="131">
                  <c:v>41</c:v>
                </c:pt>
                <c:pt idx="132">
                  <c:v>42</c:v>
                </c:pt>
                <c:pt idx="133">
                  <c:v>43</c:v>
                </c:pt>
                <c:pt idx="134">
                  <c:v>44</c:v>
                </c:pt>
                <c:pt idx="135">
                  <c:v>45</c:v>
                </c:pt>
                <c:pt idx="136">
                  <c:v>46</c:v>
                </c:pt>
                <c:pt idx="137">
                  <c:v>47</c:v>
                </c:pt>
                <c:pt idx="138">
                  <c:v>48</c:v>
                </c:pt>
                <c:pt idx="139">
                  <c:v>49</c:v>
                </c:pt>
                <c:pt idx="140">
                  <c:v>50</c:v>
                </c:pt>
                <c:pt idx="141">
                  <c:v>51</c:v>
                </c:pt>
                <c:pt idx="142">
                  <c:v>52</c:v>
                </c:pt>
                <c:pt idx="143">
                  <c:v>53</c:v>
                </c:pt>
                <c:pt idx="144">
                  <c:v>54</c:v>
                </c:pt>
                <c:pt idx="145">
                  <c:v>55</c:v>
                </c:pt>
                <c:pt idx="146">
                  <c:v>56</c:v>
                </c:pt>
                <c:pt idx="147">
                  <c:v>57</c:v>
                </c:pt>
                <c:pt idx="148">
                  <c:v>58</c:v>
                </c:pt>
                <c:pt idx="149">
                  <c:v>59</c:v>
                </c:pt>
                <c:pt idx="150">
                  <c:v>60</c:v>
                </c:pt>
                <c:pt idx="151">
                  <c:v>61</c:v>
                </c:pt>
                <c:pt idx="152">
                  <c:v>62</c:v>
                </c:pt>
                <c:pt idx="153">
                  <c:v>63</c:v>
                </c:pt>
                <c:pt idx="154">
                  <c:v>64</c:v>
                </c:pt>
                <c:pt idx="155">
                  <c:v>65</c:v>
                </c:pt>
                <c:pt idx="156">
                  <c:v>66</c:v>
                </c:pt>
                <c:pt idx="157">
                  <c:v>67</c:v>
                </c:pt>
                <c:pt idx="158">
                  <c:v>68</c:v>
                </c:pt>
                <c:pt idx="159">
                  <c:v>69</c:v>
                </c:pt>
                <c:pt idx="160">
                  <c:v>70</c:v>
                </c:pt>
                <c:pt idx="161">
                  <c:v>71</c:v>
                </c:pt>
                <c:pt idx="162">
                  <c:v>72</c:v>
                </c:pt>
                <c:pt idx="163">
                  <c:v>73</c:v>
                </c:pt>
                <c:pt idx="164">
                  <c:v>74</c:v>
                </c:pt>
                <c:pt idx="165">
                  <c:v>75</c:v>
                </c:pt>
                <c:pt idx="166">
                  <c:v>76</c:v>
                </c:pt>
                <c:pt idx="167">
                  <c:v>77</c:v>
                </c:pt>
                <c:pt idx="168">
                  <c:v>78</c:v>
                </c:pt>
                <c:pt idx="169">
                  <c:v>79</c:v>
                </c:pt>
                <c:pt idx="170">
                  <c:v>80</c:v>
                </c:pt>
                <c:pt idx="171">
                  <c:v>81</c:v>
                </c:pt>
                <c:pt idx="172">
                  <c:v>82</c:v>
                </c:pt>
                <c:pt idx="173">
                  <c:v>83</c:v>
                </c:pt>
                <c:pt idx="174">
                  <c:v>84</c:v>
                </c:pt>
                <c:pt idx="175">
                  <c:v>85</c:v>
                </c:pt>
                <c:pt idx="176">
                  <c:v>86</c:v>
                </c:pt>
                <c:pt idx="177">
                  <c:v>87</c:v>
                </c:pt>
                <c:pt idx="178">
                  <c:v>88</c:v>
                </c:pt>
                <c:pt idx="179">
                  <c:v>89</c:v>
                </c:pt>
                <c:pt idx="180">
                  <c:v>90</c:v>
                </c:pt>
              </c:numCache>
            </c:numRef>
          </c:xVal>
          <c:yVal>
            <c:numRef>
              <c:f>Sheet1!$B$185:$B$365</c:f>
              <c:numCache>
                <c:formatCode>General</c:formatCode>
                <c:ptCount val="181"/>
                <c:pt idx="0">
                  <c:v>-40</c:v>
                </c:pt>
                <c:pt idx="1">
                  <c:v>-40</c:v>
                </c:pt>
                <c:pt idx="2">
                  <c:v>-40</c:v>
                </c:pt>
                <c:pt idx="3">
                  <c:v>-40</c:v>
                </c:pt>
                <c:pt idx="4">
                  <c:v>-40</c:v>
                </c:pt>
                <c:pt idx="5">
                  <c:v>-40</c:v>
                </c:pt>
                <c:pt idx="6">
                  <c:v>-38.370513655151385</c:v>
                </c:pt>
                <c:pt idx="7">
                  <c:v>-35.723383960709832</c:v>
                </c:pt>
                <c:pt idx="8">
                  <c:v>-33.439506059797601</c:v>
                </c:pt>
                <c:pt idx="9">
                  <c:v>-31.434405060569034</c:v>
                </c:pt>
                <c:pt idx="10">
                  <c:v>-29.650466719514171</c:v>
                </c:pt>
                <c:pt idx="11">
                  <c:v>-28.046663372630629</c:v>
                </c:pt>
                <c:pt idx="12">
                  <c:v>-26.592769464132033</c:v>
                </c:pt>
                <c:pt idx="13">
                  <c:v>-25.265900618283254</c:v>
                </c:pt>
                <c:pt idx="14">
                  <c:v>-24.048339195709779</c:v>
                </c:pt>
                <c:pt idx="15">
                  <c:v>-22.926112116639295</c:v>
                </c:pt>
                <c:pt idx="16">
                  <c:v>-21.888028896480062</c:v>
                </c:pt>
                <c:pt idx="17">
                  <c:v>-20.92501214553964</c:v>
                </c:pt>
                <c:pt idx="18">
                  <c:v>-20.029620079552586</c:v>
                </c:pt>
                <c:pt idx="19">
                  <c:v>-19.195698699574628</c:v>
                </c:pt>
                <c:pt idx="20">
                  <c:v>-18.41812373781908</c:v>
                </c:pt>
                <c:pt idx="21">
                  <c:v>-17.692606129751404</c:v>
                </c:pt>
                <c:pt idx="22">
                  <c:v>-17.015543344193709</c:v>
                </c:pt>
                <c:pt idx="23">
                  <c:v>-16.38390442404836</c:v>
                </c:pt>
                <c:pt idx="24">
                  <c:v>-15.795140231674331</c:v>
                </c:pt>
                <c:pt idx="25">
                  <c:v>-15.247112847308555</c:v>
                </c:pt>
                <c:pt idx="26">
                  <c:v>-14.738039756783756</c:v>
                </c:pt>
                <c:pt idx="27">
                  <c:v>-14.266449648031809</c:v>
                </c:pt>
                <c:pt idx="28">
                  <c:v>-13.831147481330584</c:v>
                </c:pt>
                <c:pt idx="29">
                  <c:v>-13.431187114634346</c:v>
                </c:pt>
                <c:pt idx="30">
                  <c:v>-13.065850225016323</c:v>
                </c:pt>
                <c:pt idx="31">
                  <c:v>-12.734630619664369</c:v>
                </c:pt>
                <c:pt idx="32">
                  <c:v>-12.43722330978899</c:v>
                </c:pt>
                <c:pt idx="33">
                  <c:v>-12.173517953738601</c:v>
                </c:pt>
                <c:pt idx="34">
                  <c:v>-11.943596481439478</c:v>
                </c:pt>
                <c:pt idx="35">
                  <c:v>-11.747734907855129</c:v>
                </c:pt>
                <c:pt idx="36">
                  <c:v>-11.58640954448164</c:v>
                </c:pt>
                <c:pt idx="37">
                  <c:v>-11.460308042118093</c:v>
                </c:pt>
                <c:pt idx="38">
                  <c:v>-11.370345965891488</c:v>
                </c:pt>
                <c:pt idx="39">
                  <c:v>-11.317689941876811</c:v>
                </c:pt>
                <c:pt idx="40">
                  <c:v>-11.303788861621868</c:v>
                </c:pt>
                <c:pt idx="41">
                  <c:v>-11.330415242157599</c:v>
                </c:pt>
                <c:pt idx="42">
                  <c:v>-11.399719699109692</c:v>
                </c:pt>
                <c:pt idx="43">
                  <c:v>-11.514302731061612</c:v>
                </c:pt>
                <c:pt idx="44">
                  <c:v>-11.677309845264327</c:v>
                </c:pt>
                <c:pt idx="45">
                  <c:v>-11.892558824818186</c:v>
                </c:pt>
                <c:pt idx="46">
                  <c:v>-12.164712231546385</c:v>
                </c:pt>
                <c:pt idx="47">
                  <c:v>-12.49951507813061</c:v>
                </c:pt>
                <c:pt idx="48">
                  <c:v>-12.90412882895952</c:v>
                </c:pt>
                <c:pt idx="49">
                  <c:v>-13.387611951598664</c:v>
                </c:pt>
                <c:pt idx="50">
                  <c:v>-13.96163089461731</c:v>
                </c:pt>
                <c:pt idx="51">
                  <c:v>-14.641547527208065</c:v>
                </c:pt>
                <c:pt idx="52">
                  <c:v>-15.448150164369011</c:v>
                </c:pt>
                <c:pt idx="53">
                  <c:v>-16.410546729435577</c:v>
                </c:pt>
                <c:pt idx="54">
                  <c:v>-17.571303112018857</c:v>
                </c:pt>
                <c:pt idx="55">
                  <c:v>-18.996308205120343</c:v>
                </c:pt>
                <c:pt idx="56">
                  <c:v>-20.795786073095563</c:v>
                </c:pt>
                <c:pt idx="57">
                  <c:v>-23.176117657661415</c:v>
                </c:pt>
                <c:pt idx="58">
                  <c:v>-26.600208074388895</c:v>
                </c:pt>
                <c:pt idx="59">
                  <c:v>-32.544262204743113</c:v>
                </c:pt>
                <c:pt idx="60">
                  <c:v>-40</c:v>
                </c:pt>
                <c:pt idx="61">
                  <c:v>-32.456948391674352</c:v>
                </c:pt>
                <c:pt idx="62">
                  <c:v>-26.426849467569223</c:v>
                </c:pt>
                <c:pt idx="63">
                  <c:v>-22.919268389198173</c:v>
                </c:pt>
                <c:pt idx="64">
                  <c:v>-20.459318152467958</c:v>
                </c:pt>
                <c:pt idx="65">
                  <c:v>-18.585462147438712</c:v>
                </c:pt>
                <c:pt idx="66">
                  <c:v>-17.09275831590876</c:v>
                </c:pt>
                <c:pt idx="67">
                  <c:v>-15.872514311848704</c:v>
                </c:pt>
                <c:pt idx="68">
                  <c:v>-14.860491972625869</c:v>
                </c:pt>
                <c:pt idx="69">
                  <c:v>-14.015926339211193</c:v>
                </c:pt>
                <c:pt idx="70">
                  <c:v>-13.311698506819159</c:v>
                </c:pt>
                <c:pt idx="71">
                  <c:v>-12.729244114313538</c:v>
                </c:pt>
                <c:pt idx="72">
                  <c:v>-12.255719075704556</c:v>
                </c:pt>
                <c:pt idx="73">
                  <c:v>-11.882343795707975</c:v>
                </c:pt>
                <c:pt idx="74">
                  <c:v>-11.603413426020266</c:v>
                </c:pt>
                <c:pt idx="75">
                  <c:v>-11.415715896523755</c:v>
                </c:pt>
                <c:pt idx="76">
                  <c:v>-11.318224819779495</c:v>
                </c:pt>
                <c:pt idx="77">
                  <c:v>-11.312003349418568</c:v>
                </c:pt>
                <c:pt idx="78">
                  <c:v>-11.400299936809134</c:v>
                </c:pt>
                <c:pt idx="79">
                  <c:v>-11.588855039624995</c:v>
                </c:pt>
                <c:pt idx="80">
                  <c:v>-11.886482699690148</c:v>
                </c:pt>
                <c:pt idx="81">
                  <c:v>-12.306059889689696</c:v>
                </c:pt>
                <c:pt idx="82">
                  <c:v>-12.866181892425876</c:v>
                </c:pt>
                <c:pt idx="83">
                  <c:v>-13.593996153781934</c:v>
                </c:pt>
                <c:pt idx="84">
                  <c:v>-14.530293365143027</c:v>
                </c:pt>
                <c:pt idx="85">
                  <c:v>-15.739334169549462</c:v>
                </c:pt>
                <c:pt idx="86">
                  <c:v>-17.329829680704762</c:v>
                </c:pt>
                <c:pt idx="87">
                  <c:v>-19.506736530673066</c:v>
                </c:pt>
                <c:pt idx="88">
                  <c:v>-22.731601205156174</c:v>
                </c:pt>
                <c:pt idx="89">
                  <c:v>-28.479315355256606</c:v>
                </c:pt>
                <c:pt idx="90">
                  <c:v>-40</c:v>
                </c:pt>
                <c:pt idx="91">
                  <c:v>-28.002843558066409</c:v>
                </c:pt>
                <c:pt idx="92">
                  <c:v>-21.777366525988199</c:v>
                </c:pt>
                <c:pt idx="93">
                  <c:v>-18.072139401097306</c:v>
                </c:pt>
                <c:pt idx="94">
                  <c:v>-15.410926663759135</c:v>
                </c:pt>
                <c:pt idx="95">
                  <c:v>-13.330783377026911</c:v>
                </c:pt>
                <c:pt idx="96">
                  <c:v>-11.625278761923322</c:v>
                </c:pt>
                <c:pt idx="97">
                  <c:v>-10.184128002328389</c:v>
                </c:pt>
                <c:pt idx="98">
                  <c:v>-8.9413695665785813</c:v>
                </c:pt>
                <c:pt idx="99">
                  <c:v>-7.8543519844980212</c:v>
                </c:pt>
                <c:pt idx="100">
                  <c:v>-6.8938676626626609</c:v>
                </c:pt>
                <c:pt idx="101">
                  <c:v>-6.0390132748602561</c:v>
                </c:pt>
                <c:pt idx="102">
                  <c:v>-5.2742952310235038</c:v>
                </c:pt>
                <c:pt idx="103">
                  <c:v>-4.5878971517649756</c:v>
                </c:pt>
                <c:pt idx="104">
                  <c:v>-3.9705907797262929</c:v>
                </c:pt>
                <c:pt idx="105">
                  <c:v>-3.4150231843939634</c:v>
                </c:pt>
                <c:pt idx="106">
                  <c:v>-2.9152342023217672</c:v>
                </c:pt>
                <c:pt idx="107">
                  <c:v>-2.4663202107849873</c:v>
                </c:pt>
                <c:pt idx="108">
                  <c:v>-2.0641939824150595</c:v>
                </c:pt>
                <c:pt idx="109">
                  <c:v>-1.7054094256771568</c:v>
                </c:pt>
                <c:pt idx="110">
                  <c:v>-1.3870312357623484</c:v>
                </c:pt>
                <c:pt idx="111">
                  <c:v>-1.1065363123816379</c:v>
                </c:pt>
                <c:pt idx="112">
                  <c:v>-0.86173808604729729</c:v>
                </c:pt>
                <c:pt idx="113">
                  <c:v>-0.65072765352330242</c:v>
                </c:pt>
                <c:pt idx="114">
                  <c:v>-0.47182744171894359</c:v>
                </c:pt>
                <c:pt idx="115">
                  <c:v>-0.32355434344703282</c:v>
                </c:pt>
                <c:pt idx="116">
                  <c:v>-0.20459010828510793</c:v>
                </c:pt>
                <c:pt idx="117">
                  <c:v>-0.11375735796746077</c:v>
                </c:pt>
                <c:pt idx="118">
                  <c:v>-5.0000011406414094E-2</c:v>
                </c:pt>
                <c:pt idx="119">
                  <c:v>-1.2367203505177608E-2</c:v>
                </c:pt>
                <c:pt idx="120">
                  <c:v>0</c:v>
                </c:pt>
                <c:pt idx="121">
                  <c:v>-1.2120371586928708E-2</c:v>
                </c:pt>
                <c:pt idx="122">
                  <c:v>-4.8022010877315363E-2</c:v>
                </c:pt>
                <c:pt idx="123">
                  <c:v>-0.10706266659112604</c:v>
                </c:pt>
                <c:pt idx="124">
                  <c:v>-0.18865773876895267</c:v>
                </c:pt>
                <c:pt idx="125">
                  <c:v>-0.29227493229785673</c:v>
                </c:pt>
                <c:pt idx="126">
                  <c:v>-0.41742980775518129</c:v>
                </c:pt>
                <c:pt idx="127">
                  <c:v>-0.56368210142521769</c:v>
                </c:pt>
                <c:pt idx="128">
                  <c:v>-0.73063271250454753</c:v>
                </c:pt>
                <c:pt idx="129">
                  <c:v>-0.91792127659556011</c:v>
                </c:pt>
                <c:pt idx="130">
                  <c:v>-1.1252242618081629</c:v>
                </c:pt>
                <c:pt idx="131">
                  <c:v>-1.3522535380725478</c:v>
                </c:pt>
                <c:pt idx="132">
                  <c:v>-1.5987553823270453</c:v>
                </c:pt>
                <c:pt idx="133">
                  <c:v>-1.864509892648498</c:v>
                </c:pt>
                <c:pt idx="134">
                  <c:v>-2.1493307935915813</c:v>
                </c:pt>
                <c:pt idx="135">
                  <c:v>-2.4530656233742967</c:v>
                </c:pt>
                <c:pt idx="136">
                  <c:v>-2.7755963014106633</c:v>
                </c:pt>
                <c:pt idx="137">
                  <c:v>-3.116840082337319</c:v>
                </c:pt>
                <c:pt idx="138">
                  <c:v>-3.4767509103794882</c:v>
                </c:pt>
                <c:pt idx="139">
                  <c:v>-3.8553211959230032</c:v>
                </c:pt>
                <c:pt idx="140">
                  <c:v>-4.2525840447863272</c:v>
                </c:pt>
                <c:pt idx="141">
                  <c:v>-4.6686159802311096</c:v>
                </c:pt>
                <c:pt idx="142">
                  <c:v>-5.1035402085703341</c:v>
                </c:pt>
                <c:pt idx="143">
                  <c:v>-5.557530491756177</c:v>
                </c:pt>
                <c:pt idx="144">
                  <c:v>-6.030815705075443</c:v>
                </c:pt>
                <c:pt idx="145">
                  <c:v>-6.5236851756980077</c:v>
                </c:pt>
                <c:pt idx="146">
                  <c:v>-7.0364949191359916</c:v>
                </c:pt>
                <c:pt idx="147">
                  <c:v>-7.5696749167328985</c:v>
                </c:pt>
                <c:pt idx="148">
                  <c:v>-8.1237376094852891</c:v>
                </c:pt>
                <c:pt idx="149">
                  <c:v>-8.6992878236019209</c:v>
                </c:pt>
                <c:pt idx="150">
                  <c:v>-9.2970343936103141</c:v>
                </c:pt>
                <c:pt idx="151">
                  <c:v>-9.9178038127124442</c:v>
                </c:pt>
                <c:pt idx="152">
                  <c:v>-10.562556321771822</c:v>
                </c:pt>
                <c:pt idx="153">
                  <c:v>-11.232404953644352</c:v>
                </c:pt>
                <c:pt idx="154">
                  <c:v>-11.928638186620592</c:v>
                </c:pt>
                <c:pt idx="155">
                  <c:v>-12.652747040769983</c:v>
                </c:pt>
                <c:pt idx="156">
                  <c:v>-13.406457689804835</c:v>
                </c:pt>
                <c:pt idx="157">
                  <c:v>-14.191770981294836</c:v>
                </c:pt>
                <c:pt idx="158">
                  <c:v>-15.011010692296875</c:v>
                </c:pt>
                <c:pt idx="159">
                  <c:v>-15.866882943553488</c:v>
                </c:pt>
                <c:pt idx="160">
                  <c:v>-16.762550024563929</c:v>
                </c:pt>
                <c:pt idx="161">
                  <c:v>-17.701723051842087</c:v>
                </c:pt>
                <c:pt idx="162">
                  <c:v>-18.688779559724395</c:v>
                </c:pt>
                <c:pt idx="163">
                  <c:v>-19.728914568548237</c:v>
                </c:pt>
                <c:pt idx="164">
                  <c:v>-20.828337309067845</c:v>
                </c:pt>
                <c:pt idx="165">
                  <c:v>-21.994531296672129</c:v>
                </c:pt>
                <c:pt idx="166">
                  <c:v>-23.236604015244136</c:v>
                </c:pt>
                <c:pt idx="167">
                  <c:v>-24.565766129897852</c:v>
                </c:pt>
                <c:pt idx="168">
                  <c:v>-25.996002582188321</c:v>
                </c:pt>
                <c:pt idx="169">
                  <c:v>-27.545036030201079</c:v>
                </c:pt>
                <c:pt idx="170">
                  <c:v>-29.235750388214534</c:v>
                </c:pt>
                <c:pt idx="171">
                  <c:v>-31.098366524883421</c:v>
                </c:pt>
                <c:pt idx="172">
                  <c:v>-33.173904340092207</c:v>
                </c:pt>
                <c:pt idx="173">
                  <c:v>-35.519968280319773</c:v>
                </c:pt>
                <c:pt idx="174">
                  <c:v>-38.221022347032573</c:v>
                </c:pt>
                <c:pt idx="175">
                  <c:v>-40</c:v>
                </c:pt>
                <c:pt idx="176">
                  <c:v>-40</c:v>
                </c:pt>
                <c:pt idx="177">
                  <c:v>-40</c:v>
                </c:pt>
                <c:pt idx="178">
                  <c:v>-40</c:v>
                </c:pt>
                <c:pt idx="179">
                  <c:v>-40</c:v>
                </c:pt>
                <c:pt idx="180">
                  <c:v>-40</c:v>
                </c:pt>
              </c:numCache>
            </c:numRef>
          </c:yVal>
          <c:smooth val="0"/>
          <c:extLst>
            <c:ext xmlns:c16="http://schemas.microsoft.com/office/drawing/2014/chart" uri="{C3380CC4-5D6E-409C-BE32-E72D297353CC}">
              <c16:uniqueId val="{00000001-3B6B-4A60-AD61-855156DD3CCA}"/>
            </c:ext>
          </c:extLst>
        </c:ser>
        <c:dLbls>
          <c:showLegendKey val="0"/>
          <c:showVal val="0"/>
          <c:showCatName val="0"/>
          <c:showSerName val="0"/>
          <c:showPercent val="0"/>
          <c:showBubbleSize val="0"/>
        </c:dLbls>
        <c:axId val="-2128940872"/>
        <c:axId val="-2129643912"/>
      </c:scatterChart>
      <c:valAx>
        <c:axId val="-2128940872"/>
        <c:scaling>
          <c:orientation val="minMax"/>
          <c:max val="90"/>
          <c:min val="-90"/>
        </c:scaling>
        <c:delete val="0"/>
        <c:axPos val="b"/>
        <c:majorGridlines>
          <c:spPr>
            <a:ln>
              <a:solidFill>
                <a:srgbClr val="E6EAEE"/>
              </a:solidFill>
            </a:ln>
          </c:spPr>
        </c:majorGridlines>
        <c:title>
          <c:tx>
            <c:rich>
              <a:bodyPr/>
              <a:lstStyle/>
              <a:p>
                <a:r>
                  <a:rPr sz="1000" b="0">
                    <a:solidFill>
                      <a:srgbClr val="5B6776"/>
                    </a:solidFill>
                  </a:rPr>
                  <a:t>angle (degrees)</a:t>
                </a:r>
              </a:p>
            </c:rich>
          </c:tx>
          <c:overlay val="0"/>
        </c:title>
        <c:numFmt formatCode="General" sourceLinked="1"/>
        <c:majorTickMark val="out"/>
        <c:minorTickMark val="none"/>
        <c:tickLblPos val="low"/>
        <c:spPr>
          <a:ln>
            <a:solidFill>
              <a:srgbClr val="D3D9DF"/>
            </a:solidFill>
          </a:ln>
        </c:spPr>
        <c:txPr>
          <a:bodyPr/>
          <a:lstStyle/>
          <a:p>
            <a:pPr>
              <a:defRPr sz="1000">
                <a:solidFill>
                  <a:srgbClr val="5B6776"/>
                </a:solidFill>
                <a:latin typeface="Calibri"/>
              </a:defRPr>
            </a:pPr>
            <a:endParaRPr lang="LID4096"/>
          </a:p>
        </c:txPr>
        <c:crossAx val="-2129643912"/>
        <c:crosses val="autoZero"/>
        <c:crossBetween val="midCat"/>
        <c:majorUnit val="30"/>
      </c:valAx>
      <c:valAx>
        <c:axId val="-2129643912"/>
        <c:scaling>
          <c:orientation val="minMax"/>
          <c:max val="0"/>
          <c:min val="-40"/>
        </c:scaling>
        <c:delete val="0"/>
        <c:axPos val="l"/>
        <c:majorGridlines>
          <c:spPr>
            <a:ln>
              <a:solidFill>
                <a:srgbClr val="E6EAEE"/>
              </a:solidFill>
            </a:ln>
          </c:spPr>
        </c:majorGridlines>
        <c:title>
          <c:tx>
            <c:rich>
              <a:bodyPr/>
              <a:lstStyle/>
              <a:p>
                <a:r>
                  <a:rPr sz="1000" b="0">
                    <a:solidFill>
                      <a:srgbClr val="5B6776"/>
                    </a:solidFill>
                  </a:rPr>
                  <a:t>normalized gain (dB)</a:t>
                </a:r>
              </a:p>
            </c:rich>
          </c:tx>
          <c:overlay val="0"/>
        </c:title>
        <c:numFmt formatCode="General" sourceLinked="1"/>
        <c:majorTickMark val="out"/>
        <c:minorTickMark val="none"/>
        <c:tickLblPos val="nextTo"/>
        <c:spPr>
          <a:ln>
            <a:solidFill>
              <a:srgbClr val="D3D9DF"/>
            </a:solidFill>
          </a:ln>
        </c:spPr>
        <c:txPr>
          <a:bodyPr/>
          <a:lstStyle/>
          <a:p>
            <a:pPr>
              <a:defRPr sz="1000">
                <a:solidFill>
                  <a:srgbClr val="5B6776"/>
                </a:solidFill>
                <a:latin typeface="Calibri"/>
              </a:defRPr>
            </a:pPr>
            <a:endParaRPr lang="LID4096"/>
          </a:p>
        </c:txPr>
        <c:crossAx val="-2128940872"/>
        <c:crosses val="autoZero"/>
        <c:crossBetween val="midCat"/>
        <c:majorUnit val="10"/>
      </c:valAx>
    </c:plotArea>
    <c:legend>
      <c:legendPos val="t"/>
      <c:overlay val="0"/>
      <c:txPr>
        <a:bodyPr/>
        <a:lstStyle/>
        <a:p>
          <a:pPr>
            <a:defRPr sz="1000">
              <a:solidFill>
                <a:srgbClr val="5B6776"/>
              </a:solidFill>
            </a:defRPr>
          </a:pPr>
          <a:endParaRPr lang="LID4096"/>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21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staged student project: a 16-element 5.2 GHz digital array from ESP32-C5 radios, built as two 8-element tiles. Each tile funnels eight 2-bit PARLIO lanes into one ESP32-S31 and one Gigabit port. The hard parts are synchronization, calibration and getting IQ out of the C5.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element is a complete C5 transceiver with a calibration switch in front. The status markers are strict: 'confirmed' means shown on ESP32 hardware (ESPARGOS, 2.4 GHz), not on the C5 at 5 GHz.</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ESPARGOS proves the synchronization recipe; ESP-SDR proves raw IQ from the C5 at 5 GHz. Neither gives a synchronized, triggered, fast multi-C5 capture — that is our new 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the C5 reaches 5.2 GHz. The S31 is 2.4 GHz only, which is why it serves as the tile's digital and network aggregator rather than as an RF element.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existing 4×4 board is a ready-made aperture. Rev 1 can cable it to the tiles, or the tiles can carry their own patches — the tile PCB slide explains the trade-off.</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shared clock fixes frequency only. LO phase, timing and fixed path errors need the in-band reference; ESPARGOS measured that the PLL phase re-rolls after each reset or channel change.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separate domains: 48 MHz RF reference, 40 MHz data clock, capture trigger, 5.2 GHz calibration. Ethernet and PTP are for logs and coordination, never for sample alignment. Wideband correction is a phase plus a delay per element, applied per FFT bin.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Espressif documents only a 48 MHz ±10 ppm crystal for the C5; driving XTAL_P from a buffer is our first clock bench test. Static skew becomes static phase and is calibrated out; the 108th harmonic of 48 MHz falls at 5184 MHz.</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MAX2871-class source, split 1:2 to the tiles and 1:8 on each tile, into an SPDT in front of every C5. Fixed attenuation and a fixed low gain index keep the 10-bit samples from clipping.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Lock, fix gain, measure the reference, estimate gain, phase and delay per element, then measure the scene and correct. ESPARGOS treats a calibration as valid for one capture epoch.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internal rate (80 MS/s) is not the export rate. ESP-SDR exports over USB or UART today. A 2-bit PARLIO lane gives 80 Mbit/s per C5, eight lanes 640 Mbit/s per tile — the same rate ESP-SDR already pushes through an S31 to Gigabit Ethernet.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ESP-SDR offers on the C5 today: snapshots of at most 16,380 samples, sent slowly over USB. This is the starting point of step 1.</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ways to collect the data. E is the team proposal: no Ethernet per element, one S31 and one PHY per tile. C and D are the FPGA variants we keep as Plan 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master timing / RF board provides the 48 MHz reference, the 40 MHz PARLIO clock, the trigger and the 5.2 GHz calibration tone. Two identical tiles each send one Gigabit stream to the host.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lane drawn, eight per tile. C5s are chip-down so XTAL_P can take the shared reference. The S31 receives 16 bits at 40 MHz and forwards them over RGMII to a Gigabit PHY.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C5 owns two bits of the S31's 16-bit bus. All lanes must stay cycle-aligned, so they share one PCLK and start together after a READY / GO handshake. A common sync word at the start of each frame makes misalignment visible immediately. Bit de-interleaving is left to the PC.</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 1 needs continuous capture on the C5, which does not exist today — back-to-back snapshots at 4 MS/s may approximate it. Mode 2 uses the full 80 MS/s for 205 µs and drains in about 3.3 ms; it is the realistic first target.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 tile the lanes add up to 640 Mbit/s, one Gigabit port; two ports at the host. Reduction products are orders of magnitude smaller and can move to the S31 or an FPGA later.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after the S31 is ordinary networking. Early on, the PC does all DSP: unpacking, calibration, FFT, beamforming, AoA, radar.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eight C5 lanes cannot be kept in lockstep, or the S31 cannot sustain 640 Mbit/s in and out, a small FPGA takes over the per-lane capture and alignment.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constraints drive the tile layout. First, the antenna block must sit against the seam so rows stay 28.8 mm apart across boards. Second, a patch on the thin 0.21 mm L1–L2 dielectric of a standard 4-layer board radiates poorly, so Rev 1 uses a custom stack with a 1.065 mm core under the patches. The front carries only the patches; each C5 sits behind its own patch, and all digital lines are behind the L2 ground.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Receive steering is purely digital: rotate each element's IQ and sum. The real success test is repeatability after a power cycle — that proves the calibration works.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Realistic radar modes respect that the C5 is half-duplex: passive radar, separate TX and RX elements, and pulsed / switched operation. Continuous FMCW on one radio is not the starting point.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Communications experiments reuse the receive chain; coherent TX depends on the open TX questions.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Packet TX is standard; phase-controlled TX is not public. ESPARGOS says it achieved coherent TX on ESPARGOS One but has not released it. Regulation (200 mW EIRP indoors) and 24 dB of array gain argue for cabled or shielded TX tests.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steering maths is trivial; the hardware is not. Until raw coherent TX exists, use separate TX/RX roles or TDM-MIMO; external phase shifters are possible but not for Rev 1.</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Receive-only operation is about 10 W for the whole system. All-TX bursts need roughly 8 A at 3.3 V; Espressif asks for 0.6 A of supply capability per C5.</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estimates, not quotes: about $70–80 of electronics per tile and $220–300 for a complete prototype. Chip-down C5s replace modules because modules carry their own crystal.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C5 firmware builds on ESP-SDR (pinned toolchain) plus a PARLIO exporter. The S31 firmware is a DMA-to-UDP pipe with alignment checks; the host does the science.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bench experiments decide the PCB. Two are partly de-risked already: ESP-SDR shows 16-lane PARLIO capture and ≈ 687 Mbit/s Gigabit streaming on one S31. The C5-side tests are all open.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steps, each ending with a measurable result. Nothing larger is built until the previous step passes; step 3 (two C5s on one reference) is the key go / no-go point.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team's eight risks plus two from the research: no continuous capture on the C5, and patches that stay narrowband and lossy on FR-4.</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evidence summary. Notice how much of the C5 side is still open — that is the research content of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Design-decision record: why not Ethernet per element, why not a switch, why not 2.4 GHz S31 elements, and when we would revisit each.</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tiers, each a complete outcome. The minimum tier — C5 IQ over PARLIO, C5 + S31 streaming and two coherent C5s — is already publishable.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Primary sources: ESPARGOS papers and docs, ESP-SDR source, Espressif datasheets and guidelines.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Further sources: clocking, radar literature and regulation.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18-Oct-26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18-Oct-26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554480"/>
            <a:ext cx="6766560" cy="1737360"/>
          </a:xfrm>
        </p:spPr>
        <p:txBody>
          <a:bodyPr wrap="square" lIns="0" tIns="0" rIns="0" bIns="0" anchor="b"/>
          <a:lstStyle/>
          <a:p>
            <a:pPr algn="l"/>
            <a:r>
              <a:rPr sz="3800">
                <a:solidFill>
                  <a:srgbClr val="1D2733"/>
                </a:solidFill>
                <a:latin typeface="Calibri Light"/>
              </a:rPr>
              <a:t>A 4×4 phased-array research platform built from ESP32-C5 radios</a:t>
            </a:r>
          </a:p>
        </p:txBody>
      </p:sp>
      <p:sp>
        <p:nvSpPr>
          <p:cNvPr id="3" name="TextBox 2"/>
          <p:cNvSpPr txBox="1"/>
          <p:nvPr/>
        </p:nvSpPr>
        <p:spPr>
          <a:xfrm>
            <a:off x="548640" y="3520440"/>
            <a:ext cx="6583680" cy="822960"/>
          </a:xfrm>
          <a:prstGeom prst="rect">
            <a:avLst/>
          </a:prstGeom>
          <a:noFill/>
        </p:spPr>
        <p:txBody>
          <a:bodyPr wrap="square" lIns="0" tIns="0" rIns="0" bIns="0" anchor="t">
            <a:spAutoFit/>
          </a:bodyPr>
          <a:lstStyle/>
          <a:p>
            <a:pPr algn="l">
              <a:buNone/>
            </a:pPr>
            <a:r>
              <a:rPr sz="1800" b="0" i="0">
                <a:solidFill>
                  <a:srgbClr val="5B6776"/>
                </a:solidFill>
                <a:latin typeface="Calibri"/>
              </a:rPr>
              <a:t>5.2 GHz · two 8-element tiles · PARLIO aggregation into one ESP32-S31 per tile · 1 GbE per tile</a:t>
            </a:r>
            <a:endParaRPr sz="1800"/>
          </a:p>
        </p:txBody>
      </p:sp>
      <p:sp>
        <p:nvSpPr>
          <p:cNvPr id="4" name="TextBox 3"/>
          <p:cNvSpPr txBox="1"/>
          <p:nvPr/>
        </p:nvSpPr>
        <p:spPr>
          <a:xfrm>
            <a:off x="548640" y="4754880"/>
            <a:ext cx="6583680" cy="822960"/>
          </a:xfrm>
          <a:prstGeom prst="rect">
            <a:avLst/>
          </a:prstGeom>
          <a:noFill/>
        </p:spPr>
        <p:txBody>
          <a:bodyPr wrap="square" lIns="0" tIns="0" rIns="0" bIns="0" anchor="t">
            <a:spAutoFit/>
          </a:bodyPr>
          <a:lstStyle/>
          <a:p>
            <a:pPr algn="l">
              <a:spcAft>
                <a:spcPts val="400"/>
              </a:spcAft>
              <a:buNone/>
            </a:pPr>
            <a:r>
              <a:rPr sz="1400" b="0" i="0">
                <a:solidFill>
                  <a:srgbClr val="1D2733"/>
                </a:solidFill>
                <a:latin typeface="Calibri"/>
              </a:rPr>
              <a:t>Student project proposal — technical concept</a:t>
            </a:r>
            <a:endParaRPr sz="1400"/>
          </a:p>
          <a:p>
            <a:pPr algn="l">
              <a:spcAft>
                <a:spcPts val="400"/>
              </a:spcAft>
              <a:buNone/>
            </a:pPr>
            <a:r>
              <a:rPr sz="1400" b="0" i="0">
                <a:solidFill>
                  <a:srgbClr val="1D2733"/>
                </a:solidFill>
                <a:latin typeface="Calibri"/>
              </a:rPr>
              <a:t>October 2026</a:t>
            </a:r>
            <a:endParaRPr sz="1400"/>
          </a:p>
        </p:txBody>
      </p:sp>
      <p:sp>
        <p:nvSpPr>
          <p:cNvPr id="5" name="TextBox 4"/>
          <p:cNvSpPr txBox="1"/>
          <p:nvPr/>
        </p:nvSpPr>
        <p:spPr>
          <a:xfrm>
            <a:off x="548640" y="5989320"/>
            <a:ext cx="6766560" cy="457200"/>
          </a:xfrm>
          <a:prstGeom prst="rect">
            <a:avLst/>
          </a:prstGeom>
          <a:noFill/>
        </p:spPr>
        <p:txBody>
          <a:bodyPr wrap="square" lIns="0" tIns="0" rIns="0" bIns="0" anchor="t">
            <a:spAutoFit/>
          </a:bodyPr>
          <a:lstStyle/>
          <a:p>
            <a:pPr algn="l">
              <a:buNone/>
            </a:pPr>
            <a:r>
              <a:rPr sz="1000" b="0" i="0">
                <a:solidFill>
                  <a:srgbClr val="8C97A3"/>
                </a:solidFill>
                <a:latin typeface="Calibri"/>
              </a:rPr>
              <a:t>Builds on the open ESPARGOS and ESP-SDR projects. Photo: our existing 4×4 patch board (5.2 GHz, FR4).</a:t>
            </a:r>
            <a:endParaRPr sz="1000"/>
          </a:p>
        </p:txBody>
      </p:sp>
      <p:pic>
        <p:nvPicPr>
          <p:cNvPr id="6" name="Photo of the 4x4 patch antenna board" descr="patch_side.jpg"/>
          <p:cNvPicPr>
            <a:picLocks noChangeAspect="1"/>
          </p:cNvPicPr>
          <p:nvPr/>
        </p:nvPicPr>
        <p:blipFill>
          <a:blip r:embed="rId3"/>
          <a:stretch>
            <a:fillRect/>
          </a:stretch>
        </p:blipFill>
        <p:spPr>
          <a:xfrm>
            <a:off x="7726679" y="685800"/>
            <a:ext cx="4888871"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are we trying to build?</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λ = c / 5.2 GHz = 57.7 mm; d = λ/2 = 28.8 mm. Status = shown on ESP32-class hardware (ESPARGOS, 2.4 GHz) — none of it is shown on the C5 at 5 GHz yet.</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a:t>
            </a:r>
            <a:endParaRPr sz="1000"/>
          </a:p>
        </p:txBody>
      </p:sp>
      <p:sp>
        <p:nvSpPr>
          <p:cNvPr id="5" name="TextBox 4"/>
          <p:cNvSpPr txBox="1"/>
          <p:nvPr/>
        </p:nvSpPr>
        <p:spPr>
          <a:xfrm>
            <a:off x="548640" y="1188720"/>
            <a:ext cx="6583680" cy="868680"/>
          </a:xfrm>
          <a:prstGeom prst="rect">
            <a:avLst/>
          </a:prstGeom>
          <a:noFill/>
        </p:spPr>
        <p:txBody>
          <a:bodyPr wrap="square" lIns="0" tIns="0" rIns="0" bIns="0" anchor="t">
            <a:spAutoFit/>
          </a:bodyPr>
          <a:lstStyle/>
          <a:p>
            <a:pPr algn="l">
              <a:lnSpc>
                <a:spcPct val="105000"/>
              </a:lnSpc>
              <a:buNone/>
            </a:pPr>
            <a:r>
              <a:rPr sz="1600" b="0" i="0">
                <a:solidFill>
                  <a:srgbClr val="1D2733"/>
                </a:solidFill>
                <a:latin typeface="Calibri"/>
              </a:rPr>
              <a:t>A 16-element digital array at 5.2 GHz in which every element is a complete ESP32-C5 transceiver. The aim is a research platform for receiving, sensing and communication, with coherent transmission as a later research question.</a:t>
            </a:r>
            <a:endParaRPr sz="1600"/>
          </a:p>
        </p:txBody>
      </p:sp>
      <p:sp>
        <p:nvSpPr>
          <p:cNvPr id="6" name="TextBox 5"/>
          <p:cNvSpPr txBox="1"/>
          <p:nvPr/>
        </p:nvSpPr>
        <p:spPr>
          <a:xfrm>
            <a:off x="548640" y="2167128"/>
            <a:ext cx="4572000" cy="274320"/>
          </a:xfrm>
          <a:prstGeom prst="rect">
            <a:avLst/>
          </a:prstGeom>
          <a:noFill/>
        </p:spPr>
        <p:txBody>
          <a:bodyPr wrap="square" lIns="0" tIns="0" rIns="0" bIns="0" anchor="t">
            <a:spAutoFit/>
          </a:bodyPr>
          <a:lstStyle/>
          <a:p>
            <a:pPr algn="l">
              <a:buNone/>
            </a:pPr>
            <a:r>
              <a:rPr sz="1200" b="0" i="0">
                <a:solidFill>
                  <a:srgbClr val="5B6776"/>
                </a:solidFill>
                <a:latin typeface="Calibri"/>
              </a:rPr>
              <a:t>One element (×16)</a:t>
            </a:r>
            <a:endParaRPr sz="1200"/>
          </a:p>
        </p:txBody>
      </p:sp>
      <p:sp>
        <p:nvSpPr>
          <p:cNvPr id="7" name="Rectangle 6"/>
          <p:cNvSpPr/>
          <p:nvPr/>
        </p:nvSpPr>
        <p:spPr>
          <a:xfrm>
            <a:off x="548640" y="2514600"/>
            <a:ext cx="1325880" cy="68580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Patch + SPDT</a:t>
            </a:r>
            <a:endParaRPr sz="1200"/>
          </a:p>
          <a:p>
            <a:pPr algn="ctr">
              <a:buNone/>
            </a:pPr>
            <a:r>
              <a:rPr sz="1000" b="0" i="0">
                <a:solidFill>
                  <a:srgbClr val="5B6776"/>
                </a:solidFill>
                <a:latin typeface="Calibri"/>
              </a:rPr>
              <a:t>5.2 GHz, ANT / CAL</a:t>
            </a:r>
            <a:endParaRPr sz="1200"/>
          </a:p>
        </p:txBody>
      </p:sp>
      <p:sp>
        <p:nvSpPr>
          <p:cNvPr id="8" name="Rectangle 7"/>
          <p:cNvSpPr/>
          <p:nvPr/>
        </p:nvSpPr>
        <p:spPr>
          <a:xfrm>
            <a:off x="2148840" y="2514600"/>
            <a:ext cx="1463040" cy="68580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ESP32-C5</a:t>
            </a:r>
            <a:endParaRPr sz="1200"/>
          </a:p>
          <a:p>
            <a:pPr algn="ctr">
              <a:buNone/>
            </a:pPr>
            <a:r>
              <a:rPr sz="1000" b="0" i="0">
                <a:solidFill>
                  <a:srgbClr val="5B6776"/>
                </a:solidFill>
                <a:latin typeface="Calibri"/>
              </a:rPr>
              <a:t>RF transceiver, raw IQ</a:t>
            </a:r>
            <a:endParaRPr sz="1200"/>
          </a:p>
        </p:txBody>
      </p:sp>
      <p:sp>
        <p:nvSpPr>
          <p:cNvPr id="9" name="Rectangle 8"/>
          <p:cNvSpPr/>
          <p:nvPr/>
        </p:nvSpPr>
        <p:spPr>
          <a:xfrm>
            <a:off x="3886200" y="2514600"/>
            <a:ext cx="1463040" cy="68580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2-bit PARLIO</a:t>
            </a:r>
            <a:endParaRPr sz="1200"/>
          </a:p>
          <a:p>
            <a:pPr algn="ctr">
              <a:buNone/>
            </a:pPr>
            <a:r>
              <a:rPr sz="1000" b="0" i="0">
                <a:solidFill>
                  <a:srgbClr val="5B6776"/>
                </a:solidFill>
                <a:latin typeface="Calibri"/>
              </a:rPr>
              <a:t>80 Mbit/s lane</a:t>
            </a:r>
            <a:endParaRPr sz="1200"/>
          </a:p>
        </p:txBody>
      </p:sp>
      <p:sp>
        <p:nvSpPr>
          <p:cNvPr id="10" name="Rectangle 9"/>
          <p:cNvSpPr/>
          <p:nvPr/>
        </p:nvSpPr>
        <p:spPr>
          <a:xfrm>
            <a:off x="5623560" y="2514600"/>
            <a:ext cx="1463040" cy="68580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ESP32-S31</a:t>
            </a:r>
            <a:endParaRPr sz="1200"/>
          </a:p>
          <a:p>
            <a:pPr algn="ctr">
              <a:buNone/>
            </a:pPr>
            <a:r>
              <a:rPr sz="1000" b="0" i="0">
                <a:solidFill>
                  <a:srgbClr val="5B6776"/>
                </a:solidFill>
                <a:latin typeface="Calibri"/>
              </a:rPr>
              <a:t>8 lanes → 1 GbE</a:t>
            </a:r>
            <a:endParaRPr sz="1200"/>
          </a:p>
        </p:txBody>
      </p:sp>
      <p:cxnSp>
        <p:nvCxnSpPr>
          <p:cNvPr id="11" name="Connector 10"/>
          <p:cNvCxnSpPr/>
          <p:nvPr/>
        </p:nvCxnSpPr>
        <p:spPr>
          <a:xfrm>
            <a:off x="1874519" y="2857500"/>
            <a:ext cx="274321"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611880" y="2857500"/>
            <a:ext cx="274320" cy="0"/>
          </a:xfrm>
          <a:prstGeom prst="line">
            <a:avLst/>
          </a:prstGeom>
          <a:ln w="1587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49240" y="2857500"/>
            <a:ext cx="274320" cy="0"/>
          </a:xfrm>
          <a:prstGeom prst="line">
            <a:avLst/>
          </a:prstGeom>
          <a:ln w="1587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8640" y="3566160"/>
            <a:ext cx="20574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606040" y="3200400"/>
            <a:ext cx="0" cy="36576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46120" y="3456432"/>
            <a:ext cx="3200400" cy="219456"/>
          </a:xfrm>
          <a:prstGeom prst="rect">
            <a:avLst/>
          </a:prstGeom>
          <a:noFill/>
        </p:spPr>
        <p:txBody>
          <a:bodyPr wrap="square" lIns="0" tIns="0" rIns="0" bIns="0" anchor="t">
            <a:spAutoFit/>
          </a:bodyPr>
          <a:lstStyle/>
          <a:p>
            <a:pPr algn="l">
              <a:buNone/>
            </a:pPr>
            <a:r>
              <a:rPr sz="1100" b="0" i="0">
                <a:solidFill>
                  <a:srgbClr val="1F5C99"/>
                </a:solidFill>
                <a:latin typeface="Calibri"/>
              </a:rPr>
              <a:t>48 MHz reference</a:t>
            </a:r>
            <a:endParaRPr sz="1100"/>
          </a:p>
        </p:txBody>
      </p:sp>
      <p:cxnSp>
        <p:nvCxnSpPr>
          <p:cNvPr id="17" name="Connector 16"/>
          <p:cNvCxnSpPr/>
          <p:nvPr/>
        </p:nvCxnSpPr>
        <p:spPr>
          <a:xfrm>
            <a:off x="548640" y="3840480"/>
            <a:ext cx="2286000" cy="0"/>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834640" y="3200400"/>
            <a:ext cx="0" cy="64008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246120" y="3730752"/>
            <a:ext cx="3200400" cy="219456"/>
          </a:xfrm>
          <a:prstGeom prst="rect">
            <a:avLst/>
          </a:prstGeom>
          <a:noFill/>
        </p:spPr>
        <p:txBody>
          <a:bodyPr wrap="square" lIns="0" tIns="0" rIns="0" bIns="0" anchor="t">
            <a:spAutoFit/>
          </a:bodyPr>
          <a:lstStyle/>
          <a:p>
            <a:pPr algn="l">
              <a:buNone/>
            </a:pPr>
            <a:r>
              <a:rPr sz="1100" b="0" i="0">
                <a:solidFill>
                  <a:srgbClr val="0E7C76"/>
                </a:solidFill>
                <a:latin typeface="Calibri"/>
              </a:rPr>
              <a:t>5.2 GHz calibration tone</a:t>
            </a:r>
            <a:endParaRPr sz="1100"/>
          </a:p>
        </p:txBody>
      </p:sp>
      <p:cxnSp>
        <p:nvCxnSpPr>
          <p:cNvPr id="20" name="Connector 19"/>
          <p:cNvCxnSpPr/>
          <p:nvPr/>
        </p:nvCxnSpPr>
        <p:spPr>
          <a:xfrm>
            <a:off x="548640" y="4114800"/>
            <a:ext cx="2514600" cy="0"/>
          </a:xfrm>
          <a:prstGeom prst="line">
            <a:avLst/>
          </a:prstGeom>
          <a:ln w="15875">
            <a:solidFill>
              <a:srgbClr val="A86A0B"/>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063240" y="3200400"/>
            <a:ext cx="0" cy="914400"/>
          </a:xfrm>
          <a:prstGeom prst="line">
            <a:avLst/>
          </a:prstGeom>
          <a:ln w="15875">
            <a:solidFill>
              <a:srgbClr val="A86A0B"/>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246120" y="4005072"/>
            <a:ext cx="3200400" cy="219456"/>
          </a:xfrm>
          <a:prstGeom prst="rect">
            <a:avLst/>
          </a:prstGeom>
          <a:noFill/>
        </p:spPr>
        <p:txBody>
          <a:bodyPr wrap="square" lIns="0" tIns="0" rIns="0" bIns="0" anchor="t">
            <a:spAutoFit/>
          </a:bodyPr>
          <a:lstStyle/>
          <a:p>
            <a:pPr algn="l">
              <a:buNone/>
            </a:pPr>
            <a:r>
              <a:rPr sz="1100" b="0" i="0">
                <a:solidFill>
                  <a:srgbClr val="A86A0B"/>
                </a:solidFill>
                <a:latin typeface="Calibri"/>
              </a:rPr>
              <a:t>trigger / timestamp</a:t>
            </a:r>
            <a:endParaRPr sz="1100"/>
          </a:p>
        </p:txBody>
      </p:sp>
      <p:sp>
        <p:nvSpPr>
          <p:cNvPr id="23" name="TextBox 22"/>
          <p:cNvSpPr txBox="1"/>
          <p:nvPr/>
        </p:nvSpPr>
        <p:spPr>
          <a:xfrm>
            <a:off x="548640" y="4434840"/>
            <a:ext cx="6583680" cy="274320"/>
          </a:xfrm>
          <a:prstGeom prst="rect">
            <a:avLst/>
          </a:prstGeom>
          <a:noFill/>
        </p:spPr>
        <p:txBody>
          <a:bodyPr wrap="square" lIns="0" tIns="0" rIns="0" bIns="0" anchor="t">
            <a:spAutoFit/>
          </a:bodyPr>
          <a:lstStyle/>
          <a:p>
            <a:pPr algn="l">
              <a:buNone/>
            </a:pPr>
            <a:r>
              <a:rPr sz="1200" b="0" i="0">
                <a:solidFill>
                  <a:srgbClr val="5B6776"/>
                </a:solidFill>
                <a:latin typeface="Calibri"/>
              </a:rPr>
              <a:t>Shared by all 16 elements — this is what turns 16 radios into one array.</a:t>
            </a:r>
            <a:endParaRPr sz="1200"/>
          </a:p>
        </p:txBody>
      </p:sp>
      <p:sp>
        <p:nvSpPr>
          <p:cNvPr id="24" name="Rectangle 23"/>
          <p:cNvSpPr/>
          <p:nvPr/>
        </p:nvSpPr>
        <p:spPr>
          <a:xfrm>
            <a:off x="7955279" y="1280160"/>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5" name="Rectangle 24"/>
          <p:cNvSpPr/>
          <p:nvPr/>
        </p:nvSpPr>
        <p:spPr>
          <a:xfrm>
            <a:off x="8522207" y="1280160"/>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6" name="Rectangle 25"/>
          <p:cNvSpPr/>
          <p:nvPr/>
        </p:nvSpPr>
        <p:spPr>
          <a:xfrm>
            <a:off x="9089136" y="1280160"/>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7" name="Rectangle 26"/>
          <p:cNvSpPr/>
          <p:nvPr/>
        </p:nvSpPr>
        <p:spPr>
          <a:xfrm>
            <a:off x="9656063" y="1280160"/>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8" name="Rectangle 27"/>
          <p:cNvSpPr/>
          <p:nvPr/>
        </p:nvSpPr>
        <p:spPr>
          <a:xfrm>
            <a:off x="7955279" y="1847088"/>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9" name="Rectangle 28"/>
          <p:cNvSpPr/>
          <p:nvPr/>
        </p:nvSpPr>
        <p:spPr>
          <a:xfrm>
            <a:off x="8522207" y="1847088"/>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0" name="Rectangle 29"/>
          <p:cNvSpPr/>
          <p:nvPr/>
        </p:nvSpPr>
        <p:spPr>
          <a:xfrm>
            <a:off x="9089136" y="1847088"/>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1" name="Rectangle 30"/>
          <p:cNvSpPr/>
          <p:nvPr/>
        </p:nvSpPr>
        <p:spPr>
          <a:xfrm>
            <a:off x="9656063" y="1847088"/>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2" name="Rectangle 31"/>
          <p:cNvSpPr/>
          <p:nvPr/>
        </p:nvSpPr>
        <p:spPr>
          <a:xfrm>
            <a:off x="7955279" y="2414016"/>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3" name="Rectangle 32"/>
          <p:cNvSpPr/>
          <p:nvPr/>
        </p:nvSpPr>
        <p:spPr>
          <a:xfrm>
            <a:off x="8522207" y="2414016"/>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4" name="Rectangle 33"/>
          <p:cNvSpPr/>
          <p:nvPr/>
        </p:nvSpPr>
        <p:spPr>
          <a:xfrm>
            <a:off x="9089136" y="2414016"/>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5" name="Rectangle 34"/>
          <p:cNvSpPr/>
          <p:nvPr/>
        </p:nvSpPr>
        <p:spPr>
          <a:xfrm>
            <a:off x="9656063" y="2414016"/>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6" name="Rectangle 35"/>
          <p:cNvSpPr/>
          <p:nvPr/>
        </p:nvSpPr>
        <p:spPr>
          <a:xfrm>
            <a:off x="7955279" y="2980944"/>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7" name="Rectangle 36"/>
          <p:cNvSpPr/>
          <p:nvPr/>
        </p:nvSpPr>
        <p:spPr>
          <a:xfrm>
            <a:off x="8522207" y="2980944"/>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8" name="Rectangle 37"/>
          <p:cNvSpPr/>
          <p:nvPr/>
        </p:nvSpPr>
        <p:spPr>
          <a:xfrm>
            <a:off x="9089136" y="2980944"/>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39" name="Rectangle 38"/>
          <p:cNvSpPr/>
          <p:nvPr/>
        </p:nvSpPr>
        <p:spPr>
          <a:xfrm>
            <a:off x="9656063" y="2980944"/>
            <a:ext cx="274320" cy="27432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40" name="Connector 39"/>
          <p:cNvCxnSpPr/>
          <p:nvPr/>
        </p:nvCxnSpPr>
        <p:spPr>
          <a:xfrm>
            <a:off x="8092440" y="3529584"/>
            <a:ext cx="566927" cy="0"/>
          </a:xfrm>
          <a:prstGeom prst="line">
            <a:avLst/>
          </a:prstGeom>
          <a:ln w="9525">
            <a:solidFill>
              <a:srgbClr val="1D2733"/>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909560" y="3575304"/>
            <a:ext cx="932688" cy="228600"/>
          </a:xfrm>
          <a:prstGeom prst="rect">
            <a:avLst/>
          </a:prstGeom>
          <a:noFill/>
        </p:spPr>
        <p:txBody>
          <a:bodyPr wrap="square" lIns="0" tIns="0" rIns="0" bIns="0" anchor="t">
            <a:spAutoFit/>
          </a:bodyPr>
          <a:lstStyle/>
          <a:p>
            <a:pPr algn="ctr">
              <a:buNone/>
            </a:pPr>
            <a:r>
              <a:rPr sz="1100" b="0" i="0">
                <a:solidFill>
                  <a:srgbClr val="1D2733"/>
                </a:solidFill>
                <a:latin typeface="Calibri"/>
              </a:rPr>
              <a:t>28.8 mm</a:t>
            </a:r>
            <a:endParaRPr sz="1100"/>
          </a:p>
        </p:txBody>
      </p:sp>
      <p:cxnSp>
        <p:nvCxnSpPr>
          <p:cNvPr id="42" name="Connector 41"/>
          <p:cNvCxnSpPr/>
          <p:nvPr/>
        </p:nvCxnSpPr>
        <p:spPr>
          <a:xfrm>
            <a:off x="8092440" y="3986784"/>
            <a:ext cx="1700784" cy="0"/>
          </a:xfrm>
          <a:prstGeom prst="line">
            <a:avLst/>
          </a:prstGeom>
          <a:ln w="9525">
            <a:solidFill>
              <a:srgbClr val="1D2733"/>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092440" y="4032504"/>
            <a:ext cx="1700784" cy="228600"/>
          </a:xfrm>
          <a:prstGeom prst="rect">
            <a:avLst/>
          </a:prstGeom>
          <a:noFill/>
        </p:spPr>
        <p:txBody>
          <a:bodyPr wrap="square" lIns="0" tIns="0" rIns="0" bIns="0" anchor="t">
            <a:spAutoFit/>
          </a:bodyPr>
          <a:lstStyle/>
          <a:p>
            <a:pPr algn="ctr">
              <a:buNone/>
            </a:pPr>
            <a:r>
              <a:rPr sz="1100" b="0" i="0">
                <a:solidFill>
                  <a:srgbClr val="1D2733"/>
                </a:solidFill>
                <a:latin typeface="Calibri"/>
              </a:rPr>
              <a:t>86.5 mm between outer element centres</a:t>
            </a:r>
            <a:endParaRPr sz="1100"/>
          </a:p>
        </p:txBody>
      </p:sp>
      <p:cxnSp>
        <p:nvCxnSpPr>
          <p:cNvPr id="44" name="Connector 43"/>
          <p:cNvCxnSpPr/>
          <p:nvPr/>
        </p:nvCxnSpPr>
        <p:spPr>
          <a:xfrm>
            <a:off x="8092440" y="3300984"/>
            <a:ext cx="0" cy="685800"/>
          </a:xfrm>
          <a:prstGeom prst="line">
            <a:avLst/>
          </a:prstGeom>
          <a:ln w="6350">
            <a:solidFill>
              <a:srgbClr val="D3D9D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59367" y="3300984"/>
            <a:ext cx="0" cy="228600"/>
          </a:xfrm>
          <a:prstGeom prst="line">
            <a:avLst/>
          </a:prstGeom>
          <a:ln w="6350">
            <a:solidFill>
              <a:srgbClr val="D3D9D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793224" y="3300984"/>
            <a:ext cx="0" cy="685800"/>
          </a:xfrm>
          <a:prstGeom prst="line">
            <a:avLst/>
          </a:prstGeom>
          <a:ln w="6350">
            <a:solidFill>
              <a:srgbClr val="D3D9D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314432" y="1325880"/>
            <a:ext cx="1828800" cy="1097280"/>
          </a:xfrm>
          <a:prstGeom prst="rect">
            <a:avLst/>
          </a:prstGeom>
          <a:noFill/>
        </p:spPr>
        <p:txBody>
          <a:bodyPr wrap="square" lIns="0" tIns="0" rIns="0" bIns="0" anchor="t">
            <a:spAutoFit/>
          </a:bodyPr>
          <a:lstStyle/>
          <a:p>
            <a:pPr algn="l">
              <a:buNone/>
            </a:pPr>
            <a:r>
              <a:rPr sz="1100" b="0" i="0">
                <a:solidFill>
                  <a:srgbClr val="5B6776"/>
                </a:solidFill>
                <a:latin typeface="Calibri"/>
              </a:rPr>
              <a:t>4 × 4 elements</a:t>
            </a:r>
            <a:endParaRPr sz="1100"/>
          </a:p>
          <a:p>
            <a:pPr algn="l">
              <a:buNone/>
            </a:pPr>
            <a:r>
              <a:rPr sz="1100" b="0" i="0">
                <a:solidFill>
                  <a:srgbClr val="5B6776"/>
                </a:solidFill>
                <a:latin typeface="Calibri"/>
              </a:rPr>
              <a:t>λ/2 pitch at 5.2 GHz</a:t>
            </a:r>
            <a:endParaRPr sz="1100"/>
          </a:p>
          <a:p>
            <a:pPr algn="l">
              <a:buNone/>
            </a:pPr>
            <a:r>
              <a:rPr sz="1100" b="0" i="0">
                <a:solidFill>
                  <a:srgbClr val="5B6776"/>
                </a:solidFill>
                <a:latin typeface="Calibri"/>
              </a:rPr>
              <a:t>no grating lobes for</a:t>
            </a:r>
            <a:endParaRPr sz="1100"/>
          </a:p>
          <a:p>
            <a:pPr algn="l">
              <a:buNone/>
            </a:pPr>
            <a:r>
              <a:rPr sz="1100" b="0" i="0">
                <a:solidFill>
                  <a:srgbClr val="5B6776"/>
                </a:solidFill>
                <a:latin typeface="Calibri"/>
              </a:rPr>
              <a:t>±90° scan</a:t>
            </a:r>
            <a:endParaRPr sz="1100"/>
          </a:p>
        </p:txBody>
      </p:sp>
      <p:cxnSp>
        <p:nvCxnSpPr>
          <p:cNvPr id="48" name="Connector 47"/>
          <p:cNvCxnSpPr/>
          <p:nvPr/>
        </p:nvCxnSpPr>
        <p:spPr>
          <a:xfrm>
            <a:off x="548640" y="4846320"/>
            <a:ext cx="110916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49" name="status Confirmed"/>
          <p:cNvSpPr/>
          <p:nvPr/>
        </p:nvSpPr>
        <p:spPr>
          <a:xfrm>
            <a:off x="553212" y="5070348"/>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7240" y="5010912"/>
            <a:ext cx="2468880" cy="274320"/>
          </a:xfrm>
          <a:prstGeom prst="rect">
            <a:avLst/>
          </a:prstGeom>
          <a:noFill/>
        </p:spPr>
        <p:txBody>
          <a:bodyPr wrap="square" lIns="0" tIns="0" rIns="0" bIns="0" anchor="t">
            <a:spAutoFit/>
          </a:bodyPr>
          <a:lstStyle/>
          <a:p>
            <a:pPr algn="l">
              <a:buNone/>
            </a:pPr>
            <a:r>
              <a:rPr sz="1400" b="0" i="0">
                <a:solidFill>
                  <a:srgbClr val="1D2733"/>
                </a:solidFill>
                <a:latin typeface="Calibri"/>
              </a:rPr>
              <a:t>Receive</a:t>
            </a:r>
            <a:endParaRPr sz="1400"/>
          </a:p>
        </p:txBody>
      </p:sp>
      <p:sp>
        <p:nvSpPr>
          <p:cNvPr id="51" name="TextBox 50"/>
          <p:cNvSpPr txBox="1"/>
          <p:nvPr/>
        </p:nvSpPr>
        <p:spPr>
          <a:xfrm>
            <a:off x="777240" y="5312664"/>
            <a:ext cx="2423160" cy="548640"/>
          </a:xfrm>
          <a:prstGeom prst="rect">
            <a:avLst/>
          </a:prstGeom>
          <a:noFill/>
        </p:spPr>
        <p:txBody>
          <a:bodyPr wrap="square" lIns="0" tIns="0" rIns="0" bIns="0" anchor="t">
            <a:spAutoFit/>
          </a:bodyPr>
          <a:lstStyle/>
          <a:p>
            <a:pPr algn="l">
              <a:buNone/>
            </a:pPr>
            <a:r>
              <a:rPr sz="1100" b="0" i="0">
                <a:solidFill>
                  <a:srgbClr val="5B6776"/>
                </a:solidFill>
                <a:latin typeface="Calibri"/>
              </a:rPr>
              <a:t>digital beamforming, AoA / direction finding (shown by ESPARGOS at 2.4 GHz)</a:t>
            </a:r>
            <a:endParaRPr sz="1100"/>
          </a:p>
        </p:txBody>
      </p:sp>
      <p:sp>
        <p:nvSpPr>
          <p:cNvPr id="52" name="status Engineering inference"/>
          <p:cNvSpPr/>
          <p:nvPr/>
        </p:nvSpPr>
        <p:spPr>
          <a:xfrm>
            <a:off x="3351276" y="5070348"/>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575304" y="5010912"/>
            <a:ext cx="2468880" cy="274320"/>
          </a:xfrm>
          <a:prstGeom prst="rect">
            <a:avLst/>
          </a:prstGeom>
          <a:noFill/>
        </p:spPr>
        <p:txBody>
          <a:bodyPr wrap="square" lIns="0" tIns="0" rIns="0" bIns="0" anchor="t">
            <a:spAutoFit/>
          </a:bodyPr>
          <a:lstStyle/>
          <a:p>
            <a:pPr algn="l">
              <a:buNone/>
            </a:pPr>
            <a:r>
              <a:rPr sz="1400" b="0" i="0">
                <a:solidFill>
                  <a:srgbClr val="1D2733"/>
                </a:solidFill>
                <a:latin typeface="Calibri"/>
              </a:rPr>
              <a:t>Sense</a:t>
            </a:r>
            <a:endParaRPr sz="1400"/>
          </a:p>
        </p:txBody>
      </p:sp>
      <p:sp>
        <p:nvSpPr>
          <p:cNvPr id="54" name="TextBox 53"/>
          <p:cNvSpPr txBox="1"/>
          <p:nvPr/>
        </p:nvSpPr>
        <p:spPr>
          <a:xfrm>
            <a:off x="3575304" y="5312664"/>
            <a:ext cx="2423160" cy="548640"/>
          </a:xfrm>
          <a:prstGeom prst="rect">
            <a:avLst/>
          </a:prstGeom>
          <a:noFill/>
        </p:spPr>
        <p:txBody>
          <a:bodyPr wrap="square" lIns="0" tIns="0" rIns="0" bIns="0" anchor="t">
            <a:spAutoFit/>
          </a:bodyPr>
          <a:lstStyle/>
          <a:p>
            <a:pPr algn="l">
              <a:buNone/>
            </a:pPr>
            <a:r>
              <a:rPr sz="1100" b="0" i="0">
                <a:solidFill>
                  <a:srgbClr val="5B6776"/>
                </a:solidFill>
                <a:latin typeface="Calibri"/>
              </a:rPr>
              <a:t>Wi-Fi sensing, passive and bistatic radar, Doppler</a:t>
            </a:r>
            <a:endParaRPr sz="1100"/>
          </a:p>
        </p:txBody>
      </p:sp>
      <p:sp>
        <p:nvSpPr>
          <p:cNvPr id="55" name="status Engineering inference"/>
          <p:cNvSpPr/>
          <p:nvPr/>
        </p:nvSpPr>
        <p:spPr>
          <a:xfrm>
            <a:off x="6149340" y="5070348"/>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73368" y="5010912"/>
            <a:ext cx="2468880" cy="274320"/>
          </a:xfrm>
          <a:prstGeom prst="rect">
            <a:avLst/>
          </a:prstGeom>
          <a:noFill/>
        </p:spPr>
        <p:txBody>
          <a:bodyPr wrap="square" lIns="0" tIns="0" rIns="0" bIns="0" anchor="t">
            <a:spAutoFit/>
          </a:bodyPr>
          <a:lstStyle/>
          <a:p>
            <a:pPr algn="l">
              <a:buNone/>
            </a:pPr>
            <a:r>
              <a:rPr sz="1400" b="0" i="0">
                <a:solidFill>
                  <a:srgbClr val="1D2733"/>
                </a:solidFill>
                <a:latin typeface="Calibri"/>
              </a:rPr>
              <a:t>Sound</a:t>
            </a:r>
            <a:endParaRPr sz="1400"/>
          </a:p>
        </p:txBody>
      </p:sp>
      <p:sp>
        <p:nvSpPr>
          <p:cNvPr id="57" name="TextBox 56"/>
          <p:cNvSpPr txBox="1"/>
          <p:nvPr/>
        </p:nvSpPr>
        <p:spPr>
          <a:xfrm>
            <a:off x="6373368" y="5312664"/>
            <a:ext cx="2423160" cy="548640"/>
          </a:xfrm>
          <a:prstGeom prst="rect">
            <a:avLst/>
          </a:prstGeom>
          <a:noFill/>
        </p:spPr>
        <p:txBody>
          <a:bodyPr wrap="square" lIns="0" tIns="0" rIns="0" bIns="0" anchor="t">
            <a:spAutoFit/>
          </a:bodyPr>
          <a:lstStyle/>
          <a:p>
            <a:pPr algn="l">
              <a:buNone/>
            </a:pPr>
            <a:r>
              <a:rPr sz="1100" b="0" i="0">
                <a:solidFill>
                  <a:srgbClr val="5B6776"/>
                </a:solidFill>
                <a:latin typeface="Calibri"/>
              </a:rPr>
              <a:t>channel sounding, MIMO measurements, localization</a:t>
            </a:r>
            <a:endParaRPr sz="1100"/>
          </a:p>
        </p:txBody>
      </p:sp>
      <p:sp>
        <p:nvSpPr>
          <p:cNvPr id="58" name="status Speculative"/>
          <p:cNvSpPr/>
          <p:nvPr/>
        </p:nvSpPr>
        <p:spPr>
          <a:xfrm>
            <a:off x="8947404" y="5070348"/>
            <a:ext cx="137160" cy="137160"/>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171432" y="5010912"/>
            <a:ext cx="2468880" cy="274320"/>
          </a:xfrm>
          <a:prstGeom prst="rect">
            <a:avLst/>
          </a:prstGeom>
          <a:noFill/>
        </p:spPr>
        <p:txBody>
          <a:bodyPr wrap="square" lIns="0" tIns="0" rIns="0" bIns="0" anchor="t">
            <a:spAutoFit/>
          </a:bodyPr>
          <a:lstStyle/>
          <a:p>
            <a:pPr algn="l">
              <a:buNone/>
            </a:pPr>
            <a:r>
              <a:rPr sz="1400" b="0" i="0">
                <a:solidFill>
                  <a:srgbClr val="1D2733"/>
                </a:solidFill>
                <a:latin typeface="Calibri"/>
              </a:rPr>
              <a:t>Transmit coherently</a:t>
            </a:r>
            <a:endParaRPr sz="1400"/>
          </a:p>
        </p:txBody>
      </p:sp>
      <p:sp>
        <p:nvSpPr>
          <p:cNvPr id="60" name="TextBox 59"/>
          <p:cNvSpPr txBox="1"/>
          <p:nvPr/>
        </p:nvSpPr>
        <p:spPr>
          <a:xfrm>
            <a:off x="9171432" y="5312664"/>
            <a:ext cx="2423160" cy="548640"/>
          </a:xfrm>
          <a:prstGeom prst="rect">
            <a:avLst/>
          </a:prstGeom>
          <a:noFill/>
        </p:spPr>
        <p:txBody>
          <a:bodyPr wrap="square" lIns="0" tIns="0" rIns="0" bIns="0" anchor="t">
            <a:spAutoFit/>
          </a:bodyPr>
          <a:lstStyle/>
          <a:p>
            <a:pPr algn="l">
              <a:buNone/>
            </a:pPr>
            <a:r>
              <a:rPr sz="1100" b="0" i="0">
                <a:solidFill>
                  <a:srgbClr val="5B6776"/>
                </a:solidFill>
                <a:latin typeface="Calibri"/>
              </a:rPr>
              <a:t>TX beamforming, if raw TX can be reproduced</a:t>
            </a:r>
            <a:endParaRPr sz="1100"/>
          </a:p>
        </p:txBody>
      </p:sp>
      <p:sp>
        <p:nvSpPr>
          <p:cNvPr id="61" name="status Confirmed"/>
          <p:cNvSpPr/>
          <p:nvPr/>
        </p:nvSpPr>
        <p:spPr>
          <a:xfrm>
            <a:off x="562356" y="6030468"/>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9808" y="5989320"/>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63" name="status Engineering inference"/>
          <p:cNvSpPr/>
          <p:nvPr/>
        </p:nvSpPr>
        <p:spPr>
          <a:xfrm>
            <a:off x="1548079" y="6030468"/>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735531" y="5989320"/>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65" name="status Speculative"/>
          <p:cNvSpPr/>
          <p:nvPr/>
        </p:nvSpPr>
        <p:spPr>
          <a:xfrm>
            <a:off x="3214116" y="6030468"/>
            <a:ext cx="118872" cy="118872"/>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401568" y="5989320"/>
            <a:ext cx="669340" cy="201168"/>
          </a:xfrm>
          <a:prstGeom prst="rect">
            <a:avLst/>
          </a:prstGeom>
          <a:noFill/>
        </p:spPr>
        <p:txBody>
          <a:bodyPr wrap="square" lIns="0" tIns="0" rIns="0" bIns="0" anchor="ctr">
            <a:spAutoFit/>
          </a:bodyPr>
          <a:lstStyle/>
          <a:p>
            <a:pPr algn="l">
              <a:buNone/>
            </a:pPr>
            <a:r>
              <a:rPr sz="1000" b="0" i="0">
                <a:solidFill>
                  <a:srgbClr val="5B6776"/>
                </a:solidFill>
                <a:latin typeface="Calibri"/>
              </a:rPr>
              <a:t>Speculative</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already exists, and what is new here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Sources: ESPARGOS One datasheet (June 2026), espargos.net, pyespargos, arXiv 2502.09405; ESP-SDR page and repository (HEAD 2026-10-08).</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a:t>
            </a:r>
            <a:endParaRPr sz="1000"/>
          </a:p>
        </p:txBody>
      </p:sp>
      <p:sp>
        <p:nvSpPr>
          <p:cNvPr id="5" name="TextBox 4"/>
          <p:cNvSpPr txBox="1"/>
          <p:nvPr/>
        </p:nvSpPr>
        <p:spPr>
          <a:xfrm>
            <a:off x="548640" y="1325880"/>
            <a:ext cx="3520440" cy="320040"/>
          </a:xfrm>
          <a:prstGeom prst="rect">
            <a:avLst/>
          </a:prstGeom>
          <a:noFill/>
        </p:spPr>
        <p:txBody>
          <a:bodyPr wrap="square" lIns="0" tIns="0" rIns="0" bIns="0" anchor="t">
            <a:spAutoFit/>
          </a:bodyPr>
          <a:lstStyle/>
          <a:p>
            <a:pPr algn="l">
              <a:buNone/>
            </a:pPr>
            <a:r>
              <a:rPr sz="1600" b="0" i="0">
                <a:solidFill>
                  <a:srgbClr val="1D2733"/>
                </a:solidFill>
                <a:latin typeface="Calibri"/>
              </a:rPr>
              <a:t>ESPARGOS (Univ. of Stuttgart)</a:t>
            </a:r>
            <a:endParaRPr sz="1600"/>
          </a:p>
        </p:txBody>
      </p:sp>
      <p:cxnSp>
        <p:nvCxnSpPr>
          <p:cNvPr id="6" name="Connector 5"/>
          <p:cNvCxnSpPr/>
          <p:nvPr/>
        </p:nvCxnSpPr>
        <p:spPr>
          <a:xfrm>
            <a:off x="548640" y="1719072"/>
            <a:ext cx="3520440" cy="0"/>
          </a:xfrm>
          <a:prstGeom prst="line">
            <a:avLst/>
          </a:prstGeom>
          <a:ln w="12700">
            <a:solidFill>
              <a:srgbClr val="7F8B97"/>
            </a:solidFill>
          </a:ln>
        </p:spPr>
        <p:style>
          <a:lnRef idx="2">
            <a:schemeClr val="accent1"/>
          </a:lnRef>
          <a:fillRef idx="0">
            <a:schemeClr val="accent1"/>
          </a:fillRef>
          <a:effectRef idx="1">
            <a:schemeClr val="accent1"/>
          </a:effectRef>
          <a:fontRef idx="minor">
            <a:schemeClr val="tx1"/>
          </a:fontRef>
        </p:style>
      </p:cxnSp>
      <p:sp>
        <p:nvSpPr>
          <p:cNvPr id="7" name="status Confirmed"/>
          <p:cNvSpPr/>
          <p:nvPr/>
        </p:nvSpPr>
        <p:spPr>
          <a:xfrm>
            <a:off x="553212" y="1924811"/>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874519"/>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ESPARGOS One: 8 ESP32-C61 sensors + a controller ESP32; 4 × 2 dual-polarized patches, 2.4 GHz</a:t>
            </a:r>
            <a:endParaRPr sz="1300"/>
          </a:p>
        </p:txBody>
      </p:sp>
      <p:sp>
        <p:nvSpPr>
          <p:cNvPr id="9" name="status Confirmed"/>
          <p:cNvSpPr/>
          <p:nvPr/>
        </p:nvSpPr>
        <p:spPr>
          <a:xfrm>
            <a:off x="553212" y="2729483"/>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679191"/>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shared 40 MHz clock + 2.4 GHz reference through a splitter and an RF switch at every sensor</a:t>
            </a:r>
            <a:endParaRPr sz="1300"/>
          </a:p>
        </p:txBody>
      </p:sp>
      <p:sp>
        <p:nvSpPr>
          <p:cNvPr id="11" name="status Confirmed"/>
          <p:cNvSpPr/>
          <p:nvPr/>
        </p:nvSpPr>
        <p:spPr>
          <a:xfrm>
            <a:off x="553212" y="3534155"/>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3483863"/>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PLL phase changes after every reset and channel change, so calibration is repeated per configuration</a:t>
            </a:r>
            <a:endParaRPr sz="1300"/>
          </a:p>
        </p:txBody>
      </p:sp>
      <p:sp>
        <p:nvSpPr>
          <p:cNvPr id="13" name="status Confirmed"/>
          <p:cNvSpPr/>
          <p:nvPr/>
        </p:nvSpPr>
        <p:spPr>
          <a:xfrm>
            <a:off x="553212" y="4338827"/>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4288536"/>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raw IQ (closed firmware): wired trigger, packet timestamps ≤ 37.5 ns apart, CW tone from the controller’s PLL</a:t>
            </a:r>
            <a:endParaRPr sz="1300"/>
          </a:p>
        </p:txBody>
      </p:sp>
      <p:sp>
        <p:nvSpPr>
          <p:cNvPr id="15" name="status Confirmed"/>
          <p:cNvSpPr/>
          <p:nvPr/>
        </p:nvSpPr>
        <p:spPr>
          <a:xfrm>
            <a:off x="553212" y="5143499"/>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5093207"/>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up to 4 boards (32 elements) combined; clock + reference share one SMA cable in a star</a:t>
            </a:r>
            <a:endParaRPr sz="1300"/>
          </a:p>
        </p:txBody>
      </p:sp>
      <p:sp>
        <p:nvSpPr>
          <p:cNvPr id="17" name="TextBox 16"/>
          <p:cNvSpPr txBox="1"/>
          <p:nvPr/>
        </p:nvSpPr>
        <p:spPr>
          <a:xfrm>
            <a:off x="4315968" y="1325880"/>
            <a:ext cx="3520440" cy="320040"/>
          </a:xfrm>
          <a:prstGeom prst="rect">
            <a:avLst/>
          </a:prstGeom>
          <a:noFill/>
        </p:spPr>
        <p:txBody>
          <a:bodyPr wrap="square" lIns="0" tIns="0" rIns="0" bIns="0" anchor="t">
            <a:spAutoFit/>
          </a:bodyPr>
          <a:lstStyle/>
          <a:p>
            <a:pPr algn="l">
              <a:buNone/>
            </a:pPr>
            <a:r>
              <a:rPr sz="1600" b="0" i="0">
                <a:solidFill>
                  <a:srgbClr val="1D2733"/>
                </a:solidFill>
                <a:latin typeface="Calibri"/>
              </a:rPr>
              <a:t>ESP-SDR</a:t>
            </a:r>
            <a:endParaRPr sz="1600"/>
          </a:p>
        </p:txBody>
      </p:sp>
      <p:cxnSp>
        <p:nvCxnSpPr>
          <p:cNvPr id="18" name="Connector 17"/>
          <p:cNvCxnSpPr/>
          <p:nvPr/>
        </p:nvCxnSpPr>
        <p:spPr>
          <a:xfrm>
            <a:off x="4315968" y="1719072"/>
            <a:ext cx="3520440" cy="0"/>
          </a:xfrm>
          <a:prstGeom prst="line">
            <a:avLst/>
          </a:prstGeom>
          <a:ln w="12700">
            <a:solidFill>
              <a:srgbClr val="7F8B97"/>
            </a:solidFill>
          </a:ln>
        </p:spPr>
        <p:style>
          <a:lnRef idx="2">
            <a:schemeClr val="accent1"/>
          </a:lnRef>
          <a:fillRef idx="0">
            <a:schemeClr val="accent1"/>
          </a:fillRef>
          <a:effectRef idx="1">
            <a:schemeClr val="accent1"/>
          </a:effectRef>
          <a:fontRef idx="minor">
            <a:schemeClr val="tx1"/>
          </a:fontRef>
        </p:style>
      </p:cxnSp>
      <p:sp>
        <p:nvSpPr>
          <p:cNvPr id="19" name="status Confirmed"/>
          <p:cNvSpPr/>
          <p:nvPr/>
        </p:nvSpPr>
        <p:spPr>
          <a:xfrm>
            <a:off x="4320540" y="1924811"/>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0" y="1874519"/>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raw IQ from an undocumented modem sample-dump engine; 10 chips; open source since Sept 2026</a:t>
            </a:r>
            <a:endParaRPr sz="1300"/>
          </a:p>
        </p:txBody>
      </p:sp>
      <p:sp>
        <p:nvSpPr>
          <p:cNvPr id="21" name="status Confirmed"/>
          <p:cNvSpPr/>
          <p:nvPr/>
        </p:nvSpPr>
        <p:spPr>
          <a:xfrm>
            <a:off x="4320540" y="2729483"/>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0" y="2679191"/>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ESP32-C5 receives at 5 GHz: a 5.5 GHz test tone, and a second C5 on channels 36/48 (5.17–5.25 GHz)</a:t>
            </a:r>
            <a:endParaRPr sz="1300"/>
          </a:p>
        </p:txBody>
      </p:sp>
      <p:sp>
        <p:nvSpPr>
          <p:cNvPr id="23" name="status Confirmed"/>
          <p:cNvSpPr/>
          <p:nvPr/>
        </p:nvSpPr>
        <p:spPr>
          <a:xfrm>
            <a:off x="4320540" y="3534155"/>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0" y="3483863"/>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C5: snapshots of ≤ 16,380 samples at up to 80 MS/s, 10-bit I/Q, sent over USB or UART</a:t>
            </a:r>
            <a:endParaRPr sz="1300"/>
          </a:p>
        </p:txBody>
      </p:sp>
      <p:sp>
        <p:nvSpPr>
          <p:cNvPr id="25" name="status Confirmed"/>
          <p:cNvSpPr/>
          <p:nvPr/>
        </p:nvSpPr>
        <p:spPr>
          <a:xfrm>
            <a:off x="4320540" y="4338827"/>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0" y="4288536"/>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software trigger only; no timestamps, no multi-device synchronization</a:t>
            </a:r>
            <a:endParaRPr sz="1300"/>
          </a:p>
        </p:txBody>
      </p:sp>
      <p:sp>
        <p:nvSpPr>
          <p:cNvPr id="27" name="status Confirmed"/>
          <p:cNvSpPr/>
          <p:nvPr/>
        </p:nvSpPr>
        <p:spPr>
          <a:xfrm>
            <a:off x="4320540" y="5143499"/>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0" y="5093207"/>
            <a:ext cx="3246120" cy="731520"/>
          </a:xfrm>
          <a:prstGeom prst="rect">
            <a:avLst/>
          </a:prstGeom>
          <a:noFill/>
        </p:spPr>
        <p:txBody>
          <a:bodyPr wrap="square" lIns="0" tIns="0" rIns="0" bIns="0" anchor="t">
            <a:spAutoFit/>
          </a:bodyPr>
          <a:lstStyle/>
          <a:p>
            <a:pPr algn="l">
              <a:buNone/>
            </a:pPr>
            <a:r>
              <a:rPr sz="1300" b="0" i="0">
                <a:solidFill>
                  <a:srgbClr val="5B6776"/>
                </a:solidFill>
                <a:latin typeface="Calibri"/>
              </a:rPr>
              <a:t>receive-only; ESP-SDR's CPU spectrum mode on the C5 returns power, not complex bins</a:t>
            </a:r>
            <a:endParaRPr sz="1300"/>
          </a:p>
        </p:txBody>
      </p:sp>
      <p:sp>
        <p:nvSpPr>
          <p:cNvPr id="29" name="TextBox 28"/>
          <p:cNvSpPr txBox="1"/>
          <p:nvPr/>
        </p:nvSpPr>
        <p:spPr>
          <a:xfrm>
            <a:off x="8083296" y="1325880"/>
            <a:ext cx="3520440" cy="320040"/>
          </a:xfrm>
          <a:prstGeom prst="rect">
            <a:avLst/>
          </a:prstGeom>
          <a:noFill/>
        </p:spPr>
        <p:txBody>
          <a:bodyPr wrap="square" lIns="0" tIns="0" rIns="0" bIns="0" anchor="t">
            <a:spAutoFit/>
          </a:bodyPr>
          <a:lstStyle/>
          <a:p>
            <a:pPr algn="l">
              <a:buNone/>
            </a:pPr>
            <a:r>
              <a:rPr sz="1600" b="0" i="0">
                <a:solidFill>
                  <a:srgbClr val="1D2733"/>
                </a:solidFill>
                <a:latin typeface="Calibri"/>
              </a:rPr>
              <a:t>What this project adds</a:t>
            </a:r>
            <a:endParaRPr sz="1600"/>
          </a:p>
        </p:txBody>
      </p:sp>
      <p:cxnSp>
        <p:nvCxnSpPr>
          <p:cNvPr id="30" name="Connector 29"/>
          <p:cNvCxnSpPr/>
          <p:nvPr/>
        </p:nvCxnSpPr>
        <p:spPr>
          <a:xfrm>
            <a:off x="8083296" y="1719072"/>
            <a:ext cx="3520440" cy="0"/>
          </a:xfrm>
          <a:prstGeom prst="line">
            <a:avLst/>
          </a:prstGeom>
          <a:ln w="12700">
            <a:solidFill>
              <a:srgbClr val="1F5C99"/>
            </a:solidFill>
          </a:ln>
        </p:spPr>
        <p:style>
          <a:lnRef idx="2">
            <a:schemeClr val="accent1"/>
          </a:lnRef>
          <a:fillRef idx="0">
            <a:schemeClr val="accent1"/>
          </a:fillRef>
          <a:effectRef idx="1">
            <a:schemeClr val="accent1"/>
          </a:effectRef>
          <a:fontRef idx="minor">
            <a:schemeClr val="tx1"/>
          </a:fontRef>
        </p:style>
      </p:cxnSp>
      <p:sp>
        <p:nvSpPr>
          <p:cNvPr id="31" name="status Engineering inference"/>
          <p:cNvSpPr/>
          <p:nvPr/>
        </p:nvSpPr>
        <p:spPr>
          <a:xfrm>
            <a:off x="8087868" y="1924811"/>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39327" y="1874519"/>
            <a:ext cx="3246120" cy="731520"/>
          </a:xfrm>
          <a:prstGeom prst="rect">
            <a:avLst/>
          </a:prstGeom>
          <a:noFill/>
        </p:spPr>
        <p:txBody>
          <a:bodyPr wrap="square" lIns="0" tIns="0" rIns="0" bIns="0" anchor="t">
            <a:spAutoFit/>
          </a:bodyPr>
          <a:lstStyle/>
          <a:p>
            <a:pPr algn="l">
              <a:buNone/>
            </a:pPr>
            <a:r>
              <a:rPr sz="1300" b="0" i="0">
                <a:solidFill>
                  <a:srgbClr val="1D2733"/>
                </a:solidFill>
                <a:latin typeface="Calibri"/>
              </a:rPr>
              <a:t>the ESPARGOS synchronization principle at 5.2 GHz with a 48 MHz reference</a:t>
            </a:r>
            <a:endParaRPr sz="1300"/>
          </a:p>
        </p:txBody>
      </p:sp>
      <p:sp>
        <p:nvSpPr>
          <p:cNvPr id="33" name="status Open — needs bench test"/>
          <p:cNvSpPr/>
          <p:nvPr/>
        </p:nvSpPr>
        <p:spPr>
          <a:xfrm>
            <a:off x="8087868" y="2729483"/>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39327" y="2679191"/>
            <a:ext cx="3246120" cy="731520"/>
          </a:xfrm>
          <a:prstGeom prst="rect">
            <a:avLst/>
          </a:prstGeom>
          <a:noFill/>
        </p:spPr>
        <p:txBody>
          <a:bodyPr wrap="square" lIns="0" tIns="0" rIns="0" bIns="0" anchor="t">
            <a:spAutoFit/>
          </a:bodyPr>
          <a:lstStyle/>
          <a:p>
            <a:pPr algn="l">
              <a:buNone/>
            </a:pPr>
            <a:r>
              <a:rPr sz="1300" b="0" i="0">
                <a:solidFill>
                  <a:srgbClr val="1D2733"/>
                </a:solidFill>
                <a:latin typeface="Calibri"/>
              </a:rPr>
              <a:t>one external 48 MHz clock driving 16 chip-down ESP32-C5s; C5 LO-phase behaviour</a:t>
            </a:r>
            <a:endParaRPr sz="1300"/>
          </a:p>
        </p:txBody>
      </p:sp>
      <p:sp>
        <p:nvSpPr>
          <p:cNvPr id="35" name="status Open — needs bench test"/>
          <p:cNvSpPr/>
          <p:nvPr/>
        </p:nvSpPr>
        <p:spPr>
          <a:xfrm>
            <a:off x="8087868" y="3534155"/>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39327" y="3483863"/>
            <a:ext cx="3246120" cy="731520"/>
          </a:xfrm>
          <a:prstGeom prst="rect">
            <a:avLst/>
          </a:prstGeom>
          <a:noFill/>
        </p:spPr>
        <p:txBody>
          <a:bodyPr wrap="square" lIns="0" tIns="0" rIns="0" bIns="0" anchor="t">
            <a:spAutoFit/>
          </a:bodyPr>
          <a:lstStyle/>
          <a:p>
            <a:pPr algn="l">
              <a:buNone/>
            </a:pPr>
            <a:r>
              <a:rPr sz="1300" b="0" i="0">
                <a:solidFill>
                  <a:srgbClr val="1D2733"/>
                </a:solidFill>
                <a:latin typeface="Calibri"/>
              </a:rPr>
              <a:t>hardware trigger and capture alignment for C5 snapshots</a:t>
            </a:r>
            <a:endParaRPr sz="1300"/>
          </a:p>
        </p:txBody>
      </p:sp>
      <p:sp>
        <p:nvSpPr>
          <p:cNvPr id="37" name="status Open — needs bench test"/>
          <p:cNvSpPr/>
          <p:nvPr/>
        </p:nvSpPr>
        <p:spPr>
          <a:xfrm>
            <a:off x="8087868" y="4338827"/>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39327" y="4288536"/>
            <a:ext cx="3246120" cy="731520"/>
          </a:xfrm>
          <a:prstGeom prst="rect">
            <a:avLst/>
          </a:prstGeom>
          <a:noFill/>
        </p:spPr>
        <p:txBody>
          <a:bodyPr wrap="square" lIns="0" tIns="0" rIns="0" bIns="0" anchor="t">
            <a:spAutoFit/>
          </a:bodyPr>
          <a:lstStyle/>
          <a:p>
            <a:pPr algn="l">
              <a:buNone/>
            </a:pPr>
            <a:r>
              <a:rPr sz="1300" b="0" i="0">
                <a:solidFill>
                  <a:srgbClr val="1D2733"/>
                </a:solidFill>
                <a:latin typeface="Calibri"/>
              </a:rPr>
              <a:t>IQ export over 2-bit PARLIO into one ESP32-S31 per tile, then 1 GbE</a:t>
            </a:r>
            <a:endParaRPr sz="1300"/>
          </a:p>
        </p:txBody>
      </p:sp>
      <p:sp>
        <p:nvSpPr>
          <p:cNvPr id="39" name="status Engineering inference"/>
          <p:cNvSpPr/>
          <p:nvPr/>
        </p:nvSpPr>
        <p:spPr>
          <a:xfrm>
            <a:off x="8087868" y="5143499"/>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39327" y="5093207"/>
            <a:ext cx="3246120" cy="731520"/>
          </a:xfrm>
          <a:prstGeom prst="rect">
            <a:avLst/>
          </a:prstGeom>
          <a:noFill/>
        </p:spPr>
        <p:txBody>
          <a:bodyPr wrap="square" lIns="0" tIns="0" rIns="0" bIns="0" anchor="t">
            <a:spAutoFit/>
          </a:bodyPr>
          <a:lstStyle/>
          <a:p>
            <a:pPr algn="l">
              <a:buNone/>
            </a:pPr>
            <a:r>
              <a:rPr sz="1300" b="0" i="0">
                <a:solidFill>
                  <a:srgbClr val="1D2733"/>
                </a:solidFill>
                <a:latin typeface="Calibri"/>
              </a:rPr>
              <a:t>in-band 5.2 GHz calibration network; two 8-element tiles with a master timing board</a:t>
            </a:r>
            <a:endParaRPr sz="1300"/>
          </a:p>
        </p:txBody>
      </p:sp>
      <p:sp>
        <p:nvSpPr>
          <p:cNvPr id="41" name="status Confirmed"/>
          <p:cNvSpPr/>
          <p:nvPr/>
        </p:nvSpPr>
        <p:spPr>
          <a:xfrm>
            <a:off x="562356" y="6030468"/>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9808" y="5989320"/>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43" name="status Engineering inference"/>
          <p:cNvSpPr/>
          <p:nvPr/>
        </p:nvSpPr>
        <p:spPr>
          <a:xfrm>
            <a:off x="1548079" y="6030468"/>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735531" y="5989320"/>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45" name="status Open — needs bench test"/>
          <p:cNvSpPr/>
          <p:nvPr/>
        </p:nvSpPr>
        <p:spPr>
          <a:xfrm>
            <a:off x="3214116" y="6030468"/>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01568" y="5989320"/>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
        <p:nvSpPr>
          <p:cNvPr id="47" name="status Speculative"/>
          <p:cNvSpPr/>
          <p:nvPr/>
        </p:nvSpPr>
        <p:spPr>
          <a:xfrm>
            <a:off x="4993538" y="6030468"/>
            <a:ext cx="118872" cy="118872"/>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180990" y="5989320"/>
            <a:ext cx="669340" cy="201168"/>
          </a:xfrm>
          <a:prstGeom prst="rect">
            <a:avLst/>
          </a:prstGeom>
          <a:noFill/>
        </p:spPr>
        <p:txBody>
          <a:bodyPr wrap="square" lIns="0" tIns="0" rIns="0" bIns="0" anchor="ctr">
            <a:spAutoFit/>
          </a:bodyPr>
          <a:lstStyle/>
          <a:p>
            <a:pPr algn="l">
              <a:buNone/>
            </a:pPr>
            <a:r>
              <a:rPr sz="1000" b="0" i="0">
                <a:solidFill>
                  <a:srgbClr val="5B6776"/>
                </a:solidFill>
                <a:latin typeface="Calibri"/>
              </a:rPr>
              <a:t>Speculative</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Why ESP32-C5?</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Sources: Espressif datasheets (C5 v1.5, S31 v0.5 pre-release, others current); ESP-SDR README chip-support table. Checked 12 Oct 2026.</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4</a:t>
            </a:r>
            <a:endParaRPr sz="1000"/>
          </a:p>
        </p:txBody>
      </p:sp>
      <p:graphicFrame>
        <p:nvGraphicFramePr>
          <p:cNvPr id="5" name="Table 4"/>
          <p:cNvGraphicFramePr>
            <a:graphicFrameLocks noGrp="1"/>
          </p:cNvGraphicFramePr>
          <p:nvPr/>
        </p:nvGraphicFramePr>
        <p:xfrm>
          <a:off x="548640" y="1280160"/>
          <a:ext cx="11064240" cy="292608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365760">
                <a:tc>
                  <a:txBody>
                    <a:bodyPr/>
                    <a:lstStyle/>
                    <a:p>
                      <a:pPr algn="l">
                        <a:buNone/>
                      </a:pPr>
                      <a:r>
                        <a:rPr sz="1200" b="0" i="0">
                          <a:solidFill>
                            <a:srgbClr val="5B6776"/>
                          </a:solidFill>
                          <a:latin typeface="Calibri"/>
                        </a:rPr>
                        <a:t>Chip</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Wi-Fi</a:t>
                      </a:r>
                      <a:endParaRPr sz="1200"/>
                    </a:p>
                  </a:txBody>
                  <a:tcPr marL="64008" marR="64008" marT="32004" marB="32004" anchor="ctr">
                    <a:lnL w="0">
                      <a:noFill/>
                    </a:lnL>
                    <a:lnR w="0">
                      <a:noFill/>
                    </a:lnR>
                    <a:lnT w="0">
                      <a:noFill/>
                    </a:lnT>
                    <a:lnB w="12700">
                      <a:solidFill>
                        <a:srgbClr val="7F8B97"/>
                      </a:solidFill>
                    </a:lnB>
                    <a:noFill/>
                  </a:tcPr>
                </a:tc>
                <a:tc>
                  <a:txBody>
                    <a:bodyPr/>
                    <a:lstStyle/>
                    <a:p>
                      <a:pPr algn="ctr">
                        <a:buNone/>
                      </a:pPr>
                      <a:r>
                        <a:rPr sz="1200" b="0" i="0">
                          <a:solidFill>
                            <a:srgbClr val="5B6776"/>
                          </a:solidFill>
                          <a:latin typeface="Calibri"/>
                        </a:rPr>
                        <a:t>5 GHz</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Main crystal</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Relevance here</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365760">
                <a:tc>
                  <a:txBody>
                    <a:bodyPr/>
                    <a:lstStyle/>
                    <a:p>
                      <a:pPr algn="l">
                        <a:buNone/>
                      </a:pPr>
                      <a:r>
                        <a:rPr sz="1200" b="0" i="0">
                          <a:solidFill>
                            <a:srgbClr val="0E7C76"/>
                          </a:solidFill>
                          <a:latin typeface="Calibri"/>
                        </a:rPr>
                        <a:t>ESP32-C5</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Wi-Fi 6, 2412–2484 + 5180–5885 MHz</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0E7C76"/>
                          </a:solidFill>
                          <a:latin typeface="Calibri"/>
                        </a:rPr>
                        <a:t>yes</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48 MHz</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only 5 GHz part; separate ANT_5G pin; ESP-SDR snapshot IQ</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365760">
                <a:tc>
                  <a:txBody>
                    <a:bodyPr/>
                    <a:lstStyle/>
                    <a:p>
                      <a:pPr algn="l">
                        <a:buNone/>
                      </a:pPr>
                      <a:r>
                        <a:rPr sz="1200" b="0" i="0">
                          <a:solidFill>
                            <a:srgbClr val="1D2733"/>
                          </a:solidFill>
                          <a:latin typeface="Calibri"/>
                        </a:rPr>
                        <a:t>ESP32</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Wi-Fi 4, 2.4 GHz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1D2733"/>
                          </a:solidFill>
                          <a:latin typeface="Calibri"/>
                        </a:rPr>
                        <a:t>no</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40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2.4 GHz only</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365760">
                <a:tc>
                  <a:txBody>
                    <a:bodyPr/>
                    <a:lstStyle/>
                    <a:p>
                      <a:pPr algn="l">
                        <a:buNone/>
                      </a:pPr>
                      <a:r>
                        <a:rPr sz="1200" b="0" i="0">
                          <a:solidFill>
                            <a:srgbClr val="1D2733"/>
                          </a:solidFill>
                          <a:latin typeface="Calibri"/>
                        </a:rPr>
                        <a:t>ESP32-S2 / S3</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Wi-Fi 4, 2.4 GHz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1D2733"/>
                          </a:solidFill>
                          <a:latin typeface="Calibri"/>
                        </a:rPr>
                        <a:t>no</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40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2.4 GHz only</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365760">
                <a:tc>
                  <a:txBody>
                    <a:bodyPr/>
                    <a:lstStyle/>
                    <a:p>
                      <a:pPr algn="l">
                        <a:buNone/>
                      </a:pPr>
                      <a:r>
                        <a:rPr sz="1200" b="0" i="0">
                          <a:solidFill>
                            <a:srgbClr val="1D2733"/>
                          </a:solidFill>
                          <a:latin typeface="Calibri"/>
                        </a:rPr>
                        <a:t>ESP32-C2 / C3</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Wi-Fi 4, 2.4 GHz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1D2733"/>
                          </a:solidFill>
                          <a:latin typeface="Calibri"/>
                        </a:rPr>
                        <a:t>no</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26 or 40 / 40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2.4 GHz only</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365760">
                <a:tc>
                  <a:txBody>
                    <a:bodyPr/>
                    <a:lstStyle/>
                    <a:p>
                      <a:pPr algn="l">
                        <a:buNone/>
                      </a:pPr>
                      <a:r>
                        <a:rPr sz="1200" b="0" i="0">
                          <a:solidFill>
                            <a:srgbClr val="1D2733"/>
                          </a:solidFill>
                          <a:latin typeface="Calibri"/>
                        </a:rPr>
                        <a:t>ESP32-C6 / C61</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Wi-Fi 6, 2.4 GHz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1D2733"/>
                          </a:solidFill>
                          <a:latin typeface="Calibri"/>
                        </a:rPr>
                        <a:t>no</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40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C61 is the sensor in ESPARGOS One</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365760">
                <a:tc>
                  <a:txBody>
                    <a:bodyPr/>
                    <a:lstStyle/>
                    <a:p>
                      <a:pPr algn="l">
                        <a:buNone/>
                      </a:pPr>
                      <a:r>
                        <a:rPr sz="1200" b="0" i="0">
                          <a:solidFill>
                            <a:srgbClr val="1D2733"/>
                          </a:solidFill>
                          <a:latin typeface="Calibri"/>
                        </a:rPr>
                        <a:t>ESP32-H2</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none (BLE, 802.15.4)</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1D2733"/>
                          </a:solidFill>
                          <a:latin typeface="Calibri"/>
                        </a:rPr>
                        <a:t>no</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32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no Wi-Fi; ESP-SDR still receives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365760">
                <a:tc>
                  <a:txBody>
                    <a:bodyPr/>
                    <a:lstStyle/>
                    <a:p>
                      <a:pPr algn="l">
                        <a:buNone/>
                      </a:pPr>
                      <a:r>
                        <a:rPr sz="1200" b="0" i="0">
                          <a:solidFill>
                            <a:srgbClr val="1D2733"/>
                          </a:solidFill>
                          <a:latin typeface="Calibri"/>
                        </a:rPr>
                        <a:t>ESP32-S31</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Wi-Fi 6, 2.4 GHz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200" b="0" i="0">
                          <a:solidFill>
                            <a:srgbClr val="1D2733"/>
                          </a:solidFill>
                          <a:latin typeface="Calibri"/>
                        </a:rPr>
                        <a:t>no</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40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continuous IQ streaming in ESP-SDR (experimental), 2.4 GHz only</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bl>
          </a:graphicData>
        </a:graphic>
      </p:graphicFrame>
      <p:sp>
        <p:nvSpPr>
          <p:cNvPr id="6" name="TextBox 5"/>
          <p:cNvSpPr txBox="1"/>
          <p:nvPr/>
        </p:nvSpPr>
        <p:spPr>
          <a:xfrm>
            <a:off x="548640" y="4572000"/>
            <a:ext cx="11064240" cy="914400"/>
          </a:xfrm>
          <a:prstGeom prst="rect">
            <a:avLst/>
          </a:prstGeom>
          <a:noFill/>
        </p:spPr>
        <p:txBody>
          <a:bodyPr wrap="square" lIns="0" tIns="0" rIns="0" bIns="0" anchor="t">
            <a:spAutoFit/>
          </a:bodyPr>
          <a:lstStyle/>
          <a:p>
            <a:pPr algn="l">
              <a:buNone/>
            </a:pPr>
            <a:r>
              <a:rPr sz="1400" b="0" i="0">
                <a:solidFill>
                  <a:srgbClr val="1D2733"/>
                </a:solidFill>
                <a:latin typeface="Calibri"/>
              </a:rPr>
              <a:t>Only the ESP32-C5 reaches 5.2 GHz natively. </a:t>
            </a:r>
            <a:r>
              <a:rPr sz="1400" b="0" i="0">
                <a:solidFill>
                  <a:srgbClr val="5B6776"/>
                </a:solidFill>
                <a:latin typeface="Calibri"/>
              </a:rPr>
              <a:t>ESP-SDR receives on all ten parts, but every other chip would need an external mixer and LO per element to reach 5.2 GHz — which defeats the point of a low-cost array. The price: the C5 has no continuous IQ path today.</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The antenna board we already have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Observations from photos; pitch and patch size to be confirmed against the layout files. Patch estimate: transmission-line model, εr = 4.5, h = 1.52 mm.</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5</a:t>
            </a:r>
            <a:endParaRPr sz="1000"/>
          </a:p>
        </p:txBody>
      </p:sp>
      <p:pic>
        <p:nvPicPr>
          <p:cNvPr id="5" name="Patch side of antenna board" descr="patch_side.jpg"/>
          <p:cNvPicPr>
            <a:picLocks noChangeAspect="1"/>
          </p:cNvPicPr>
          <p:nvPr/>
        </p:nvPicPr>
        <p:blipFill>
          <a:blip r:embed="rId3"/>
          <a:stretch>
            <a:fillRect/>
          </a:stretch>
        </p:blipFill>
        <p:spPr>
          <a:xfrm>
            <a:off x="548640" y="1280160"/>
            <a:ext cx="3992578" cy="4480560"/>
          </a:xfrm>
          <a:prstGeom prst="rect">
            <a:avLst/>
          </a:prstGeom>
        </p:spPr>
      </p:pic>
      <p:pic>
        <p:nvPicPr>
          <p:cNvPr id="6" name="Connector side of antenna board" descr="sma_side.jpg"/>
          <p:cNvPicPr>
            <a:picLocks noChangeAspect="1"/>
          </p:cNvPicPr>
          <p:nvPr/>
        </p:nvPicPr>
        <p:blipFill>
          <a:blip r:embed="rId4"/>
          <a:stretch>
            <a:fillRect/>
          </a:stretch>
        </p:blipFill>
        <p:spPr>
          <a:xfrm>
            <a:off x="4572000" y="1280160"/>
            <a:ext cx="4289898" cy="4480560"/>
          </a:xfrm>
          <a:prstGeom prst="rect">
            <a:avLst/>
          </a:prstGeom>
        </p:spPr>
      </p:pic>
      <p:sp>
        <p:nvSpPr>
          <p:cNvPr id="7" name="TextBox 6"/>
          <p:cNvSpPr txBox="1"/>
          <p:nvPr/>
        </p:nvSpPr>
        <p:spPr>
          <a:xfrm>
            <a:off x="548640" y="5806440"/>
            <a:ext cx="3840480" cy="274320"/>
          </a:xfrm>
          <a:prstGeom prst="rect">
            <a:avLst/>
          </a:prstGeom>
          <a:noFill/>
        </p:spPr>
        <p:txBody>
          <a:bodyPr wrap="square" lIns="0" tIns="0" rIns="0" bIns="0" anchor="t">
            <a:spAutoFit/>
          </a:bodyPr>
          <a:lstStyle/>
          <a:p>
            <a:pPr algn="l">
              <a:buNone/>
            </a:pPr>
            <a:r>
              <a:rPr sz="1000" b="0" i="0">
                <a:solidFill>
                  <a:srgbClr val="5B6776"/>
                </a:solidFill>
                <a:latin typeface="Calibri"/>
              </a:rPr>
              <a:t>radiating side: 16 probe-fed patches + 4 test patches</a:t>
            </a:r>
            <a:endParaRPr sz="1000"/>
          </a:p>
        </p:txBody>
      </p:sp>
      <p:sp>
        <p:nvSpPr>
          <p:cNvPr id="8" name="TextBox 7"/>
          <p:cNvSpPr txBox="1"/>
          <p:nvPr/>
        </p:nvSpPr>
        <p:spPr>
          <a:xfrm>
            <a:off x="4572000" y="5806440"/>
            <a:ext cx="3840480" cy="274320"/>
          </a:xfrm>
          <a:prstGeom prst="rect">
            <a:avLst/>
          </a:prstGeom>
          <a:noFill/>
        </p:spPr>
        <p:txBody>
          <a:bodyPr wrap="square" lIns="0" tIns="0" rIns="0" bIns="0" anchor="t">
            <a:spAutoFit/>
          </a:bodyPr>
          <a:lstStyle/>
          <a:p>
            <a:pPr algn="l">
              <a:buNone/>
            </a:pPr>
            <a:r>
              <a:rPr sz="1000" b="0" i="0">
                <a:solidFill>
                  <a:srgbClr val="5B6776"/>
                </a:solidFill>
                <a:latin typeface="Calibri"/>
              </a:rPr>
              <a:t>back: one SMA per element</a:t>
            </a:r>
            <a:endParaRPr sz="1000"/>
          </a:p>
        </p:txBody>
      </p:sp>
      <p:sp>
        <p:nvSpPr>
          <p:cNvPr id="9" name="TextBox 8"/>
          <p:cNvSpPr txBox="1"/>
          <p:nvPr/>
        </p:nvSpPr>
        <p:spPr>
          <a:xfrm>
            <a:off x="9098280" y="1280160"/>
            <a:ext cx="2560320" cy="274320"/>
          </a:xfrm>
          <a:prstGeom prst="rect">
            <a:avLst/>
          </a:prstGeom>
          <a:noFill/>
        </p:spPr>
        <p:txBody>
          <a:bodyPr wrap="square" lIns="0" tIns="0" rIns="0" bIns="0" anchor="t">
            <a:spAutoFit/>
          </a:bodyPr>
          <a:lstStyle/>
          <a:p>
            <a:pPr algn="l">
              <a:buNone/>
            </a:pPr>
            <a:r>
              <a:rPr sz="1400" b="0" i="0">
                <a:solidFill>
                  <a:srgbClr val="1D2733"/>
                </a:solidFill>
                <a:latin typeface="Calibri"/>
              </a:rPr>
              <a:t>What we can read off it</a:t>
            </a:r>
            <a:endParaRPr sz="1400"/>
          </a:p>
        </p:txBody>
      </p:sp>
      <p:sp>
        <p:nvSpPr>
          <p:cNvPr id="10" name="TextBox 9"/>
          <p:cNvSpPr txBox="1"/>
          <p:nvPr/>
        </p:nvSpPr>
        <p:spPr>
          <a:xfrm>
            <a:off x="9098280" y="1645920"/>
            <a:ext cx="2560320" cy="219456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4 × 4 rectangular patches, linear polarization</a:t>
            </a:r>
            <a:endParaRPr sz="1100"/>
          </a:p>
          <a:p>
            <a:pPr marL="201168" indent="-201168" algn="l">
              <a:spcAft>
                <a:spcPts val="400"/>
              </a:spcAft>
              <a:buFont typeface="Arial"/>
              <a:buChar char="•"/>
            </a:pPr>
            <a:r>
              <a:rPr sz="1100" b="0" i="0">
                <a:solidFill>
                  <a:srgbClr val="5B6776"/>
                </a:solidFill>
                <a:latin typeface="Calibri"/>
              </a:rPr>
              <a:t>silkscreen: f₀ = 5.2 GHz, FR4 εr = 4.5, h = 60 mil</a:t>
            </a:r>
            <a:endParaRPr sz="1100"/>
          </a:p>
          <a:p>
            <a:pPr marL="201168" indent="-201168" algn="l">
              <a:spcAft>
                <a:spcPts val="400"/>
              </a:spcAft>
              <a:buFont typeface="Arial"/>
              <a:buChar char="•"/>
            </a:pPr>
            <a:r>
              <a:rPr sz="1100" b="0" i="0">
                <a:solidFill>
                  <a:srgbClr val="5B6776"/>
                </a:solidFill>
                <a:latin typeface="Calibri"/>
              </a:rPr>
              <a:t>pitch ≈ 30 mm from the ruler, consistent with λ/2 = 28.8 mm</a:t>
            </a:r>
            <a:endParaRPr sz="1100"/>
          </a:p>
          <a:p>
            <a:pPr marL="201168" indent="-201168" algn="l">
              <a:spcAft>
                <a:spcPts val="400"/>
              </a:spcAft>
              <a:buFont typeface="Arial"/>
              <a:buChar char="•"/>
            </a:pPr>
            <a:r>
              <a:rPr sz="1100" b="0" i="0">
                <a:solidFill>
                  <a:srgbClr val="5B6776"/>
                </a:solidFill>
                <a:latin typeface="Calibri"/>
              </a:rPr>
              <a:t>expected patch ≈ 13 × 17 mm — matches the proportions</a:t>
            </a:r>
            <a:endParaRPr sz="1100"/>
          </a:p>
        </p:txBody>
      </p:sp>
      <p:sp>
        <p:nvSpPr>
          <p:cNvPr id="11" name="TextBox 10"/>
          <p:cNvSpPr txBox="1"/>
          <p:nvPr/>
        </p:nvSpPr>
        <p:spPr>
          <a:xfrm>
            <a:off x="9098280" y="3703320"/>
            <a:ext cx="2560320" cy="274320"/>
          </a:xfrm>
          <a:prstGeom prst="rect">
            <a:avLst/>
          </a:prstGeom>
          <a:noFill/>
        </p:spPr>
        <p:txBody>
          <a:bodyPr wrap="square" lIns="0" tIns="0" rIns="0" bIns="0" anchor="t">
            <a:spAutoFit/>
          </a:bodyPr>
          <a:lstStyle/>
          <a:p>
            <a:pPr algn="l">
              <a:buNone/>
            </a:pPr>
            <a:r>
              <a:rPr sz="1400" b="0" i="0">
                <a:solidFill>
                  <a:srgbClr val="1D2733"/>
                </a:solidFill>
                <a:latin typeface="Calibri"/>
              </a:rPr>
              <a:t>What it means</a:t>
            </a:r>
            <a:endParaRPr sz="1400"/>
          </a:p>
        </p:txBody>
      </p:sp>
      <p:sp>
        <p:nvSpPr>
          <p:cNvPr id="12" name="TextBox 11"/>
          <p:cNvSpPr txBox="1"/>
          <p:nvPr/>
        </p:nvSpPr>
        <p:spPr>
          <a:xfrm>
            <a:off x="9098280" y="4069080"/>
            <a:ext cx="2560320" cy="219456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Rev 1 can use this board as the aperture and cable each element to its tile — no seam crosses the radiating surface.</a:t>
            </a:r>
            <a:endParaRPr sz="1100"/>
          </a:p>
          <a:p>
            <a:pPr marL="201168" indent="-201168" algn="l">
              <a:spcAft>
                <a:spcPts val="400"/>
              </a:spcAft>
              <a:buFont typeface="Arial"/>
              <a:buChar char="•"/>
            </a:pPr>
            <a:r>
              <a:rPr sz="1100" b="0" i="0">
                <a:solidFill>
                  <a:srgbClr val="5B6776"/>
                </a:solidFill>
                <a:latin typeface="Calibri"/>
              </a:rPr>
              <a:t>Or the tiles carry their own patches (next section) — then substrate thickness and the seam need care.</a:t>
            </a:r>
            <a:endParaRPr sz="1100"/>
          </a:p>
          <a:p>
            <a:pPr marL="201168" indent="-201168" algn="l">
              <a:spcAft>
                <a:spcPts val="400"/>
              </a:spcAft>
              <a:buFont typeface="Arial"/>
              <a:buChar char="•"/>
            </a:pPr>
            <a:r>
              <a:rPr sz="1100" b="0" i="0">
                <a:solidFill>
                  <a:srgbClr val="5B6776"/>
                </a:solidFill>
                <a:latin typeface="Calibri"/>
              </a:rPr>
              <a:t>Either way, measure S11 and neighbour coupling per element first.</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The hard part is synchronization</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Error model follows the ESPARGOS approach (shared clock + in-band phase reference + digital correction); C5-specific behaviour must be measured.</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6</a:t>
            </a:r>
            <a:endParaRPr sz="1000"/>
          </a:p>
        </p:txBody>
      </p:sp>
      <p:sp>
        <p:nvSpPr>
          <p:cNvPr id="5" name="TextBox 4"/>
          <p:cNvSpPr txBox="1"/>
          <p:nvPr/>
        </p:nvSpPr>
        <p:spPr>
          <a:xfrm>
            <a:off x="548640" y="1188720"/>
            <a:ext cx="10972800" cy="548640"/>
          </a:xfrm>
          <a:prstGeom prst="rect">
            <a:avLst/>
          </a:prstGeom>
          <a:noFill/>
        </p:spPr>
        <p:txBody>
          <a:bodyPr wrap="square" lIns="0" tIns="0" rIns="0" bIns="0" anchor="t">
            <a:spAutoFit/>
          </a:bodyPr>
          <a:lstStyle/>
          <a:p>
            <a:pPr algn="l">
              <a:buNone/>
            </a:pPr>
            <a:r>
              <a:rPr sz="1600" b="0" i="0">
                <a:solidFill>
                  <a:srgbClr val="1D2733"/>
                </a:solidFill>
                <a:latin typeface="Calibri"/>
              </a:rPr>
              <a:t>Sixteen independent radios disagree in frequency, phase, timing and gain. A shared clock fixes only the first of these; the rest have to be measured and removed.</a:t>
            </a:r>
            <a:endParaRPr sz="1600"/>
          </a:p>
        </p:txBody>
      </p:sp>
      <p:graphicFrame>
        <p:nvGraphicFramePr>
          <p:cNvPr id="6" name="Table 5"/>
          <p:cNvGraphicFramePr>
            <a:graphicFrameLocks noGrp="1"/>
          </p:cNvGraphicFramePr>
          <p:nvPr/>
        </p:nvGraphicFramePr>
        <p:xfrm>
          <a:off x="548640" y="1965960"/>
          <a:ext cx="11064240" cy="3072384"/>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384048">
                <a:tc>
                  <a:txBody>
                    <a:bodyPr/>
                    <a:lstStyle/>
                    <a:p>
                      <a:pPr algn="l">
                        <a:buNone/>
                      </a:pPr>
                      <a:r>
                        <a:rPr sz="1300" b="0" i="0">
                          <a:solidFill>
                            <a:srgbClr val="5B6776"/>
                          </a:solidFill>
                          <a:latin typeface="Calibri"/>
                        </a:rPr>
                        <a:t>Error term</a:t>
                      </a:r>
                      <a:endParaRPr sz="1300"/>
                    </a:p>
                  </a:txBody>
                  <a:tcPr marL="64008" marR="64008" marT="32004" marB="32004" anchor="ctr">
                    <a:lnL w="0">
                      <a:noFill/>
                    </a:lnL>
                    <a:lnR w="0">
                      <a:noFill/>
                    </a:lnR>
                    <a:lnT w="0">
                      <a:noFill/>
                    </a:lnT>
                    <a:lnB w="12700">
                      <a:solidFill>
                        <a:srgbClr val="7F8B97"/>
                      </a:solidFill>
                    </a:lnB>
                    <a:noFill/>
                  </a:tcPr>
                </a:tc>
                <a:tc>
                  <a:txBody>
                    <a:bodyPr/>
                    <a:lstStyle/>
                    <a:p>
                      <a:pPr algn="l">
                        <a:buNone/>
                      </a:pPr>
                      <a:r>
                        <a:rPr sz="1300" b="0" i="0">
                          <a:solidFill>
                            <a:srgbClr val="5B6776"/>
                          </a:solidFill>
                          <a:latin typeface="Calibri"/>
                        </a:rPr>
                        <a:t>Where it comes from</a:t>
                      </a:r>
                      <a:endParaRPr sz="1300"/>
                    </a:p>
                  </a:txBody>
                  <a:tcPr marL="64008" marR="64008" marT="32004" marB="32004" anchor="ctr">
                    <a:lnL w="0">
                      <a:noFill/>
                    </a:lnL>
                    <a:lnR w="0">
                      <a:noFill/>
                    </a:lnR>
                    <a:lnT w="0">
                      <a:noFill/>
                    </a:lnT>
                    <a:lnB w="12700">
                      <a:solidFill>
                        <a:srgbClr val="7F8B97"/>
                      </a:solidFill>
                    </a:lnB>
                    <a:noFill/>
                  </a:tcPr>
                </a:tc>
                <a:tc>
                  <a:txBody>
                    <a:bodyPr/>
                    <a:lstStyle/>
                    <a:p>
                      <a:pPr algn="ctr">
                        <a:buNone/>
                      </a:pPr>
                      <a:r>
                        <a:rPr sz="1300" b="0" i="0">
                          <a:solidFill>
                            <a:srgbClr val="5B6776"/>
                          </a:solidFill>
                          <a:latin typeface="Calibri"/>
                        </a:rPr>
                        <a:t>Shared 48 MHz clock</a:t>
                      </a:r>
                      <a:endParaRPr sz="1300"/>
                    </a:p>
                  </a:txBody>
                  <a:tcPr marL="64008" marR="64008" marT="32004" marB="32004" anchor="ctr">
                    <a:lnL w="0">
                      <a:noFill/>
                    </a:lnL>
                    <a:lnR w="0">
                      <a:noFill/>
                    </a:lnR>
                    <a:lnT w="0">
                      <a:noFill/>
                    </a:lnT>
                    <a:lnB w="12700">
                      <a:solidFill>
                        <a:srgbClr val="7F8B97"/>
                      </a:solidFill>
                    </a:lnB>
                    <a:noFill/>
                  </a:tcPr>
                </a:tc>
                <a:tc>
                  <a:txBody>
                    <a:bodyPr/>
                    <a:lstStyle/>
                    <a:p>
                      <a:pPr algn="ctr">
                        <a:buNone/>
                      </a:pPr>
                      <a:r>
                        <a:rPr sz="1300" b="0" i="0">
                          <a:solidFill>
                            <a:srgbClr val="5B6776"/>
                          </a:solidFill>
                          <a:latin typeface="Calibri"/>
                        </a:rPr>
                        <a:t>5.2 GHz cal. tone</a:t>
                      </a:r>
                      <a:endParaRPr sz="1300"/>
                    </a:p>
                  </a:txBody>
                  <a:tcPr marL="64008" marR="64008" marT="32004" marB="32004" anchor="ctr">
                    <a:lnL w="0">
                      <a:noFill/>
                    </a:lnL>
                    <a:lnR w="0">
                      <a:noFill/>
                    </a:lnR>
                    <a:lnT w="0">
                      <a:noFill/>
                    </a:lnT>
                    <a:lnB w="12700">
                      <a:solidFill>
                        <a:srgbClr val="7F8B97"/>
                      </a:solidFill>
                    </a:lnB>
                    <a:noFill/>
                  </a:tcPr>
                </a:tc>
                <a:tc>
                  <a:txBody>
                    <a:bodyPr/>
                    <a:lstStyle/>
                    <a:p>
                      <a:pPr algn="ctr">
                        <a:buNone/>
                      </a:pPr>
                      <a:r>
                        <a:rPr sz="1300" b="0" i="0">
                          <a:solidFill>
                            <a:srgbClr val="5B6776"/>
                          </a:solidFill>
                          <a:latin typeface="Calibri"/>
                        </a:rPr>
                        <a:t>Common trigger</a:t>
                      </a:r>
                      <a:endParaRPr sz="13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384048">
                <a:tc>
                  <a:txBody>
                    <a:bodyPr/>
                    <a:lstStyle/>
                    <a:p>
                      <a:pPr algn="l">
                        <a:buNone/>
                      </a:pPr>
                      <a:r>
                        <a:rPr sz="1300" b="0" i="0">
                          <a:solidFill>
                            <a:srgbClr val="1D2733"/>
                          </a:solidFill>
                          <a:latin typeface="Calibri"/>
                        </a:rPr>
                        <a:t>Carrier frequency offset, drift</a:t>
                      </a:r>
                      <a:endParaRPr sz="13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independent crystals (tens of ppm)</a:t>
                      </a:r>
                      <a:endParaRPr sz="13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0E7C76"/>
                          </a:solidFill>
                          <a:latin typeface="Calibri"/>
                        </a:rPr>
                        <a:t>removes</a:t>
                      </a:r>
                      <a:endParaRPr sz="13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384048">
                <a:tc>
                  <a:txBody>
                    <a:bodyPr/>
                    <a:lstStyle/>
                    <a:p>
                      <a:pPr algn="l">
                        <a:buNone/>
                      </a:pPr>
                      <a:r>
                        <a:rPr sz="1300" b="0" i="0">
                          <a:solidFill>
                            <a:srgbClr val="1D2733"/>
                          </a:solidFill>
                          <a:latin typeface="Calibri"/>
                        </a:rPr>
                        <a:t>LO phase offset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each PLL locks with an arbitrary phase</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0E7C76"/>
                          </a:solidFill>
                          <a:latin typeface="Calibri"/>
                        </a:rPr>
                        <a:t>removes</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384048">
                <a:tc>
                  <a:txBody>
                    <a:bodyPr/>
                    <a:lstStyle/>
                    <a:p>
                      <a:pPr algn="l">
                        <a:buNone/>
                      </a:pPr>
                      <a:r>
                        <a:rPr sz="1300" b="0" i="0">
                          <a:solidFill>
                            <a:srgbClr val="1D2733"/>
                          </a:solidFill>
                          <a:latin typeface="Calibri"/>
                        </a:rPr>
                        <a:t>Sampling-time offset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independent sample clocks and start times</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1F5C99"/>
                          </a:solidFill>
                          <a:latin typeface="Calibri"/>
                        </a:rPr>
                        <a:t>partly</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0E7C76"/>
                          </a:solidFill>
                          <a:latin typeface="Calibri"/>
                        </a:rPr>
                        <a:t>removes (swept tone)</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1F5C99"/>
                          </a:solidFill>
                          <a:latin typeface="Calibri"/>
                        </a:rPr>
                        <a:t>partly</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384048">
                <a:tc>
                  <a:txBody>
                    <a:bodyPr/>
                    <a:lstStyle/>
                    <a:p>
                      <a:pPr algn="l">
                        <a:buNone/>
                      </a:pPr>
                      <a:r>
                        <a:rPr sz="1300" b="0" i="0">
                          <a:solidFill>
                            <a:srgbClr val="1D2733"/>
                          </a:solidFill>
                          <a:latin typeface="Calibri"/>
                        </a:rPr>
                        <a:t>Capture start misalignment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firmware / interrupt latency</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1F5C99"/>
                          </a:solidFill>
                          <a:latin typeface="Calibri"/>
                        </a:rPr>
                        <a:t>partly</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0E7C76"/>
                          </a:solidFill>
                          <a:latin typeface="Calibri"/>
                        </a:rPr>
                        <a:t>removes</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384048">
                <a:tc>
                  <a:txBody>
                    <a:bodyPr/>
                    <a:lstStyle/>
                    <a:p>
                      <a:pPr algn="l">
                        <a:buNone/>
                      </a:pPr>
                      <a:r>
                        <a:rPr sz="1300" b="0" i="0">
                          <a:solidFill>
                            <a:srgbClr val="1D2733"/>
                          </a:solidFill>
                          <a:latin typeface="Calibri"/>
                        </a:rPr>
                        <a:t>Fixed path mismatch</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cables, PCB traces, switches, filters</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1F5C99"/>
                          </a:solidFill>
                          <a:latin typeface="Calibri"/>
                        </a:rPr>
                        <a:t>after the switch</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384048">
                <a:tc>
                  <a:txBody>
                    <a:bodyPr/>
                    <a:lstStyle/>
                    <a:p>
                      <a:pPr algn="l">
                        <a:buNone/>
                      </a:pPr>
                      <a:r>
                        <a:rPr sz="1300" b="0" i="0">
                          <a:solidFill>
                            <a:srgbClr val="1D2733"/>
                          </a:solidFill>
                          <a:latin typeface="Calibri"/>
                        </a:rPr>
                        <a:t>Gain mismatch</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AGC state, LNA spread</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1F5C99"/>
                          </a:solidFill>
                          <a:latin typeface="Calibri"/>
                        </a:rPr>
                        <a:t>if gain is fixed</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384048">
                <a:tc>
                  <a:txBody>
                    <a:bodyPr/>
                    <a:lstStyle/>
                    <a:p>
                      <a:pPr algn="l">
                        <a:buNone/>
                      </a:pPr>
                      <a:r>
                        <a:rPr sz="1300" b="0" i="0">
                          <a:solidFill>
                            <a:srgbClr val="1D2733"/>
                          </a:solidFill>
                          <a:latin typeface="Calibri"/>
                        </a:rPr>
                        <a:t>Uncorrelated phase noise</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300" b="0" i="0">
                          <a:solidFill>
                            <a:srgbClr val="1D2733"/>
                          </a:solidFill>
                          <a:latin typeface="Calibri"/>
                        </a:rPr>
                        <a:t>additive jitter of buffers, PLL noise</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1F5C99"/>
                          </a:solidFill>
                          <a:latin typeface="Calibri"/>
                        </a:rPr>
                        <a:t>partly</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ctr">
                        <a:buNone/>
                      </a:pPr>
                      <a:r>
                        <a:rPr sz="1300" b="0" i="0">
                          <a:solidFill>
                            <a:srgbClr val="8C97A3"/>
                          </a:solidFill>
                          <a:latin typeface="Calibri"/>
                        </a:rPr>
                        <a:t>—</a:t>
                      </a:r>
                      <a:endParaRPr sz="13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5257800"/>
            <a:ext cx="11064240" cy="822960"/>
          </a:xfrm>
          <a:prstGeom prst="rect">
            <a:avLst/>
          </a:prstGeom>
          <a:noFill/>
        </p:spPr>
        <p:txBody>
          <a:bodyPr wrap="square" lIns="0" tIns="0" rIns="0" bIns="0" anchor="t">
            <a:spAutoFit/>
          </a:bodyPr>
          <a:lstStyle/>
          <a:p>
            <a:pPr algn="l">
              <a:buNone/>
            </a:pPr>
            <a:r>
              <a:rPr sz="1400" b="0" i="0">
                <a:solidFill>
                  <a:srgbClr val="1D2733"/>
                </a:solidFill>
                <a:latin typeface="Calibri"/>
              </a:rPr>
              <a:t>Consequence: </a:t>
            </a:r>
            <a:r>
              <a:rPr sz="1400" b="0" i="0">
                <a:solidFill>
                  <a:srgbClr val="5B6776"/>
                </a:solidFill>
                <a:latin typeface="Calibri"/>
              </a:rPr>
              <a:t>calibration is not a one-off factory step. The LO phase changes every time a PLL relocks, so the array must be able to re-measure itself on demand — that is why the calibration network is part of the hardware.</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Four synchronization domains — and what Ethernet is not for</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Team architecture; ESPARGOS uses the same split (shared clock, wired trigger, switched RF reference). Ethernet / PTP is for coordination only.</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7</a:t>
            </a:r>
            <a:endParaRPr sz="1000"/>
          </a:p>
        </p:txBody>
      </p:sp>
      <p:graphicFrame>
        <p:nvGraphicFramePr>
          <p:cNvPr id="5" name="Table 4"/>
          <p:cNvGraphicFramePr>
            <a:graphicFrameLocks noGrp="1"/>
          </p:cNvGraphicFramePr>
          <p:nvPr/>
        </p:nvGraphicFramePr>
        <p:xfrm>
          <a:off x="548640" y="1280160"/>
          <a:ext cx="11091672" cy="3218688"/>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384048">
                <a:tc>
                  <a:txBody>
                    <a:bodyPr/>
                    <a:lstStyle/>
                    <a:p>
                      <a:pPr algn="l">
                        <a:buNone/>
                      </a:pPr>
                      <a:r>
                        <a:rPr sz="1200" b="0" i="0">
                          <a:solidFill>
                            <a:srgbClr val="5B6776"/>
                          </a:solidFill>
                          <a:latin typeface="Calibri"/>
                        </a:rPr>
                        <a:t>Domain</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Signal and path</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Guarantees</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Does not guarantee</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566928">
                <a:tc>
                  <a:txBody>
                    <a:bodyPr/>
                    <a:lstStyle/>
                    <a:p>
                      <a:pPr algn="l">
                        <a:buNone/>
                      </a:pPr>
                      <a:r>
                        <a:rPr sz="1200" b="0" i="0">
                          <a:solidFill>
                            <a:srgbClr val="1F5C99"/>
                          </a:solidFill>
                          <a:latin typeface="Calibri"/>
                        </a:rPr>
                        <a:t>RF reference</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48 MHz TCXO → fan-out → 16 × XTAL_P</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one frequency for all LOs</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LO phase after each lock</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566928">
                <a:tc>
                  <a:txBody>
                    <a:bodyPr/>
                    <a:lstStyle/>
                    <a:p>
                      <a:pPr algn="l">
                        <a:buNone/>
                      </a:pPr>
                      <a:r>
                        <a:rPr sz="1200" b="0" i="0">
                          <a:solidFill>
                            <a:srgbClr val="6F4E9E"/>
                          </a:solidFill>
                          <a:latin typeface="Calibri"/>
                        </a:rPr>
                        <a:t>Data transport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40 MHz PCLK → fan-out → 16 C5 + 2 S31</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lane-to-lane cycle alignment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which sample a lane starts with</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566928">
                <a:tc>
                  <a:txBody>
                    <a:bodyPr/>
                    <a:lstStyle/>
                    <a:p>
                      <a:pPr algn="l">
                        <a:buNone/>
                      </a:pPr>
                      <a:r>
                        <a:rPr sz="1200" b="0" i="0">
                          <a:solidFill>
                            <a:srgbClr val="A86A0B"/>
                          </a:solidFill>
                          <a:latin typeface="Calibri"/>
                        </a:rPr>
                        <a:t>Capture trigger</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master GO → S31 → PCLK enable (+ READY)</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common start within a tile</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tile-to-tile start (two S31s)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566928">
                <a:tc>
                  <a:txBody>
                    <a:bodyPr/>
                    <a:lstStyle/>
                    <a:p>
                      <a:pPr algn="l">
                        <a:buNone/>
                      </a:pPr>
                      <a:r>
                        <a:rPr sz="1200" b="0" i="0">
                          <a:solidFill>
                            <a:srgbClr val="0E7C76"/>
                          </a:solidFill>
                          <a:latin typeface="Calibri"/>
                        </a:rPr>
                        <a:t>RF calibration</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5.2 GHz tone → 1:2 → 1:8 → SPDT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measures φₖ, τₖ and path mismatch</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anything before the switch</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566928">
                <a:tc>
                  <a:txBody>
                    <a:bodyPr/>
                    <a:lstStyle/>
                    <a:p>
                      <a:pPr algn="l">
                        <a:buNone/>
                      </a:pPr>
                      <a:r>
                        <a:rPr sz="1200" b="0" i="0">
                          <a:solidFill>
                            <a:srgbClr val="5B6776"/>
                          </a:solidFill>
                          <a:latin typeface="Calibri"/>
                        </a:rPr>
                        <a:t>Ethernet / PTP</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S31 EMAC, 1588 timestamps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logging, tile coordination</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sample or phase alignment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5074920"/>
            <a:ext cx="11064240" cy="822960"/>
          </a:xfrm>
          <a:prstGeom prst="rect">
            <a:avLst/>
          </a:prstGeom>
          <a:noFill/>
        </p:spPr>
        <p:txBody>
          <a:bodyPr wrap="square" lIns="0" tIns="0" rIns="0" bIns="0" anchor="t">
            <a:spAutoFit/>
          </a:bodyPr>
          <a:lstStyle/>
          <a:p>
            <a:pPr algn="l">
              <a:buNone/>
            </a:pPr>
            <a:r>
              <a:rPr sz="1400" b="0" i="0">
                <a:solidFill>
                  <a:srgbClr val="1D2733"/>
                </a:solidFill>
                <a:latin typeface="Calibri"/>
              </a:rPr>
              <a:t>Wideband correction per element is a phase plus a delay: </a:t>
            </a:r>
            <a:r>
              <a:rPr sz="1400" b="0" i="0">
                <a:solidFill>
                  <a:srgbClr val="5B6776"/>
                </a:solidFill>
                <a:latin typeface="Calibri"/>
              </a:rPr>
              <a:t>Cₖ(f) = exp[−j(φₖ + 2πfτₖ)], applied per FFT bin before the channels are combined.</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Sharing one 48 MHz reference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ESP32-C5 HW design guidelines (48 MHz only, ±10 ppm, &gt;500 mV, 24 nH series L); ESP32-S2 HDG oscillator note; TI SWRA029 (20·log N); buffer and TCXO datasheets.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8</a:t>
            </a:r>
            <a:endParaRPr sz="1000"/>
          </a:p>
        </p:txBody>
      </p:sp>
      <p:sp>
        <p:nvSpPr>
          <p:cNvPr id="5" name="Rectangle 4"/>
          <p:cNvSpPr/>
          <p:nvPr/>
        </p:nvSpPr>
        <p:spPr>
          <a:xfrm>
            <a:off x="548640" y="2331720"/>
            <a:ext cx="1417320" cy="777240"/>
          </a:xfrm>
          <a:prstGeom prst="rect">
            <a:avLst/>
          </a:prstGeom>
          <a:solidFill>
            <a:srgbClr val="E8F0F8"/>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48 MHz TCXO</a:t>
            </a:r>
            <a:endParaRPr sz="1200"/>
          </a:p>
          <a:p>
            <a:pPr algn="ctr">
              <a:buNone/>
            </a:pPr>
            <a:r>
              <a:rPr sz="900" b="0" i="0">
                <a:solidFill>
                  <a:srgbClr val="5B6776"/>
                </a:solidFill>
                <a:latin typeface="Calibri"/>
              </a:rPr>
              <a:t>±0.5 ppm, clipped sine</a:t>
            </a:r>
            <a:endParaRPr sz="1200"/>
          </a:p>
          <a:p>
            <a:pPr algn="ctr">
              <a:buNone/>
            </a:pPr>
            <a:r>
              <a:rPr sz="900" b="0" i="0">
                <a:solidFill>
                  <a:srgbClr val="5B6776"/>
                </a:solidFill>
                <a:latin typeface="Calibri"/>
              </a:rPr>
              <a:t>e.g. TG2016SMN</a:t>
            </a:r>
            <a:endParaRPr sz="1200"/>
          </a:p>
        </p:txBody>
      </p:sp>
      <p:sp>
        <p:nvSpPr>
          <p:cNvPr id="6" name="Rectangle 5"/>
          <p:cNvSpPr/>
          <p:nvPr/>
        </p:nvSpPr>
        <p:spPr>
          <a:xfrm>
            <a:off x="2331720" y="2331720"/>
            <a:ext cx="1325880" cy="777240"/>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1:2 fan-out</a:t>
            </a:r>
            <a:endParaRPr sz="1200"/>
          </a:p>
          <a:p>
            <a:pPr algn="ctr">
              <a:buNone/>
            </a:pPr>
            <a:r>
              <a:rPr sz="900" b="0" i="0">
                <a:solidFill>
                  <a:srgbClr val="5B6776"/>
                </a:solidFill>
                <a:latin typeface="Calibri"/>
              </a:rPr>
              <a:t>master board</a:t>
            </a:r>
            <a:endParaRPr sz="1200"/>
          </a:p>
          <a:p>
            <a:pPr algn="ctr">
              <a:buNone/>
            </a:pPr>
            <a:r>
              <a:rPr sz="900" b="0" i="0">
                <a:solidFill>
                  <a:srgbClr val="5B6776"/>
                </a:solidFill>
                <a:latin typeface="Calibri"/>
              </a:rPr>
              <a:t>e.g. LMK1C1104</a:t>
            </a:r>
            <a:endParaRPr sz="1200"/>
          </a:p>
        </p:txBody>
      </p:sp>
      <p:cxnSp>
        <p:nvCxnSpPr>
          <p:cNvPr id="7" name="Connector 6"/>
          <p:cNvCxnSpPr/>
          <p:nvPr/>
        </p:nvCxnSpPr>
        <p:spPr>
          <a:xfrm>
            <a:off x="1965960" y="2720340"/>
            <a:ext cx="365760" cy="0"/>
          </a:xfrm>
          <a:prstGeom prst="line">
            <a:avLst/>
          </a:prstGeom>
          <a:ln w="19050">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657600" y="2720340"/>
            <a:ext cx="274320" cy="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2720340"/>
            <a:ext cx="274320" cy="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57600" y="2720340"/>
            <a:ext cx="274320" cy="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57600" y="2720340"/>
            <a:ext cx="274320" cy="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31920" y="1600200"/>
            <a:ext cx="0" cy="228600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931920" y="1600200"/>
            <a:ext cx="640080" cy="0"/>
          </a:xfrm>
          <a:prstGeom prst="line">
            <a:avLst/>
          </a:prstGeom>
          <a:ln w="19050">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17720" y="1481328"/>
            <a:ext cx="1828800" cy="237744"/>
          </a:xfrm>
          <a:prstGeom prst="rect">
            <a:avLst/>
          </a:prstGeom>
          <a:noFill/>
        </p:spPr>
        <p:txBody>
          <a:bodyPr wrap="square" lIns="0" tIns="0" rIns="0" bIns="0" anchor="t">
            <a:spAutoFit/>
          </a:bodyPr>
          <a:lstStyle/>
          <a:p>
            <a:pPr algn="l">
              <a:buNone/>
            </a:pPr>
            <a:r>
              <a:rPr sz="1100" b="0" i="0">
                <a:solidFill>
                  <a:srgbClr val="5B6776"/>
                </a:solidFill>
                <a:latin typeface="Calibri"/>
              </a:rPr>
              <a:t>tile B</a:t>
            </a:r>
            <a:endParaRPr sz="1100"/>
          </a:p>
        </p:txBody>
      </p:sp>
      <p:cxnSp>
        <p:nvCxnSpPr>
          <p:cNvPr id="15" name="Connector 14"/>
          <p:cNvCxnSpPr/>
          <p:nvPr/>
        </p:nvCxnSpPr>
        <p:spPr>
          <a:xfrm>
            <a:off x="3931920" y="3886200"/>
            <a:ext cx="640080" cy="0"/>
          </a:xfrm>
          <a:prstGeom prst="line">
            <a:avLst/>
          </a:prstGeom>
          <a:ln w="19050">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23360" y="1188720"/>
            <a:ext cx="2377440" cy="237744"/>
          </a:xfrm>
          <a:prstGeom prst="rect">
            <a:avLst/>
          </a:prstGeom>
          <a:noFill/>
        </p:spPr>
        <p:txBody>
          <a:bodyPr wrap="square" lIns="0" tIns="0" rIns="0" bIns="0" anchor="t">
            <a:spAutoFit/>
          </a:bodyPr>
          <a:lstStyle/>
          <a:p>
            <a:pPr algn="l">
              <a:buNone/>
            </a:pPr>
            <a:r>
              <a:rPr sz="1000" b="0" i="0">
                <a:solidFill>
                  <a:srgbClr val="5B6776"/>
                </a:solidFill>
                <a:latin typeface="Calibri"/>
              </a:rPr>
              <a:t>one cable per tile</a:t>
            </a:r>
            <a:endParaRPr sz="1000"/>
          </a:p>
        </p:txBody>
      </p:sp>
      <p:sp>
        <p:nvSpPr>
          <p:cNvPr id="17" name="Rectangle 16"/>
          <p:cNvSpPr/>
          <p:nvPr/>
        </p:nvSpPr>
        <p:spPr>
          <a:xfrm>
            <a:off x="4526280" y="3383280"/>
            <a:ext cx="3429000" cy="2331720"/>
          </a:xfrm>
          <a:prstGeom prst="rect">
            <a:avLst/>
          </a:prstGeom>
          <a:noFill/>
          <a:ln w="9525">
            <a:solidFill>
              <a:srgbClr val="D3D9DF"/>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8" name="TextBox 17"/>
          <p:cNvSpPr txBox="1"/>
          <p:nvPr/>
        </p:nvSpPr>
        <p:spPr>
          <a:xfrm>
            <a:off x="4617720" y="5422392"/>
            <a:ext cx="2743200" cy="237744"/>
          </a:xfrm>
          <a:prstGeom prst="rect">
            <a:avLst/>
          </a:prstGeom>
          <a:noFill/>
        </p:spPr>
        <p:txBody>
          <a:bodyPr wrap="square" lIns="0" tIns="0" rIns="0" bIns="0" anchor="t">
            <a:spAutoFit/>
          </a:bodyPr>
          <a:lstStyle/>
          <a:p>
            <a:pPr algn="l">
              <a:buNone/>
            </a:pPr>
            <a:r>
              <a:rPr sz="1100" b="0" i="0">
                <a:solidFill>
                  <a:srgbClr val="5B6776"/>
                </a:solidFill>
                <a:latin typeface="Calibri"/>
              </a:rPr>
              <a:t>tile A (4 of 8 shown)</a:t>
            </a:r>
            <a:endParaRPr sz="1100"/>
          </a:p>
        </p:txBody>
      </p:sp>
      <p:sp>
        <p:nvSpPr>
          <p:cNvPr id="19" name="Rectangle 18"/>
          <p:cNvSpPr/>
          <p:nvPr/>
        </p:nvSpPr>
        <p:spPr>
          <a:xfrm>
            <a:off x="4709160" y="3566160"/>
            <a:ext cx="1097280" cy="640080"/>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1:8 buffer</a:t>
            </a:r>
            <a:endParaRPr sz="1200"/>
          </a:p>
          <a:p>
            <a:pPr algn="ctr">
              <a:buNone/>
            </a:pPr>
            <a:r>
              <a:rPr sz="1000" b="0" i="0">
                <a:solidFill>
                  <a:srgbClr val="5B6776"/>
                </a:solidFill>
                <a:latin typeface="Calibri"/>
              </a:rPr>
              <a:t>LVCMOS</a:t>
            </a:r>
            <a:endParaRPr sz="1200"/>
          </a:p>
        </p:txBody>
      </p:sp>
      <p:cxnSp>
        <p:nvCxnSpPr>
          <p:cNvPr id="20" name="Connector 19"/>
          <p:cNvCxnSpPr/>
          <p:nvPr/>
        </p:nvCxnSpPr>
        <p:spPr>
          <a:xfrm>
            <a:off x="4572000" y="3886200"/>
            <a:ext cx="137160" cy="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806440" y="388620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06440" y="388620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6440" y="388620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06440" y="388620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35040" y="3520440"/>
            <a:ext cx="0" cy="137160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35040" y="352044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263640" y="3465576"/>
            <a:ext cx="109728" cy="109728"/>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8" name="Connector 27"/>
          <p:cNvCxnSpPr/>
          <p:nvPr/>
        </p:nvCxnSpPr>
        <p:spPr>
          <a:xfrm>
            <a:off x="6373368" y="3520440"/>
            <a:ext cx="210312" cy="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583680" y="3364992"/>
            <a:ext cx="123444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ESP32-C5 </a:t>
            </a:r>
            <a:r>
              <a:rPr sz="900" b="0" i="0">
                <a:solidFill>
                  <a:srgbClr val="5B6776"/>
                </a:solidFill>
                <a:latin typeface="Calibri"/>
              </a:rPr>
              <a:t>XTAL_P</a:t>
            </a:r>
            <a:endParaRPr sz="1100"/>
          </a:p>
        </p:txBody>
      </p:sp>
      <p:cxnSp>
        <p:nvCxnSpPr>
          <p:cNvPr id="30" name="Connector 29"/>
          <p:cNvCxnSpPr/>
          <p:nvPr/>
        </p:nvCxnSpPr>
        <p:spPr>
          <a:xfrm>
            <a:off x="6035040" y="3977639"/>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263640" y="3922776"/>
            <a:ext cx="109728" cy="109728"/>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32" name="Connector 31"/>
          <p:cNvCxnSpPr/>
          <p:nvPr/>
        </p:nvCxnSpPr>
        <p:spPr>
          <a:xfrm>
            <a:off x="6373368" y="3977639"/>
            <a:ext cx="210312" cy="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583680" y="3822191"/>
            <a:ext cx="123444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ESP32-C5 </a:t>
            </a:r>
            <a:r>
              <a:rPr sz="900" b="0" i="0">
                <a:solidFill>
                  <a:srgbClr val="5B6776"/>
                </a:solidFill>
                <a:latin typeface="Calibri"/>
              </a:rPr>
              <a:t>XTAL_P</a:t>
            </a:r>
            <a:endParaRPr sz="1100"/>
          </a:p>
        </p:txBody>
      </p:sp>
      <p:cxnSp>
        <p:nvCxnSpPr>
          <p:cNvPr id="34" name="Connector 33"/>
          <p:cNvCxnSpPr/>
          <p:nvPr/>
        </p:nvCxnSpPr>
        <p:spPr>
          <a:xfrm>
            <a:off x="6035040" y="443484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63640" y="4379976"/>
            <a:ext cx="109728" cy="109728"/>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36" name="Connector 35"/>
          <p:cNvCxnSpPr/>
          <p:nvPr/>
        </p:nvCxnSpPr>
        <p:spPr>
          <a:xfrm>
            <a:off x="6373368" y="4434840"/>
            <a:ext cx="210312" cy="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583680" y="4279392"/>
            <a:ext cx="123444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ESP32-C5 </a:t>
            </a:r>
            <a:r>
              <a:rPr sz="900" b="0" i="0">
                <a:solidFill>
                  <a:srgbClr val="5B6776"/>
                </a:solidFill>
                <a:latin typeface="Calibri"/>
              </a:rPr>
              <a:t>XTAL_P</a:t>
            </a:r>
            <a:endParaRPr sz="1100"/>
          </a:p>
        </p:txBody>
      </p:sp>
      <p:cxnSp>
        <p:nvCxnSpPr>
          <p:cNvPr id="38" name="Connector 37"/>
          <p:cNvCxnSpPr/>
          <p:nvPr/>
        </p:nvCxnSpPr>
        <p:spPr>
          <a:xfrm>
            <a:off x="6035040" y="489204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263640" y="4837176"/>
            <a:ext cx="109728" cy="109728"/>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40" name="Connector 39"/>
          <p:cNvCxnSpPr/>
          <p:nvPr/>
        </p:nvCxnSpPr>
        <p:spPr>
          <a:xfrm>
            <a:off x="6373368" y="4892040"/>
            <a:ext cx="210312" cy="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583680" y="4736592"/>
            <a:ext cx="123444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ESP32-C5 </a:t>
            </a:r>
            <a:r>
              <a:rPr sz="900" b="0" i="0">
                <a:solidFill>
                  <a:srgbClr val="5B6776"/>
                </a:solidFill>
                <a:latin typeface="Calibri"/>
              </a:rPr>
              <a:t>XTAL_P</a:t>
            </a:r>
            <a:endParaRPr sz="1100"/>
          </a:p>
        </p:txBody>
      </p:sp>
      <p:sp>
        <p:nvSpPr>
          <p:cNvPr id="42" name="TextBox 41"/>
          <p:cNvSpPr txBox="1"/>
          <p:nvPr/>
        </p:nvSpPr>
        <p:spPr>
          <a:xfrm>
            <a:off x="4709160" y="4983480"/>
            <a:ext cx="1554480" cy="365760"/>
          </a:xfrm>
          <a:prstGeom prst="rect">
            <a:avLst/>
          </a:prstGeom>
          <a:noFill/>
        </p:spPr>
        <p:txBody>
          <a:bodyPr wrap="square" lIns="0" tIns="0" rIns="0" bIns="0" anchor="t">
            <a:spAutoFit/>
          </a:bodyPr>
          <a:lstStyle/>
          <a:p>
            <a:pPr algn="l">
              <a:buNone/>
            </a:pPr>
            <a:r>
              <a:rPr sz="900" b="0" i="0">
                <a:solidFill>
                  <a:srgbClr val="5B6776"/>
                </a:solidFill>
                <a:latin typeface="Calibri"/>
              </a:rPr>
              <a:t>coupling network</a:t>
            </a:r>
            <a:endParaRPr sz="900"/>
          </a:p>
          <a:p>
            <a:pPr algn="l">
              <a:buNone/>
            </a:pPr>
            <a:r>
              <a:rPr sz="900" b="0" i="0">
                <a:solidFill>
                  <a:srgbClr val="5B6776"/>
                </a:solidFill>
                <a:latin typeface="Calibri"/>
              </a:rPr>
              <a:t>(level per HW guide)</a:t>
            </a:r>
            <a:endParaRPr sz="900"/>
          </a:p>
        </p:txBody>
      </p:sp>
      <p:cxnSp>
        <p:nvCxnSpPr>
          <p:cNvPr id="43" name="Connector 42"/>
          <p:cNvCxnSpPr/>
          <p:nvPr/>
        </p:nvCxnSpPr>
        <p:spPr>
          <a:xfrm flipV="1">
            <a:off x="5852160" y="4864608"/>
            <a:ext cx="411480" cy="118872"/>
          </a:xfrm>
          <a:prstGeom prst="line">
            <a:avLst/>
          </a:prstGeom>
          <a:ln w="6350">
            <a:solidFill>
              <a:srgbClr val="D3D9D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321040" y="1280160"/>
            <a:ext cx="3337560" cy="256032"/>
          </a:xfrm>
          <a:prstGeom prst="rect">
            <a:avLst/>
          </a:prstGeom>
          <a:noFill/>
        </p:spPr>
        <p:txBody>
          <a:bodyPr wrap="square" lIns="0" tIns="0" rIns="0" bIns="0" anchor="t">
            <a:spAutoFit/>
          </a:bodyPr>
          <a:lstStyle/>
          <a:p>
            <a:pPr algn="l">
              <a:buNone/>
            </a:pPr>
            <a:r>
              <a:rPr sz="1300" b="0" i="0">
                <a:solidFill>
                  <a:srgbClr val="1D2733"/>
                </a:solidFill>
                <a:latin typeface="Calibri"/>
              </a:rPr>
              <a:t>Frequency</a:t>
            </a:r>
            <a:endParaRPr sz="1300"/>
          </a:p>
        </p:txBody>
      </p:sp>
      <p:sp>
        <p:nvSpPr>
          <p:cNvPr id="45" name="TextBox 44"/>
          <p:cNvSpPr txBox="1"/>
          <p:nvPr/>
        </p:nvSpPr>
        <p:spPr>
          <a:xfrm>
            <a:off x="8321040" y="1554480"/>
            <a:ext cx="3337560" cy="749808"/>
          </a:xfrm>
          <a:prstGeom prst="rect">
            <a:avLst/>
          </a:prstGeom>
          <a:noFill/>
        </p:spPr>
        <p:txBody>
          <a:bodyPr wrap="square" lIns="0" tIns="0" rIns="0" bIns="0" anchor="t">
            <a:spAutoFit/>
          </a:bodyPr>
          <a:lstStyle/>
          <a:p>
            <a:pPr algn="l">
              <a:lnSpc>
                <a:spcPct val="100000"/>
              </a:lnSpc>
              <a:buNone/>
            </a:pPr>
            <a:r>
              <a:rPr sz="1100" b="0" i="0">
                <a:solidFill>
                  <a:srgbClr val="5B6776"/>
                </a:solidFill>
                <a:latin typeface="Calibri"/>
              </a:rPr>
              <a:t>All 16 LOs derive from one oscillator, so carrier offsets between elements vanish. The absolute ppm error is common to all and harmless.</a:t>
            </a:r>
            <a:endParaRPr sz="1100"/>
          </a:p>
        </p:txBody>
      </p:sp>
      <p:sp>
        <p:nvSpPr>
          <p:cNvPr id="46" name="TextBox 45"/>
          <p:cNvSpPr txBox="1"/>
          <p:nvPr/>
        </p:nvSpPr>
        <p:spPr>
          <a:xfrm>
            <a:off x="8321040" y="2304288"/>
            <a:ext cx="3337560" cy="256032"/>
          </a:xfrm>
          <a:prstGeom prst="rect">
            <a:avLst/>
          </a:prstGeom>
          <a:noFill/>
        </p:spPr>
        <p:txBody>
          <a:bodyPr wrap="square" lIns="0" tIns="0" rIns="0" bIns="0" anchor="t">
            <a:spAutoFit/>
          </a:bodyPr>
          <a:lstStyle/>
          <a:p>
            <a:pPr algn="l">
              <a:buNone/>
            </a:pPr>
            <a:r>
              <a:rPr sz="1300" b="0" i="0">
                <a:solidFill>
                  <a:srgbClr val="1D2733"/>
                </a:solidFill>
                <a:latin typeface="Calibri"/>
              </a:rPr>
              <a:t>Static skew</a:t>
            </a:r>
            <a:endParaRPr sz="1300"/>
          </a:p>
        </p:txBody>
      </p:sp>
      <p:sp>
        <p:nvSpPr>
          <p:cNvPr id="47" name="TextBox 46"/>
          <p:cNvSpPr txBox="1"/>
          <p:nvPr/>
        </p:nvSpPr>
        <p:spPr>
          <a:xfrm>
            <a:off x="8321040" y="2578608"/>
            <a:ext cx="3337560" cy="749808"/>
          </a:xfrm>
          <a:prstGeom prst="rect">
            <a:avLst/>
          </a:prstGeom>
          <a:noFill/>
        </p:spPr>
        <p:txBody>
          <a:bodyPr wrap="square" lIns="0" tIns="0" rIns="0" bIns="0" anchor="t">
            <a:spAutoFit/>
          </a:bodyPr>
          <a:lstStyle/>
          <a:p>
            <a:pPr algn="l">
              <a:lnSpc>
                <a:spcPct val="100000"/>
              </a:lnSpc>
              <a:buNone/>
            </a:pPr>
            <a:r>
              <a:rPr sz="1100" b="0" i="0">
                <a:solidFill>
                  <a:srgbClr val="5B6776"/>
                </a:solidFill>
                <a:latin typeface="Calibri"/>
              </a:rPr>
              <a:t>Buffer skew becomes a fixed LO phase: 50 ps ≈ 94° at 5.2 GHz. Calibration removes it — but skew drifting with temperature shows up as phase drift.</a:t>
            </a:r>
            <a:endParaRPr sz="1100"/>
          </a:p>
        </p:txBody>
      </p:sp>
      <p:sp>
        <p:nvSpPr>
          <p:cNvPr id="48" name="TextBox 47"/>
          <p:cNvSpPr txBox="1"/>
          <p:nvPr/>
        </p:nvSpPr>
        <p:spPr>
          <a:xfrm>
            <a:off x="8321040" y="3328416"/>
            <a:ext cx="3337560" cy="256032"/>
          </a:xfrm>
          <a:prstGeom prst="rect">
            <a:avLst/>
          </a:prstGeom>
          <a:noFill/>
        </p:spPr>
        <p:txBody>
          <a:bodyPr wrap="square" lIns="0" tIns="0" rIns="0" bIns="0" anchor="t">
            <a:spAutoFit/>
          </a:bodyPr>
          <a:lstStyle/>
          <a:p>
            <a:pPr algn="l">
              <a:buNone/>
            </a:pPr>
            <a:r>
              <a:rPr sz="1300" b="0" i="0">
                <a:solidFill>
                  <a:srgbClr val="1D2733"/>
                </a:solidFill>
                <a:latin typeface="Calibri"/>
              </a:rPr>
              <a:t>Jitter</a:t>
            </a:r>
            <a:endParaRPr sz="1300"/>
          </a:p>
        </p:txBody>
      </p:sp>
      <p:sp>
        <p:nvSpPr>
          <p:cNvPr id="49" name="TextBox 48"/>
          <p:cNvSpPr txBox="1"/>
          <p:nvPr/>
        </p:nvSpPr>
        <p:spPr>
          <a:xfrm>
            <a:off x="8321040" y="3602736"/>
            <a:ext cx="3337560" cy="914400"/>
          </a:xfrm>
          <a:prstGeom prst="rect">
            <a:avLst/>
          </a:prstGeom>
          <a:noFill/>
        </p:spPr>
        <p:txBody>
          <a:bodyPr wrap="square" lIns="0" tIns="0" rIns="0" bIns="0" anchor="t">
            <a:spAutoFit/>
          </a:bodyPr>
          <a:lstStyle/>
          <a:p>
            <a:pPr algn="l">
              <a:lnSpc>
                <a:spcPct val="100000"/>
              </a:lnSpc>
              <a:buNone/>
            </a:pPr>
            <a:r>
              <a:rPr sz="1100" b="0" i="0">
                <a:solidFill>
                  <a:srgbClr val="5B6776"/>
                </a:solidFill>
                <a:latin typeface="Calibri"/>
              </a:rPr>
              <a:t>In-band reference noise rises by 20·log(5200/48) = 40.7 dB. Jitter common to all elements cancels in relative phase; buffer additive jitter (20–160 fs max ≈ 0.04–0.3°) does not.</a:t>
            </a:r>
            <a:endParaRPr sz="1100"/>
          </a:p>
        </p:txBody>
      </p:sp>
      <p:sp>
        <p:nvSpPr>
          <p:cNvPr id="50" name="TextBox 49"/>
          <p:cNvSpPr txBox="1"/>
          <p:nvPr/>
        </p:nvSpPr>
        <p:spPr>
          <a:xfrm>
            <a:off x="8321040" y="4517136"/>
            <a:ext cx="3337560" cy="256032"/>
          </a:xfrm>
          <a:prstGeom prst="rect">
            <a:avLst/>
          </a:prstGeom>
          <a:noFill/>
        </p:spPr>
        <p:txBody>
          <a:bodyPr wrap="square" lIns="0" tIns="0" rIns="0" bIns="0" anchor="t">
            <a:spAutoFit/>
          </a:bodyPr>
          <a:lstStyle/>
          <a:p>
            <a:pPr algn="l">
              <a:buNone/>
            </a:pPr>
            <a:r>
              <a:rPr sz="1300" b="0" i="0">
                <a:solidFill>
                  <a:srgbClr val="1D2733"/>
                </a:solidFill>
                <a:latin typeface="Calibri"/>
              </a:rPr>
              <a:t>Injection</a:t>
            </a:r>
            <a:endParaRPr sz="1300"/>
          </a:p>
        </p:txBody>
      </p:sp>
      <p:sp>
        <p:nvSpPr>
          <p:cNvPr id="51" name="TextBox 50"/>
          <p:cNvSpPr txBox="1"/>
          <p:nvPr/>
        </p:nvSpPr>
        <p:spPr>
          <a:xfrm>
            <a:off x="8321040" y="4791456"/>
            <a:ext cx="3337560" cy="1417320"/>
          </a:xfrm>
          <a:prstGeom prst="rect">
            <a:avLst/>
          </a:prstGeom>
          <a:noFill/>
        </p:spPr>
        <p:txBody>
          <a:bodyPr wrap="square" lIns="0" tIns="0" rIns="0" bIns="0" anchor="t">
            <a:spAutoFit/>
          </a:bodyPr>
          <a:lstStyle/>
          <a:p>
            <a:pPr algn="l">
              <a:lnSpc>
                <a:spcPct val="100000"/>
              </a:lnSpc>
              <a:buNone/>
            </a:pPr>
            <a:r>
              <a:rPr sz="1100" b="0" i="0">
                <a:solidFill>
                  <a:srgbClr val="5B6776"/>
                </a:solidFill>
                <a:latin typeface="Calibri"/>
              </a:rPr>
              <a:t>The C5 design guidelines cover only a 48 MHz ±10 ppm crystal, with no external-oscillator requirements (the datasheet calls XTAL_P/N a crystal or oscillator input). Precedents: the ESP32-S2 guide (oscillator into XTAL_P via ~50 pF), ESPARGOS (40 MHz shared), Espressif’s esp-crab (two C5s, “co-crystal”). C5 modules carry their own crystal.</a:t>
            </a:r>
            <a:endParaRPr sz="1100"/>
          </a:p>
        </p:txBody>
      </p:sp>
      <p:sp>
        <p:nvSpPr>
          <p:cNvPr id="52" name="status Open — needs bench test"/>
          <p:cNvSpPr/>
          <p:nvPr/>
        </p:nvSpPr>
        <p:spPr>
          <a:xfrm>
            <a:off x="9121140" y="4576572"/>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8640" y="4343400"/>
            <a:ext cx="3291840" cy="274320"/>
          </a:xfrm>
          <a:prstGeom prst="rect">
            <a:avLst/>
          </a:prstGeom>
          <a:noFill/>
        </p:spPr>
        <p:txBody>
          <a:bodyPr wrap="square" lIns="0" tIns="0" rIns="0" bIns="0" anchor="t">
            <a:spAutoFit/>
          </a:bodyPr>
          <a:lstStyle/>
          <a:p>
            <a:pPr algn="l">
              <a:buNone/>
            </a:pPr>
            <a:r>
              <a:rPr sz="1200" b="0" i="0">
                <a:solidFill>
                  <a:srgbClr val="1D2733"/>
                </a:solidFill>
                <a:latin typeface="Calibri"/>
              </a:rPr>
              <a:t>Numbers at 5.2 GHz</a:t>
            </a:r>
            <a:endParaRPr sz="1200"/>
          </a:p>
        </p:txBody>
      </p:sp>
      <p:graphicFrame>
        <p:nvGraphicFramePr>
          <p:cNvPr id="54" name="Table 53"/>
          <p:cNvGraphicFramePr>
            <a:graphicFrameLocks noGrp="1"/>
          </p:cNvGraphicFramePr>
          <p:nvPr/>
        </p:nvGraphicFramePr>
        <p:xfrm>
          <a:off x="548640" y="4645152"/>
          <a:ext cx="3383280" cy="1097280"/>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tblGrid>
              <a:tr h="274320">
                <a:tc>
                  <a:txBody>
                    <a:bodyPr/>
                    <a:lstStyle/>
                    <a:p>
                      <a:pPr algn="l">
                        <a:buNone/>
                      </a:pPr>
                      <a:r>
                        <a:rPr sz="1000" b="0" i="0">
                          <a:solidFill>
                            <a:srgbClr val="1D2733"/>
                          </a:solidFill>
                          <a:latin typeface="Calibri"/>
                        </a:rPr>
                        <a:t>N = 5200 / 48</a:t>
                      </a:r>
                      <a:endParaRPr sz="1000"/>
                    </a:p>
                  </a:txBody>
                  <a:tcPr marL="64008" marR="64008" marT="32004" marB="32004" anchor="ctr">
                    <a:lnL w="0">
                      <a:noFill/>
                    </a:lnL>
                    <a:lnR w="0">
                      <a:noFill/>
                    </a:lnR>
                    <a:lnT w="0">
                      <a:noFill/>
                    </a:lnT>
                    <a:lnB w="9525">
                      <a:solidFill>
                        <a:srgbClr val="D3D9DF"/>
                      </a:solidFill>
                    </a:lnB>
                    <a:noFill/>
                  </a:tcPr>
                </a:tc>
                <a:tc>
                  <a:txBody>
                    <a:bodyPr/>
                    <a:lstStyle/>
                    <a:p>
                      <a:pPr algn="r">
                        <a:buNone/>
                      </a:pPr>
                      <a:r>
                        <a:rPr sz="1000" b="0" i="0">
                          <a:solidFill>
                            <a:srgbClr val="1D2733"/>
                          </a:solidFill>
                          <a:latin typeface="Calibri"/>
                        </a:rPr>
                        <a:t>≈ 108 (+40.7 dB)</a:t>
                      </a:r>
                      <a:endParaRPr sz="1000"/>
                    </a:p>
                  </a:txBody>
                  <a:tcPr marL="64008" marR="64008" marT="32004" marB="32004" anchor="ctr">
                    <a:lnL w="0">
                      <a:noFill/>
                    </a:lnL>
                    <a:lnR w="0">
                      <a:noFill/>
                    </a:lnR>
                    <a:lnT w="0">
                      <a:noFill/>
                    </a:lnT>
                    <a:lnB w="9525">
                      <a:solidFill>
                        <a:srgbClr val="D3D9DF"/>
                      </a:solidFill>
                    </a:lnB>
                    <a:noFill/>
                  </a:tcPr>
                </a:tc>
                <a:extLst>
                  <a:ext uri="{0D108BD9-81ED-4DB2-BD59-A6C34878D82A}">
                    <a16:rowId xmlns:a16="http://schemas.microsoft.com/office/drawing/2014/main" val="10000"/>
                  </a:ext>
                </a:extLst>
              </a:tr>
              <a:tr h="274320">
                <a:tc>
                  <a:txBody>
                    <a:bodyPr/>
                    <a:lstStyle/>
                    <a:p>
                      <a:pPr algn="l">
                        <a:buNone/>
                      </a:pPr>
                      <a:r>
                        <a:rPr sz="1000" b="0" i="0">
                          <a:solidFill>
                            <a:srgbClr val="1D2733"/>
                          </a:solidFill>
                          <a:latin typeface="Calibri"/>
                        </a:rPr>
                        <a:t>1 ps rms jitter</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1.87° rms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74320">
                <a:tc>
                  <a:txBody>
                    <a:bodyPr/>
                    <a:lstStyle/>
                    <a:p>
                      <a:pPr algn="l">
                        <a:buNone/>
                      </a:pPr>
                      <a:r>
                        <a:rPr sz="1000" b="0" i="0">
                          <a:solidFill>
                            <a:srgbClr val="1D2733"/>
                          </a:solidFill>
                          <a:latin typeface="Calibri"/>
                        </a:rPr>
                        <a:t>50 ps static skew</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94° (calibrated)</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74320">
                <a:tc>
                  <a:txBody>
                    <a:bodyPr/>
                    <a:lstStyle/>
                    <a:p>
                      <a:pPr algn="l">
                        <a:buNone/>
                      </a:pPr>
                      <a:r>
                        <a:rPr sz="1000" b="0" i="0">
                          <a:solidFill>
                            <a:srgbClr val="1D2733"/>
                          </a:solidFill>
                          <a:latin typeface="Calibri"/>
                        </a:rPr>
                        <a:t>108 × 48 MHz</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5184 MHz — in band</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A 5.2 GHz calibration network</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Adapted from ESPARGOS. MAX2871: VCO 3–6 GHz, −1 to +8 dBm, mutable outputs. SKY13351: 0.35 dB loss, 24 dB isolation at 2.45 GHz (datasheet); less expected at 5 GHz.</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9</a:t>
            </a:r>
            <a:endParaRPr sz="1000"/>
          </a:p>
        </p:txBody>
      </p:sp>
      <p:sp>
        <p:nvSpPr>
          <p:cNvPr id="5" name="Rectangle 4"/>
          <p:cNvSpPr/>
          <p:nvPr/>
        </p:nvSpPr>
        <p:spPr>
          <a:xfrm>
            <a:off x="548640" y="2194560"/>
            <a:ext cx="1463040" cy="8686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5.2 GHz source</a:t>
            </a:r>
            <a:endParaRPr sz="1200"/>
          </a:p>
          <a:p>
            <a:pPr algn="ctr">
              <a:buNone/>
            </a:pPr>
            <a:r>
              <a:rPr sz="1000" b="0" i="0">
                <a:solidFill>
                  <a:srgbClr val="5B6776"/>
                </a:solidFill>
                <a:latin typeface="Calibri"/>
              </a:rPr>
              <a:t>PLL synthesizer, or a</a:t>
            </a:r>
            <a:endParaRPr sz="1200"/>
          </a:p>
          <a:p>
            <a:pPr algn="ctr">
              <a:buNone/>
            </a:pPr>
            <a:r>
              <a:rPr sz="1000" b="0" i="0">
                <a:solidFill>
                  <a:srgbClr val="5B6776"/>
                </a:solidFill>
                <a:latin typeface="Calibri"/>
              </a:rPr>
              <a:t>17th C5 (cf. ESPARGOS)</a:t>
            </a:r>
            <a:endParaRPr sz="1200"/>
          </a:p>
        </p:txBody>
      </p:sp>
      <p:sp>
        <p:nvSpPr>
          <p:cNvPr id="6" name="Rectangle 5"/>
          <p:cNvSpPr/>
          <p:nvPr/>
        </p:nvSpPr>
        <p:spPr>
          <a:xfrm>
            <a:off x="2377440" y="2240280"/>
            <a:ext cx="1097280" cy="777240"/>
          </a:xfrm>
          <a:prstGeom prst="rect">
            <a:avLst/>
          </a:prstGeom>
          <a:solidFill>
            <a:srgbClr val="FFFFFF"/>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1:2 splitter</a:t>
            </a:r>
            <a:endParaRPr sz="1200"/>
          </a:p>
          <a:p>
            <a:pPr algn="ctr">
              <a:buNone/>
            </a:pPr>
            <a:r>
              <a:rPr sz="1000" b="0" i="0">
                <a:solidFill>
                  <a:srgbClr val="5B6776"/>
                </a:solidFill>
                <a:latin typeface="Calibri"/>
              </a:rPr>
              <a:t>master board</a:t>
            </a:r>
            <a:endParaRPr sz="1200"/>
          </a:p>
        </p:txBody>
      </p:sp>
      <p:cxnSp>
        <p:nvCxnSpPr>
          <p:cNvPr id="7" name="Connector 6"/>
          <p:cNvCxnSpPr/>
          <p:nvPr/>
        </p:nvCxnSpPr>
        <p:spPr>
          <a:xfrm>
            <a:off x="2011680" y="2628900"/>
            <a:ext cx="365760" cy="0"/>
          </a:xfrm>
          <a:prstGeom prst="line">
            <a:avLst/>
          </a:prstGeom>
          <a:ln w="19050">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74720" y="2628900"/>
            <a:ext cx="228600" cy="0"/>
          </a:xfrm>
          <a:prstGeom prst="line">
            <a:avLst/>
          </a:prstGeom>
          <a:ln w="19050">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703320" y="1691640"/>
            <a:ext cx="0" cy="2331720"/>
          </a:xfrm>
          <a:prstGeom prst="line">
            <a:avLst/>
          </a:prstGeom>
          <a:ln w="19050">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703320" y="1691640"/>
            <a:ext cx="502920" cy="0"/>
          </a:xfrm>
          <a:prstGeom prst="line">
            <a:avLst/>
          </a:prstGeom>
          <a:ln w="19050">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1572768"/>
            <a:ext cx="914400" cy="237744"/>
          </a:xfrm>
          <a:prstGeom prst="rect">
            <a:avLst/>
          </a:prstGeom>
          <a:noFill/>
        </p:spPr>
        <p:txBody>
          <a:bodyPr wrap="square" lIns="0" tIns="0" rIns="0" bIns="0" anchor="t">
            <a:spAutoFit/>
          </a:bodyPr>
          <a:lstStyle/>
          <a:p>
            <a:pPr algn="l">
              <a:buNone/>
            </a:pPr>
            <a:r>
              <a:rPr sz="1100" b="0" i="0">
                <a:solidFill>
                  <a:srgbClr val="5B6776"/>
                </a:solidFill>
                <a:latin typeface="Calibri"/>
              </a:rPr>
              <a:t>tile B</a:t>
            </a:r>
            <a:endParaRPr sz="1100"/>
          </a:p>
        </p:txBody>
      </p:sp>
      <p:cxnSp>
        <p:nvCxnSpPr>
          <p:cNvPr id="12" name="Connector 11"/>
          <p:cNvCxnSpPr/>
          <p:nvPr/>
        </p:nvCxnSpPr>
        <p:spPr>
          <a:xfrm>
            <a:off x="3703320" y="4023360"/>
            <a:ext cx="502920" cy="0"/>
          </a:xfrm>
          <a:prstGeom prst="line">
            <a:avLst/>
          </a:prstGeom>
          <a:ln w="19050">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160520" y="2880360"/>
            <a:ext cx="3749039" cy="2148840"/>
          </a:xfrm>
          <a:prstGeom prst="rect">
            <a:avLst/>
          </a:prstGeom>
          <a:noFill/>
          <a:ln w="9525">
            <a:solidFill>
              <a:srgbClr val="D3D9DF"/>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4" name="TextBox 13"/>
          <p:cNvSpPr txBox="1"/>
          <p:nvPr/>
        </p:nvSpPr>
        <p:spPr>
          <a:xfrm>
            <a:off x="4251960" y="2926080"/>
            <a:ext cx="2286000" cy="237744"/>
          </a:xfrm>
          <a:prstGeom prst="rect">
            <a:avLst/>
          </a:prstGeom>
          <a:noFill/>
        </p:spPr>
        <p:txBody>
          <a:bodyPr wrap="square" lIns="0" tIns="0" rIns="0" bIns="0" anchor="t">
            <a:spAutoFit/>
          </a:bodyPr>
          <a:lstStyle/>
          <a:p>
            <a:pPr algn="l">
              <a:buNone/>
            </a:pPr>
            <a:r>
              <a:rPr sz="1100" b="0" i="0">
                <a:solidFill>
                  <a:srgbClr val="5B6776"/>
                </a:solidFill>
                <a:latin typeface="Calibri"/>
              </a:rPr>
              <a:t>tile A (4 of 8 shown)</a:t>
            </a:r>
            <a:endParaRPr sz="1100"/>
          </a:p>
        </p:txBody>
      </p:sp>
      <p:sp>
        <p:nvSpPr>
          <p:cNvPr id="15" name="Rectangle 14"/>
          <p:cNvSpPr/>
          <p:nvPr/>
        </p:nvSpPr>
        <p:spPr>
          <a:xfrm>
            <a:off x="4297680" y="3703320"/>
            <a:ext cx="868680" cy="640080"/>
          </a:xfrm>
          <a:prstGeom prst="rect">
            <a:avLst/>
          </a:prstGeom>
          <a:solidFill>
            <a:srgbClr val="FFFFFF"/>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1:8</a:t>
            </a:r>
            <a:endParaRPr sz="1200"/>
          </a:p>
          <a:p>
            <a:pPr algn="ctr">
              <a:buNone/>
            </a:pPr>
            <a:r>
              <a:rPr sz="1000" b="0" i="0">
                <a:solidFill>
                  <a:srgbClr val="5B6776"/>
                </a:solidFill>
                <a:latin typeface="Calibri"/>
              </a:rPr>
              <a:t>Wilkinson</a:t>
            </a:r>
            <a:endParaRPr sz="1200"/>
          </a:p>
        </p:txBody>
      </p:sp>
      <p:cxnSp>
        <p:nvCxnSpPr>
          <p:cNvPr id="16" name="Connector 15"/>
          <p:cNvCxnSpPr/>
          <p:nvPr/>
        </p:nvCxnSpPr>
        <p:spPr>
          <a:xfrm>
            <a:off x="4206240" y="4023360"/>
            <a:ext cx="91440" cy="0"/>
          </a:xfrm>
          <a:prstGeom prst="line">
            <a:avLst/>
          </a:prstGeom>
          <a:ln w="19050">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66360" y="4023360"/>
            <a:ext cx="182880" cy="0"/>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49240" y="3319272"/>
            <a:ext cx="0" cy="1645920"/>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49240" y="3319272"/>
            <a:ext cx="6858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609844" y="3076956"/>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1" name="Connector 20"/>
          <p:cNvCxnSpPr/>
          <p:nvPr/>
        </p:nvCxnSpPr>
        <p:spPr>
          <a:xfrm>
            <a:off x="5733288" y="3172968"/>
            <a:ext cx="301752" cy="0"/>
          </a:xfrm>
          <a:prstGeom prst="line">
            <a:avLst/>
          </a:prstGeom>
          <a:ln w="952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035040" y="3072384"/>
            <a:ext cx="685800" cy="347472"/>
          </a:xfrm>
          <a:prstGeom prst="rect">
            <a:avLst/>
          </a:prstGeom>
          <a:no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SPDT</a:t>
            </a:r>
            <a:endParaRPr sz="1000"/>
          </a:p>
        </p:txBody>
      </p:sp>
      <p:cxnSp>
        <p:nvCxnSpPr>
          <p:cNvPr id="23" name="Connector 22"/>
          <p:cNvCxnSpPr/>
          <p:nvPr/>
        </p:nvCxnSpPr>
        <p:spPr>
          <a:xfrm>
            <a:off x="6720840" y="3246120"/>
            <a:ext cx="2286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949440" y="3090672"/>
            <a:ext cx="82296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a:t>
            </a:r>
            <a:endParaRPr sz="1000"/>
          </a:p>
        </p:txBody>
      </p:sp>
      <p:cxnSp>
        <p:nvCxnSpPr>
          <p:cNvPr id="25" name="Connector 24"/>
          <p:cNvCxnSpPr/>
          <p:nvPr/>
        </p:nvCxnSpPr>
        <p:spPr>
          <a:xfrm>
            <a:off x="5349240" y="3867912"/>
            <a:ext cx="6858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609844" y="3625596"/>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7" name="Connector 26"/>
          <p:cNvCxnSpPr/>
          <p:nvPr/>
        </p:nvCxnSpPr>
        <p:spPr>
          <a:xfrm>
            <a:off x="5733288" y="3721608"/>
            <a:ext cx="301752" cy="0"/>
          </a:xfrm>
          <a:prstGeom prst="line">
            <a:avLst/>
          </a:prstGeom>
          <a:ln w="952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035040" y="3621024"/>
            <a:ext cx="685800" cy="347472"/>
          </a:xfrm>
          <a:prstGeom prst="rect">
            <a:avLst/>
          </a:prstGeom>
          <a:no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SPDT</a:t>
            </a:r>
            <a:endParaRPr sz="1000"/>
          </a:p>
        </p:txBody>
      </p:sp>
      <p:cxnSp>
        <p:nvCxnSpPr>
          <p:cNvPr id="29" name="Connector 28"/>
          <p:cNvCxnSpPr/>
          <p:nvPr/>
        </p:nvCxnSpPr>
        <p:spPr>
          <a:xfrm>
            <a:off x="6720840" y="3794760"/>
            <a:ext cx="2286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949440" y="3639312"/>
            <a:ext cx="82296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a:t>
            </a:r>
            <a:endParaRPr sz="1000"/>
          </a:p>
        </p:txBody>
      </p:sp>
      <p:cxnSp>
        <p:nvCxnSpPr>
          <p:cNvPr id="31" name="Connector 30"/>
          <p:cNvCxnSpPr/>
          <p:nvPr/>
        </p:nvCxnSpPr>
        <p:spPr>
          <a:xfrm>
            <a:off x="5349240" y="4416552"/>
            <a:ext cx="6858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609844" y="4174235"/>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33" name="Connector 32"/>
          <p:cNvCxnSpPr/>
          <p:nvPr/>
        </p:nvCxnSpPr>
        <p:spPr>
          <a:xfrm>
            <a:off x="5733288" y="4270248"/>
            <a:ext cx="301752" cy="0"/>
          </a:xfrm>
          <a:prstGeom prst="line">
            <a:avLst/>
          </a:prstGeom>
          <a:ln w="952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035040" y="4169663"/>
            <a:ext cx="685800" cy="347472"/>
          </a:xfrm>
          <a:prstGeom prst="rect">
            <a:avLst/>
          </a:prstGeom>
          <a:no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SPDT</a:t>
            </a:r>
            <a:endParaRPr sz="1000"/>
          </a:p>
        </p:txBody>
      </p:sp>
      <p:cxnSp>
        <p:nvCxnSpPr>
          <p:cNvPr id="35" name="Connector 34"/>
          <p:cNvCxnSpPr/>
          <p:nvPr/>
        </p:nvCxnSpPr>
        <p:spPr>
          <a:xfrm>
            <a:off x="6720840" y="4343400"/>
            <a:ext cx="2286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949440" y="4187952"/>
            <a:ext cx="82296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a:t>
            </a:r>
            <a:endParaRPr sz="1000"/>
          </a:p>
        </p:txBody>
      </p:sp>
      <p:cxnSp>
        <p:nvCxnSpPr>
          <p:cNvPr id="37" name="Connector 36"/>
          <p:cNvCxnSpPr/>
          <p:nvPr/>
        </p:nvCxnSpPr>
        <p:spPr>
          <a:xfrm>
            <a:off x="5349240" y="4965192"/>
            <a:ext cx="6858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609844" y="4722875"/>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39" name="Connector 38"/>
          <p:cNvCxnSpPr/>
          <p:nvPr/>
        </p:nvCxnSpPr>
        <p:spPr>
          <a:xfrm>
            <a:off x="5733288" y="4818888"/>
            <a:ext cx="301752" cy="0"/>
          </a:xfrm>
          <a:prstGeom prst="line">
            <a:avLst/>
          </a:prstGeom>
          <a:ln w="952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6035040" y="4718303"/>
            <a:ext cx="685800" cy="347472"/>
          </a:xfrm>
          <a:prstGeom prst="rect">
            <a:avLst/>
          </a:prstGeom>
          <a:no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SPDT</a:t>
            </a:r>
            <a:endParaRPr sz="1000"/>
          </a:p>
        </p:txBody>
      </p:sp>
      <p:cxnSp>
        <p:nvCxnSpPr>
          <p:cNvPr id="41" name="Connector 40"/>
          <p:cNvCxnSpPr/>
          <p:nvPr/>
        </p:nvCxnSpPr>
        <p:spPr>
          <a:xfrm>
            <a:off x="6720840" y="4892040"/>
            <a:ext cx="228600"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949440" y="4736592"/>
            <a:ext cx="822960" cy="310896"/>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a:t>
            </a:r>
            <a:endParaRPr sz="1000"/>
          </a:p>
        </p:txBody>
      </p:sp>
      <p:sp>
        <p:nvSpPr>
          <p:cNvPr id="43" name="TextBox 42"/>
          <p:cNvSpPr txBox="1"/>
          <p:nvPr/>
        </p:nvSpPr>
        <p:spPr>
          <a:xfrm>
            <a:off x="548640" y="3886200"/>
            <a:ext cx="3017520" cy="548640"/>
          </a:xfrm>
          <a:prstGeom prst="rect">
            <a:avLst/>
          </a:prstGeom>
          <a:noFill/>
        </p:spPr>
        <p:txBody>
          <a:bodyPr wrap="square" lIns="0" tIns="0" rIns="0" bIns="0" anchor="t">
            <a:spAutoFit/>
          </a:bodyPr>
          <a:lstStyle/>
          <a:p>
            <a:pPr algn="l">
              <a:buNone/>
            </a:pPr>
            <a:r>
              <a:rPr sz="1000" b="0" i="0">
                <a:solidFill>
                  <a:srgbClr val="5B6776"/>
                </a:solidFill>
                <a:latin typeface="Calibri"/>
              </a:rPr>
              <a:t>Each SPDT: upper input from the antenna, lower input from the calibration splitter.</a:t>
            </a:r>
            <a:endParaRPr sz="1000"/>
          </a:p>
        </p:txBody>
      </p:sp>
      <p:sp>
        <p:nvSpPr>
          <p:cNvPr id="44" name="TextBox 43"/>
          <p:cNvSpPr txBox="1"/>
          <p:nvPr/>
        </p:nvSpPr>
        <p:spPr>
          <a:xfrm>
            <a:off x="548640" y="4846320"/>
            <a:ext cx="3291840" cy="274320"/>
          </a:xfrm>
          <a:prstGeom prst="rect">
            <a:avLst/>
          </a:prstGeom>
          <a:noFill/>
        </p:spPr>
        <p:txBody>
          <a:bodyPr wrap="square" lIns="0" tIns="0" rIns="0" bIns="0" anchor="t">
            <a:spAutoFit/>
          </a:bodyPr>
          <a:lstStyle/>
          <a:p>
            <a:pPr algn="l">
              <a:buNone/>
            </a:pPr>
            <a:r>
              <a:rPr sz="1300" b="0" i="0">
                <a:solidFill>
                  <a:srgbClr val="1D2733"/>
                </a:solidFill>
                <a:latin typeface="Calibri"/>
              </a:rPr>
              <a:t>Indicative level budget</a:t>
            </a:r>
            <a:endParaRPr sz="1300"/>
          </a:p>
        </p:txBody>
      </p:sp>
      <p:graphicFrame>
        <p:nvGraphicFramePr>
          <p:cNvPr id="45" name="Table 44"/>
          <p:cNvGraphicFramePr>
            <a:graphicFrameLocks noGrp="1"/>
          </p:cNvGraphicFramePr>
          <p:nvPr/>
        </p:nvGraphicFramePr>
        <p:xfrm>
          <a:off x="548640" y="5166360"/>
          <a:ext cx="3611880" cy="114300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tblGrid>
              <a:tr h="228600">
                <a:tc>
                  <a:txBody>
                    <a:bodyPr/>
                    <a:lstStyle/>
                    <a:p>
                      <a:pPr algn="l">
                        <a:buNone/>
                      </a:pPr>
                      <a:r>
                        <a:rPr sz="1000" b="0" i="0">
                          <a:solidFill>
                            <a:srgbClr val="5B6776"/>
                          </a:solidFill>
                          <a:latin typeface="Calibri"/>
                        </a:rPr>
                        <a:t>Stage</a:t>
                      </a:r>
                      <a:endParaRPr sz="1000"/>
                    </a:p>
                  </a:txBody>
                  <a:tcPr marL="64008" marR="64008" marT="32004" marB="32004" anchor="ctr">
                    <a:lnL w="0">
                      <a:noFill/>
                    </a:lnL>
                    <a:lnR w="0">
                      <a:noFill/>
                    </a:lnR>
                    <a:lnT w="0">
                      <a:noFill/>
                    </a:lnT>
                    <a:lnB w="12700">
                      <a:solidFill>
                        <a:srgbClr val="7F8B97"/>
                      </a:solidFill>
                    </a:lnB>
                    <a:noFill/>
                  </a:tcPr>
                </a:tc>
                <a:tc>
                  <a:txBody>
                    <a:bodyPr/>
                    <a:lstStyle/>
                    <a:p>
                      <a:pPr algn="r">
                        <a:buNone/>
                      </a:pPr>
                      <a:r>
                        <a:rPr sz="1000" b="0" i="0">
                          <a:solidFill>
                            <a:srgbClr val="5B6776"/>
                          </a:solidFill>
                          <a:latin typeface="Calibri"/>
                        </a:rPr>
                        <a:t>Loss</a:t>
                      </a:r>
                      <a:endParaRPr sz="10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228600">
                <a:tc>
                  <a:txBody>
                    <a:bodyPr/>
                    <a:lstStyle/>
                    <a:p>
                      <a:pPr algn="l">
                        <a:buNone/>
                      </a:pPr>
                      <a:r>
                        <a:rPr sz="1000" b="0" i="0">
                          <a:solidFill>
                            <a:srgbClr val="1D2733"/>
                          </a:solidFill>
                          <a:latin typeface="Calibri"/>
                        </a:rPr>
                        <a:t>1:2 + 1:8 split (ideal 3 + 9 dB)</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 14–15 dB</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28600">
                <a:tc>
                  <a:txBody>
                    <a:bodyPr/>
                    <a:lstStyle/>
                    <a:p>
                      <a:pPr algn="l">
                        <a:buNone/>
                      </a:pPr>
                      <a:r>
                        <a:rPr sz="1000" b="0" i="0">
                          <a:solidFill>
                            <a:srgbClr val="1D2733"/>
                          </a:solidFill>
                          <a:latin typeface="Calibri"/>
                        </a:rPr>
                        <a:t>cables + ≈ 18 cm of tile lines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 5–7 dB</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28600">
                <a:tc>
                  <a:txBody>
                    <a:bodyPr/>
                    <a:lstStyle/>
                    <a:p>
                      <a:pPr algn="l">
                        <a:buNone/>
                      </a:pPr>
                      <a:r>
                        <a:rPr sz="1000" b="0" i="0">
                          <a:solidFill>
                            <a:srgbClr val="1D2733"/>
                          </a:solidFill>
                          <a:latin typeface="Calibri"/>
                        </a:rPr>
                        <a:t>SPDT insertion loss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 1 dB</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28600">
                <a:tc>
                  <a:txBody>
                    <a:bodyPr/>
                    <a:lstStyle/>
                    <a:p>
                      <a:pPr algn="l">
                        <a:buNone/>
                      </a:pPr>
                      <a:r>
                        <a:rPr sz="1000" b="0" i="0">
                          <a:solidFill>
                            <a:srgbClr val="1D2733"/>
                          </a:solidFill>
                          <a:latin typeface="Calibri"/>
                        </a:rPr>
                        <a:t>source 0 dBm → at each C5</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 −20 to −23 dBm</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bl>
          </a:graphicData>
        </a:graphic>
      </p:graphicFrame>
      <p:sp>
        <p:nvSpPr>
          <p:cNvPr id="46" name="TextBox 45"/>
          <p:cNvSpPr txBox="1"/>
          <p:nvPr/>
        </p:nvSpPr>
        <p:spPr>
          <a:xfrm>
            <a:off x="4251960" y="5166360"/>
            <a:ext cx="3657600" cy="1097280"/>
          </a:xfrm>
          <a:prstGeom prst="rect">
            <a:avLst/>
          </a:prstGeom>
          <a:noFill/>
        </p:spPr>
        <p:txBody>
          <a:bodyPr wrap="square" lIns="0" tIns="0" rIns="0" bIns="0" anchor="t">
            <a:spAutoFit/>
          </a:bodyPr>
          <a:lstStyle/>
          <a:p>
            <a:pPr algn="l">
              <a:buNone/>
            </a:pPr>
            <a:r>
              <a:rPr sz="1100" b="0" i="0">
                <a:solidFill>
                  <a:srgbClr val="5B6776"/>
                </a:solidFill>
                <a:latin typeface="Calibri"/>
              </a:rPr>
              <a:t>Well below the C5's +5 dBm maximum input, but enough to clip the 10-bit samples at high gain: attenuate and use one low, fixed gain index. SKY13351-class switches specify ≈ 24 dB isolation (at 2.45 GHz; likely less at 5 GHz), so mute the synthesizer during antenna captures.</a:t>
            </a:r>
            <a:endParaRPr sz="1100"/>
          </a:p>
        </p:txBody>
      </p:sp>
      <p:sp>
        <p:nvSpPr>
          <p:cNvPr id="47" name="TextBox 46"/>
          <p:cNvSpPr txBox="1"/>
          <p:nvPr/>
        </p:nvSpPr>
        <p:spPr>
          <a:xfrm>
            <a:off x="8183879" y="1280160"/>
            <a:ext cx="3474720" cy="274320"/>
          </a:xfrm>
          <a:prstGeom prst="rect">
            <a:avLst/>
          </a:prstGeom>
          <a:noFill/>
        </p:spPr>
        <p:txBody>
          <a:bodyPr wrap="square" lIns="0" tIns="0" rIns="0" bIns="0" anchor="t">
            <a:spAutoFit/>
          </a:bodyPr>
          <a:lstStyle/>
          <a:p>
            <a:pPr algn="l">
              <a:buNone/>
            </a:pPr>
            <a:r>
              <a:rPr sz="1400" b="0" i="0">
                <a:solidFill>
                  <a:srgbClr val="1D2733"/>
                </a:solidFill>
                <a:latin typeface="Calibri"/>
              </a:rPr>
              <a:t>Global source or one per tile?</a:t>
            </a:r>
            <a:endParaRPr sz="1400"/>
          </a:p>
        </p:txBody>
      </p:sp>
      <p:graphicFrame>
        <p:nvGraphicFramePr>
          <p:cNvPr id="48" name="Table 47"/>
          <p:cNvGraphicFramePr>
            <a:graphicFrameLocks noGrp="1"/>
          </p:cNvGraphicFramePr>
          <p:nvPr/>
        </p:nvGraphicFramePr>
        <p:xfrm>
          <a:off x="8183879" y="1645920"/>
          <a:ext cx="3474720" cy="2286000"/>
        </p:xfrm>
        <a:graphic>
          <a:graphicData uri="http://schemas.openxmlformats.org/drawingml/2006/table">
            <a:tbl>
              <a:tblPr>
                <a:tableStyleId>{2D5ABB26-0587-4C30-8999-92F81FD0307C}</a:tableStyleId>
              </a:tblPr>
              <a:tblGrid>
                <a:gridCol w="1371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57200">
                <a:tc>
                  <a:txBody>
                    <a:bodyPr/>
                    <a:lstStyle/>
                    <a:p>
                      <a:pPr algn="l">
                        <a:buNone/>
                      </a:pPr>
                      <a:endParaRPr sz="1000"/>
                    </a:p>
                  </a:txBody>
                  <a:tcPr marL="64008" marR="64008" marT="32004" marB="32004" anchor="ctr">
                    <a:lnL w="0">
                      <a:noFill/>
                    </a:lnL>
                    <a:lnR w="0">
                      <a:noFill/>
                    </a:lnR>
                    <a:lnT w="0">
                      <a:noFill/>
                    </a:lnT>
                    <a:lnB w="12700">
                      <a:solidFill>
                        <a:srgbClr val="7F8B97"/>
                      </a:solidFill>
                    </a:lnB>
                    <a:noFill/>
                  </a:tcPr>
                </a:tc>
                <a:tc>
                  <a:txBody>
                    <a:bodyPr/>
                    <a:lstStyle/>
                    <a:p>
                      <a:pPr algn="l">
                        <a:buNone/>
                      </a:pPr>
                      <a:r>
                        <a:rPr sz="1000" b="0" i="0">
                          <a:solidFill>
                            <a:srgbClr val="5B6776"/>
                          </a:solidFill>
                          <a:latin typeface="Calibri"/>
                        </a:rPr>
                        <a:t>Global</a:t>
                      </a:r>
                      <a:endParaRPr sz="1000"/>
                    </a:p>
                  </a:txBody>
                  <a:tcPr marL="64008" marR="64008" marT="32004" marB="32004" anchor="ctr">
                    <a:lnL w="0">
                      <a:noFill/>
                    </a:lnL>
                    <a:lnR w="0">
                      <a:noFill/>
                    </a:lnR>
                    <a:lnT w="0">
                      <a:noFill/>
                    </a:lnT>
                    <a:lnB w="12700">
                      <a:solidFill>
                        <a:srgbClr val="7F8B97"/>
                      </a:solidFill>
                    </a:lnB>
                    <a:noFill/>
                  </a:tcPr>
                </a:tc>
                <a:tc>
                  <a:txBody>
                    <a:bodyPr/>
                    <a:lstStyle/>
                    <a:p>
                      <a:pPr algn="l">
                        <a:buNone/>
                      </a:pPr>
                      <a:r>
                        <a:rPr sz="1000" b="0" i="0">
                          <a:solidFill>
                            <a:srgbClr val="5B6776"/>
                          </a:solidFill>
                          <a:latin typeface="Calibri"/>
                        </a:rPr>
                        <a:t>Per tile</a:t>
                      </a:r>
                      <a:endParaRPr sz="10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457200">
                <a:tc>
                  <a:txBody>
                    <a:bodyPr/>
                    <a:lstStyle/>
                    <a:p>
                      <a:pPr algn="l">
                        <a:buNone/>
                      </a:pPr>
                      <a:r>
                        <a:rPr sz="1000" b="0" i="0">
                          <a:solidFill>
                            <a:srgbClr val="1D2733"/>
                          </a:solidFill>
                          <a:latin typeface="Calibri"/>
                        </a:rPr>
                        <a:t>Inter-tile phase reference</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yes, common</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none — needs OTA step</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457200">
                <a:tc>
                  <a:txBody>
                    <a:bodyPr/>
                    <a:lstStyle/>
                    <a:p>
                      <a:pPr algn="l">
                        <a:buNone/>
                      </a:pPr>
                      <a:r>
                        <a:rPr sz="1000" b="0" i="0">
                          <a:solidFill>
                            <a:srgbClr val="1D2733"/>
                          </a:solidFill>
                          <a:latin typeface="Calibri"/>
                        </a:rPr>
                        <a:t>RF routing</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2 cables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local only</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457200">
                <a:tc>
                  <a:txBody>
                    <a:bodyPr/>
                    <a:lstStyle/>
                    <a:p>
                      <a:pPr algn="l">
                        <a:buNone/>
                      </a:pPr>
                      <a:r>
                        <a:rPr sz="1000" b="0" i="0">
                          <a:solidFill>
                            <a:srgbClr val="1D2733"/>
                          </a:solidFill>
                          <a:latin typeface="Calibri"/>
                        </a:rPr>
                        <a:t>Cost / parts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1 source</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2 sources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457200">
                <a:tc>
                  <a:txBody>
                    <a:bodyPr/>
                    <a:lstStyle/>
                    <a:p>
                      <a:pPr algn="l">
                        <a:buNone/>
                      </a:pPr>
                      <a:r>
                        <a:rPr sz="1000" b="0" i="0">
                          <a:solidFill>
                            <a:srgbClr val="1D2733"/>
                          </a:solidFill>
                          <a:latin typeface="Calibri"/>
                        </a:rPr>
                        <a:t>Tiles testable alone</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with a jumper</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yes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bl>
          </a:graphicData>
        </a:graphic>
      </p:graphicFrame>
      <p:sp>
        <p:nvSpPr>
          <p:cNvPr id="49" name="TextBox 48"/>
          <p:cNvSpPr txBox="1"/>
          <p:nvPr/>
        </p:nvSpPr>
        <p:spPr>
          <a:xfrm>
            <a:off x="8183879" y="4069080"/>
            <a:ext cx="3474720" cy="1737360"/>
          </a:xfrm>
          <a:prstGeom prst="rect">
            <a:avLst/>
          </a:prstGeom>
          <a:noFill/>
        </p:spPr>
        <p:txBody>
          <a:bodyPr wrap="square" lIns="0" tIns="0" rIns="0" bIns="0" anchor="t">
            <a:spAutoFit/>
          </a:bodyPr>
          <a:lstStyle/>
          <a:p>
            <a:pPr algn="l">
              <a:buNone/>
            </a:pPr>
            <a:r>
              <a:rPr sz="1100" b="0" i="0">
                <a:solidFill>
                  <a:srgbClr val="1D2733"/>
                </a:solidFill>
                <a:latin typeface="Calibri"/>
              </a:rPr>
              <a:t>Proposal: </a:t>
            </a:r>
            <a:r>
              <a:rPr sz="1100" b="0" i="0">
                <a:solidFill>
                  <a:srgbClr val="5B6776"/>
                </a:solidFill>
                <a:latin typeface="Calibri"/>
              </a:rPr>
              <a:t>one MAX2871-class source on the master board, a 1:2 split to the tiles, a 1:8 Wilkinson tree and eight SPDTs per tile. Each tile also gets a local test input so it can be calibrated alone during bring-up.</a:t>
            </a:r>
            <a:endParaRPr sz="1100"/>
          </a:p>
        </p:txBody>
      </p:sp>
      <p:sp>
        <p:nvSpPr>
          <p:cNvPr id="50" name="status Engineering inference"/>
          <p:cNvSpPr/>
          <p:nvPr/>
        </p:nvSpPr>
        <p:spPr>
          <a:xfrm>
            <a:off x="8188452" y="5554980"/>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2480" y="5513832"/>
            <a:ext cx="3200400" cy="237744"/>
          </a:xfrm>
          <a:prstGeom prst="rect">
            <a:avLst/>
          </a:prstGeom>
          <a:noFill/>
        </p:spPr>
        <p:txBody>
          <a:bodyPr wrap="square" lIns="0" tIns="0" rIns="0" bIns="0" anchor="t">
            <a:spAutoFit/>
          </a:bodyPr>
          <a:lstStyle/>
          <a:p>
            <a:pPr algn="l">
              <a:buNone/>
            </a:pPr>
            <a:r>
              <a:rPr sz="1000" b="0" i="0">
                <a:solidFill>
                  <a:srgbClr val="5B6776"/>
                </a:solidFill>
                <a:latin typeface="Calibri"/>
              </a:rPr>
              <a:t>architecture choice, adapted from ESPARGOS</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Calibration is a measurement loop</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Procedure follows ESPARGOS One IQ mode (pyespargos iq_sync / iq_pool): packet-timestamp coarse sync, swept CW tone for (τ, φ), valid for one capture epoch.</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10</a:t>
            </a:r>
            <a:endParaRPr sz="1000"/>
          </a:p>
        </p:txBody>
      </p:sp>
      <p:sp>
        <p:nvSpPr>
          <p:cNvPr id="5" name="Rectangle 4"/>
          <p:cNvSpPr/>
          <p:nvPr/>
        </p:nvSpPr>
        <p:spPr>
          <a:xfrm>
            <a:off x="548640" y="1417320"/>
            <a:ext cx="2057400" cy="123444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6" name="TextBox 5"/>
          <p:cNvSpPr txBox="1"/>
          <p:nvPr/>
        </p:nvSpPr>
        <p:spPr>
          <a:xfrm>
            <a:off x="658368" y="1508760"/>
            <a:ext cx="365760" cy="365760"/>
          </a:xfrm>
          <a:prstGeom prst="rect">
            <a:avLst/>
          </a:prstGeom>
          <a:noFill/>
        </p:spPr>
        <p:txBody>
          <a:bodyPr wrap="square" lIns="0" tIns="0" rIns="0" bIns="0" anchor="t">
            <a:spAutoFit/>
          </a:bodyPr>
          <a:lstStyle/>
          <a:p>
            <a:pPr algn="l">
              <a:buNone/>
            </a:pPr>
            <a:r>
              <a:rPr sz="2000" b="0" i="0">
                <a:solidFill>
                  <a:srgbClr val="1F5C99"/>
                </a:solidFill>
                <a:latin typeface="Calibri Light"/>
              </a:rPr>
              <a:t>1</a:t>
            </a:r>
            <a:endParaRPr sz="2000"/>
          </a:p>
        </p:txBody>
      </p:sp>
      <p:sp>
        <p:nvSpPr>
          <p:cNvPr id="7" name="TextBox 6"/>
          <p:cNvSpPr txBox="1"/>
          <p:nvPr/>
        </p:nvSpPr>
        <p:spPr>
          <a:xfrm>
            <a:off x="658368" y="1874519"/>
            <a:ext cx="1837943" cy="274320"/>
          </a:xfrm>
          <a:prstGeom prst="rect">
            <a:avLst/>
          </a:prstGeom>
          <a:noFill/>
        </p:spPr>
        <p:txBody>
          <a:bodyPr wrap="square" lIns="0" tIns="0" rIns="0" bIns="0" anchor="t">
            <a:spAutoFit/>
          </a:bodyPr>
          <a:lstStyle/>
          <a:p>
            <a:pPr algn="l">
              <a:buNone/>
            </a:pPr>
            <a:r>
              <a:rPr sz="1300" b="0" i="0">
                <a:solidFill>
                  <a:srgbClr val="1D2733"/>
                </a:solidFill>
                <a:latin typeface="Calibri"/>
              </a:rPr>
              <a:t>Lock and fix gain</a:t>
            </a:r>
            <a:endParaRPr sz="1300"/>
          </a:p>
        </p:txBody>
      </p:sp>
      <p:sp>
        <p:nvSpPr>
          <p:cNvPr id="8" name="TextBox 7"/>
          <p:cNvSpPr txBox="1"/>
          <p:nvPr/>
        </p:nvSpPr>
        <p:spPr>
          <a:xfrm>
            <a:off x="658368" y="2167128"/>
            <a:ext cx="1837943" cy="457200"/>
          </a:xfrm>
          <a:prstGeom prst="rect">
            <a:avLst/>
          </a:prstGeom>
          <a:noFill/>
        </p:spPr>
        <p:txBody>
          <a:bodyPr wrap="square" lIns="0" tIns="0" rIns="0" bIns="0" anchor="t">
            <a:spAutoFit/>
          </a:bodyPr>
          <a:lstStyle/>
          <a:p>
            <a:pPr algn="l">
              <a:buNone/>
            </a:pPr>
            <a:r>
              <a:rPr sz="1000" b="0" i="0">
                <a:solidFill>
                  <a:srgbClr val="5B6776"/>
                </a:solidFill>
                <a:latin typeface="Calibri"/>
              </a:rPr>
              <a:t>tune all C5s, disable AGC, set the same manual gain</a:t>
            </a:r>
            <a:endParaRPr sz="1000"/>
          </a:p>
        </p:txBody>
      </p:sp>
      <p:cxnSp>
        <p:nvCxnSpPr>
          <p:cNvPr id="9" name="Connector 8"/>
          <p:cNvCxnSpPr/>
          <p:nvPr/>
        </p:nvCxnSpPr>
        <p:spPr>
          <a:xfrm>
            <a:off x="2606040" y="2034540"/>
            <a:ext cx="182880" cy="0"/>
          </a:xfrm>
          <a:prstGeom prst="line">
            <a:avLst/>
          </a:prstGeom>
          <a:ln w="12700">
            <a:solidFill>
              <a:srgbClr val="7F8B97"/>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88920" y="1417320"/>
            <a:ext cx="2057400" cy="123444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1" name="TextBox 10"/>
          <p:cNvSpPr txBox="1"/>
          <p:nvPr/>
        </p:nvSpPr>
        <p:spPr>
          <a:xfrm>
            <a:off x="2898648" y="1508760"/>
            <a:ext cx="365760" cy="365760"/>
          </a:xfrm>
          <a:prstGeom prst="rect">
            <a:avLst/>
          </a:prstGeom>
          <a:noFill/>
        </p:spPr>
        <p:txBody>
          <a:bodyPr wrap="square" lIns="0" tIns="0" rIns="0" bIns="0" anchor="t">
            <a:spAutoFit/>
          </a:bodyPr>
          <a:lstStyle/>
          <a:p>
            <a:pPr algn="l">
              <a:buNone/>
            </a:pPr>
            <a:r>
              <a:rPr sz="2000" b="0" i="0">
                <a:solidFill>
                  <a:srgbClr val="1F5C99"/>
                </a:solidFill>
                <a:latin typeface="Calibri Light"/>
              </a:rPr>
              <a:t>2</a:t>
            </a:r>
            <a:endParaRPr sz="2000"/>
          </a:p>
        </p:txBody>
      </p:sp>
      <p:sp>
        <p:nvSpPr>
          <p:cNvPr id="12" name="TextBox 11"/>
          <p:cNvSpPr txBox="1"/>
          <p:nvPr/>
        </p:nvSpPr>
        <p:spPr>
          <a:xfrm>
            <a:off x="2898648" y="1874519"/>
            <a:ext cx="1837943" cy="274320"/>
          </a:xfrm>
          <a:prstGeom prst="rect">
            <a:avLst/>
          </a:prstGeom>
          <a:noFill/>
        </p:spPr>
        <p:txBody>
          <a:bodyPr wrap="square" lIns="0" tIns="0" rIns="0" bIns="0" anchor="t">
            <a:spAutoFit/>
          </a:bodyPr>
          <a:lstStyle/>
          <a:p>
            <a:pPr algn="l">
              <a:buNone/>
            </a:pPr>
            <a:r>
              <a:rPr sz="1300" b="0" i="0">
                <a:solidFill>
                  <a:srgbClr val="1D2733"/>
                </a:solidFill>
                <a:latin typeface="Calibri"/>
              </a:rPr>
              <a:t>Measure the reference</a:t>
            </a:r>
            <a:endParaRPr sz="1300"/>
          </a:p>
        </p:txBody>
      </p:sp>
      <p:sp>
        <p:nvSpPr>
          <p:cNvPr id="13" name="TextBox 12"/>
          <p:cNvSpPr txBox="1"/>
          <p:nvPr/>
        </p:nvSpPr>
        <p:spPr>
          <a:xfrm>
            <a:off x="2898648" y="2167128"/>
            <a:ext cx="1837943" cy="457200"/>
          </a:xfrm>
          <a:prstGeom prst="rect">
            <a:avLst/>
          </a:prstGeom>
          <a:noFill/>
        </p:spPr>
        <p:txBody>
          <a:bodyPr wrap="square" lIns="0" tIns="0" rIns="0" bIns="0" anchor="t">
            <a:spAutoFit/>
          </a:bodyPr>
          <a:lstStyle/>
          <a:p>
            <a:pPr algn="l">
              <a:buNone/>
            </a:pPr>
            <a:r>
              <a:rPr sz="1000" b="0" i="0">
                <a:solidFill>
                  <a:srgbClr val="5B6776"/>
                </a:solidFill>
                <a:latin typeface="Calibri"/>
              </a:rPr>
              <a:t>all SPDTs to CAL; step the tone across the band, one snapshot per step</a:t>
            </a:r>
            <a:endParaRPr sz="1000"/>
          </a:p>
        </p:txBody>
      </p:sp>
      <p:cxnSp>
        <p:nvCxnSpPr>
          <p:cNvPr id="14" name="Connector 13"/>
          <p:cNvCxnSpPr/>
          <p:nvPr/>
        </p:nvCxnSpPr>
        <p:spPr>
          <a:xfrm>
            <a:off x="4846320" y="2034540"/>
            <a:ext cx="182880" cy="0"/>
          </a:xfrm>
          <a:prstGeom prst="line">
            <a:avLst/>
          </a:prstGeom>
          <a:ln w="12700">
            <a:solidFill>
              <a:srgbClr val="7F8B97"/>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0" y="1417320"/>
            <a:ext cx="2057400" cy="123444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6" name="TextBox 15"/>
          <p:cNvSpPr txBox="1"/>
          <p:nvPr/>
        </p:nvSpPr>
        <p:spPr>
          <a:xfrm>
            <a:off x="5138928" y="1508760"/>
            <a:ext cx="365760" cy="365760"/>
          </a:xfrm>
          <a:prstGeom prst="rect">
            <a:avLst/>
          </a:prstGeom>
          <a:noFill/>
        </p:spPr>
        <p:txBody>
          <a:bodyPr wrap="square" lIns="0" tIns="0" rIns="0" bIns="0" anchor="t">
            <a:spAutoFit/>
          </a:bodyPr>
          <a:lstStyle/>
          <a:p>
            <a:pPr algn="l">
              <a:buNone/>
            </a:pPr>
            <a:r>
              <a:rPr sz="2000" b="0" i="0">
                <a:solidFill>
                  <a:srgbClr val="1F5C99"/>
                </a:solidFill>
                <a:latin typeface="Calibri Light"/>
              </a:rPr>
              <a:t>3</a:t>
            </a:r>
            <a:endParaRPr sz="2000"/>
          </a:p>
        </p:txBody>
      </p:sp>
      <p:sp>
        <p:nvSpPr>
          <p:cNvPr id="17" name="TextBox 16"/>
          <p:cNvSpPr txBox="1"/>
          <p:nvPr/>
        </p:nvSpPr>
        <p:spPr>
          <a:xfrm>
            <a:off x="5138928" y="1874519"/>
            <a:ext cx="1837943" cy="274320"/>
          </a:xfrm>
          <a:prstGeom prst="rect">
            <a:avLst/>
          </a:prstGeom>
          <a:noFill/>
        </p:spPr>
        <p:txBody>
          <a:bodyPr wrap="square" lIns="0" tIns="0" rIns="0" bIns="0" anchor="t">
            <a:spAutoFit/>
          </a:bodyPr>
          <a:lstStyle/>
          <a:p>
            <a:pPr algn="l">
              <a:buNone/>
            </a:pPr>
            <a:r>
              <a:rPr sz="1300" b="0" i="0">
                <a:solidFill>
                  <a:srgbClr val="1D2733"/>
                </a:solidFill>
                <a:latin typeface="Calibri"/>
              </a:rPr>
              <a:t>Estimate offsets</a:t>
            </a:r>
            <a:endParaRPr sz="1300"/>
          </a:p>
        </p:txBody>
      </p:sp>
      <p:sp>
        <p:nvSpPr>
          <p:cNvPr id="18" name="TextBox 17"/>
          <p:cNvSpPr txBox="1"/>
          <p:nvPr/>
        </p:nvSpPr>
        <p:spPr>
          <a:xfrm>
            <a:off x="5138928" y="2167128"/>
            <a:ext cx="1837943" cy="457200"/>
          </a:xfrm>
          <a:prstGeom prst="rect">
            <a:avLst/>
          </a:prstGeom>
          <a:noFill/>
        </p:spPr>
        <p:txBody>
          <a:bodyPr wrap="square" lIns="0" tIns="0" rIns="0" bIns="0" anchor="t">
            <a:spAutoFit/>
          </a:bodyPr>
          <a:lstStyle/>
          <a:p>
            <a:pPr algn="l">
              <a:buNone/>
            </a:pPr>
            <a:r>
              <a:rPr sz="1000" b="0" i="0">
                <a:solidFill>
                  <a:srgbClr val="5B6776"/>
                </a:solidFill>
                <a:latin typeface="Calibri"/>
              </a:rPr>
              <a:t>per element: gain gₖ, phase φₖ; delay τₖ from the phase slope across steps</a:t>
            </a:r>
            <a:endParaRPr sz="1000"/>
          </a:p>
        </p:txBody>
      </p:sp>
      <p:cxnSp>
        <p:nvCxnSpPr>
          <p:cNvPr id="19" name="Connector 18"/>
          <p:cNvCxnSpPr/>
          <p:nvPr/>
        </p:nvCxnSpPr>
        <p:spPr>
          <a:xfrm>
            <a:off x="7086600" y="2034540"/>
            <a:ext cx="182880" cy="0"/>
          </a:xfrm>
          <a:prstGeom prst="line">
            <a:avLst/>
          </a:prstGeom>
          <a:ln w="12700">
            <a:solidFill>
              <a:srgbClr val="7F8B97"/>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269480" y="1417320"/>
            <a:ext cx="2057400" cy="123444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1" name="TextBox 20"/>
          <p:cNvSpPr txBox="1"/>
          <p:nvPr/>
        </p:nvSpPr>
        <p:spPr>
          <a:xfrm>
            <a:off x="7379208" y="1508760"/>
            <a:ext cx="365760" cy="365760"/>
          </a:xfrm>
          <a:prstGeom prst="rect">
            <a:avLst/>
          </a:prstGeom>
          <a:noFill/>
        </p:spPr>
        <p:txBody>
          <a:bodyPr wrap="square" lIns="0" tIns="0" rIns="0" bIns="0" anchor="t">
            <a:spAutoFit/>
          </a:bodyPr>
          <a:lstStyle/>
          <a:p>
            <a:pPr algn="l">
              <a:buNone/>
            </a:pPr>
            <a:r>
              <a:rPr sz="2000" b="0" i="0">
                <a:solidFill>
                  <a:srgbClr val="1F5C99"/>
                </a:solidFill>
                <a:latin typeface="Calibri Light"/>
              </a:rPr>
              <a:t>4</a:t>
            </a:r>
            <a:endParaRPr sz="2000"/>
          </a:p>
        </p:txBody>
      </p:sp>
      <p:sp>
        <p:nvSpPr>
          <p:cNvPr id="22" name="TextBox 21"/>
          <p:cNvSpPr txBox="1"/>
          <p:nvPr/>
        </p:nvSpPr>
        <p:spPr>
          <a:xfrm>
            <a:off x="7379208" y="1874519"/>
            <a:ext cx="1837943" cy="274320"/>
          </a:xfrm>
          <a:prstGeom prst="rect">
            <a:avLst/>
          </a:prstGeom>
          <a:noFill/>
        </p:spPr>
        <p:txBody>
          <a:bodyPr wrap="square" lIns="0" tIns="0" rIns="0" bIns="0" anchor="t">
            <a:spAutoFit/>
          </a:bodyPr>
          <a:lstStyle/>
          <a:p>
            <a:pPr algn="l">
              <a:buNone/>
            </a:pPr>
            <a:r>
              <a:rPr sz="1300" b="0" i="0">
                <a:solidFill>
                  <a:srgbClr val="1D2733"/>
                </a:solidFill>
                <a:latin typeface="Calibri"/>
              </a:rPr>
              <a:t>Measure the scene</a:t>
            </a:r>
            <a:endParaRPr sz="1300"/>
          </a:p>
        </p:txBody>
      </p:sp>
      <p:sp>
        <p:nvSpPr>
          <p:cNvPr id="23" name="TextBox 22"/>
          <p:cNvSpPr txBox="1"/>
          <p:nvPr/>
        </p:nvSpPr>
        <p:spPr>
          <a:xfrm>
            <a:off x="7379208" y="2167128"/>
            <a:ext cx="1837943" cy="457200"/>
          </a:xfrm>
          <a:prstGeom prst="rect">
            <a:avLst/>
          </a:prstGeom>
          <a:noFill/>
        </p:spPr>
        <p:txBody>
          <a:bodyPr wrap="square" lIns="0" tIns="0" rIns="0" bIns="0" anchor="t">
            <a:spAutoFit/>
          </a:bodyPr>
          <a:lstStyle/>
          <a:p>
            <a:pPr algn="l">
              <a:buNone/>
            </a:pPr>
            <a:r>
              <a:rPr sz="1000" b="0" i="0">
                <a:solidFill>
                  <a:srgbClr val="5B6776"/>
                </a:solidFill>
                <a:latin typeface="Calibri"/>
              </a:rPr>
              <a:t>all SPDTs to ANT; synchronized snapshot(s)</a:t>
            </a:r>
            <a:endParaRPr sz="1000"/>
          </a:p>
        </p:txBody>
      </p:sp>
      <p:cxnSp>
        <p:nvCxnSpPr>
          <p:cNvPr id="24" name="Connector 23"/>
          <p:cNvCxnSpPr/>
          <p:nvPr/>
        </p:nvCxnSpPr>
        <p:spPr>
          <a:xfrm>
            <a:off x="9326880" y="2034540"/>
            <a:ext cx="182880" cy="0"/>
          </a:xfrm>
          <a:prstGeom prst="line">
            <a:avLst/>
          </a:prstGeom>
          <a:ln w="12700">
            <a:solidFill>
              <a:srgbClr val="7F8B97"/>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509760" y="1417320"/>
            <a:ext cx="2057400" cy="123444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6" name="TextBox 25"/>
          <p:cNvSpPr txBox="1"/>
          <p:nvPr/>
        </p:nvSpPr>
        <p:spPr>
          <a:xfrm>
            <a:off x="9619488" y="1508760"/>
            <a:ext cx="365760" cy="365760"/>
          </a:xfrm>
          <a:prstGeom prst="rect">
            <a:avLst/>
          </a:prstGeom>
          <a:noFill/>
        </p:spPr>
        <p:txBody>
          <a:bodyPr wrap="square" lIns="0" tIns="0" rIns="0" bIns="0" anchor="t">
            <a:spAutoFit/>
          </a:bodyPr>
          <a:lstStyle/>
          <a:p>
            <a:pPr algn="l">
              <a:buNone/>
            </a:pPr>
            <a:r>
              <a:rPr sz="2000" b="0" i="0">
                <a:solidFill>
                  <a:srgbClr val="1F5C99"/>
                </a:solidFill>
                <a:latin typeface="Calibri Light"/>
              </a:rPr>
              <a:t>5</a:t>
            </a:r>
            <a:endParaRPr sz="2000"/>
          </a:p>
        </p:txBody>
      </p:sp>
      <p:sp>
        <p:nvSpPr>
          <p:cNvPr id="27" name="TextBox 26"/>
          <p:cNvSpPr txBox="1"/>
          <p:nvPr/>
        </p:nvSpPr>
        <p:spPr>
          <a:xfrm>
            <a:off x="9619488" y="1874519"/>
            <a:ext cx="1837943" cy="274320"/>
          </a:xfrm>
          <a:prstGeom prst="rect">
            <a:avLst/>
          </a:prstGeom>
          <a:noFill/>
        </p:spPr>
        <p:txBody>
          <a:bodyPr wrap="square" lIns="0" tIns="0" rIns="0" bIns="0" anchor="t">
            <a:spAutoFit/>
          </a:bodyPr>
          <a:lstStyle/>
          <a:p>
            <a:pPr algn="l">
              <a:buNone/>
            </a:pPr>
            <a:r>
              <a:rPr sz="1300" b="0" i="0">
                <a:solidFill>
                  <a:srgbClr val="1D2733"/>
                </a:solidFill>
                <a:latin typeface="Calibri"/>
              </a:rPr>
              <a:t>Correct</a:t>
            </a:r>
            <a:endParaRPr sz="1300"/>
          </a:p>
        </p:txBody>
      </p:sp>
      <p:sp>
        <p:nvSpPr>
          <p:cNvPr id="28" name="TextBox 27"/>
          <p:cNvSpPr txBox="1"/>
          <p:nvPr/>
        </p:nvSpPr>
        <p:spPr>
          <a:xfrm>
            <a:off x="9619488" y="2167128"/>
            <a:ext cx="1837943" cy="457200"/>
          </a:xfrm>
          <a:prstGeom prst="rect">
            <a:avLst/>
          </a:prstGeom>
          <a:noFill/>
        </p:spPr>
        <p:txBody>
          <a:bodyPr wrap="square" lIns="0" tIns="0" rIns="0" bIns="0" anchor="t">
            <a:spAutoFit/>
          </a:bodyPr>
          <a:lstStyle/>
          <a:p>
            <a:pPr algn="l">
              <a:buNone/>
            </a:pPr>
            <a:r>
              <a:rPr sz="1000" b="0" i="0">
                <a:solidFill>
                  <a:srgbClr val="5B6776"/>
                </a:solidFill>
                <a:latin typeface="Calibri"/>
              </a:rPr>
              <a:t>multiply by (gₖ·e^(jφₖ))⁻¹ and remove τₖ before any array processing</a:t>
            </a:r>
            <a:endParaRPr sz="1000"/>
          </a:p>
        </p:txBody>
      </p:sp>
      <p:cxnSp>
        <p:nvCxnSpPr>
          <p:cNvPr id="29" name="Connector 28"/>
          <p:cNvCxnSpPr/>
          <p:nvPr/>
        </p:nvCxnSpPr>
        <p:spPr>
          <a:xfrm>
            <a:off x="10538460" y="2651760"/>
            <a:ext cx="0" cy="320040"/>
          </a:xfrm>
          <a:prstGeom prst="line">
            <a:avLst/>
          </a:prstGeom>
          <a:ln w="12700">
            <a:solidFill>
              <a:srgbClr val="1F5C99"/>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577340" y="2971800"/>
            <a:ext cx="8961120" cy="0"/>
          </a:xfrm>
          <a:prstGeom prst="line">
            <a:avLst/>
          </a:prstGeom>
          <a:ln w="12700">
            <a:solidFill>
              <a:srgbClr val="1F5C99"/>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577340" y="2651760"/>
            <a:ext cx="0" cy="320040"/>
          </a:xfrm>
          <a:prstGeom prst="line">
            <a:avLst/>
          </a:prstGeom>
          <a:ln w="12700">
            <a:solidFill>
              <a:srgbClr val="1F5C99"/>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286000" y="3017520"/>
            <a:ext cx="7772400" cy="274320"/>
          </a:xfrm>
          <a:prstGeom prst="rect">
            <a:avLst/>
          </a:prstGeom>
          <a:noFill/>
        </p:spPr>
        <p:txBody>
          <a:bodyPr wrap="square" lIns="0" tIns="0" rIns="0" bIns="0" anchor="t">
            <a:spAutoFit/>
          </a:bodyPr>
          <a:lstStyle/>
          <a:p>
            <a:pPr algn="ctr">
              <a:buNone/>
            </a:pPr>
            <a:r>
              <a:rPr sz="1100" b="0" i="0">
                <a:solidFill>
                  <a:srgbClr val="1F5C99"/>
                </a:solidFill>
                <a:latin typeface="Calibri"/>
              </a:rPr>
              <a:t>repeat after every reset, retune or sample-rate change — ESPARGOS treats a calibration as valid for one capture epoch</a:t>
            </a:r>
            <a:endParaRPr sz="1100"/>
          </a:p>
        </p:txBody>
      </p:sp>
      <p:sp>
        <p:nvSpPr>
          <p:cNvPr id="33" name="TextBox 32"/>
          <p:cNvSpPr txBox="1"/>
          <p:nvPr/>
        </p:nvSpPr>
        <p:spPr>
          <a:xfrm>
            <a:off x="548640" y="3749039"/>
            <a:ext cx="5303520" cy="274320"/>
          </a:xfrm>
          <a:prstGeom prst="rect">
            <a:avLst/>
          </a:prstGeom>
          <a:noFill/>
        </p:spPr>
        <p:txBody>
          <a:bodyPr wrap="square" lIns="0" tIns="0" rIns="0" bIns="0" anchor="t">
            <a:spAutoFit/>
          </a:bodyPr>
          <a:lstStyle/>
          <a:p>
            <a:pPr algn="l">
              <a:buNone/>
            </a:pPr>
            <a:r>
              <a:rPr sz="1400" b="0" i="0">
                <a:solidFill>
                  <a:srgbClr val="1D2733"/>
                </a:solidFill>
                <a:latin typeface="Calibri"/>
              </a:rPr>
              <a:t>Per-element model during a snapshot</a:t>
            </a:r>
            <a:endParaRPr sz="1400"/>
          </a:p>
        </p:txBody>
      </p:sp>
      <p:sp>
        <p:nvSpPr>
          <p:cNvPr id="34" name="TextBox 33"/>
          <p:cNvSpPr txBox="1"/>
          <p:nvPr/>
        </p:nvSpPr>
        <p:spPr>
          <a:xfrm>
            <a:off x="548640" y="4160520"/>
            <a:ext cx="5303520" cy="411480"/>
          </a:xfrm>
          <a:prstGeom prst="rect">
            <a:avLst/>
          </a:prstGeom>
          <a:noFill/>
        </p:spPr>
        <p:txBody>
          <a:bodyPr wrap="square" lIns="0" tIns="0" rIns="0" bIns="0" anchor="t">
            <a:spAutoFit/>
          </a:bodyPr>
          <a:lstStyle/>
          <a:p>
            <a:pPr algn="l">
              <a:buNone/>
            </a:pPr>
            <a:r>
              <a:rPr sz="1800" b="0" i="0">
                <a:solidFill>
                  <a:srgbClr val="1D2733"/>
                </a:solidFill>
                <a:latin typeface="Cambria Math"/>
              </a:rPr>
              <a:t>yₖ[n] = gₖ · e</a:t>
            </a:r>
            <a:r>
              <a:rPr sz="1800" b="0" i="0" baseline="30000">
                <a:solidFill>
                  <a:srgbClr val="1D2733"/>
                </a:solidFill>
                <a:latin typeface="Cambria Math"/>
              </a:rPr>
              <a:t>jφₖ</a:t>
            </a:r>
            <a:r>
              <a:rPr sz="1800" b="0" i="0">
                <a:solidFill>
                  <a:srgbClr val="1D2733"/>
                </a:solidFill>
                <a:latin typeface="Cambria Math"/>
              </a:rPr>
              <a:t> · x(nTₛ − τₖ) + wₖ[n]</a:t>
            </a:r>
            <a:endParaRPr sz="1800"/>
          </a:p>
        </p:txBody>
      </p:sp>
      <p:sp>
        <p:nvSpPr>
          <p:cNvPr id="35" name="TextBox 34"/>
          <p:cNvSpPr txBox="1"/>
          <p:nvPr/>
        </p:nvSpPr>
        <p:spPr>
          <a:xfrm>
            <a:off x="548640" y="4754880"/>
            <a:ext cx="5303520" cy="1371600"/>
          </a:xfrm>
          <a:prstGeom prst="rect">
            <a:avLst/>
          </a:prstGeom>
          <a:noFill/>
        </p:spPr>
        <p:txBody>
          <a:bodyPr wrap="square" lIns="0" tIns="0" rIns="0" bIns="0" anchor="t">
            <a:spAutoFit/>
          </a:bodyPr>
          <a:lstStyle/>
          <a:p>
            <a:pPr algn="l">
              <a:buNone/>
            </a:pPr>
            <a:r>
              <a:rPr sz="1200" b="0" i="0">
                <a:solidFill>
                  <a:srgbClr val="5B6776"/>
                </a:solidFill>
                <a:latin typeface="Calibri"/>
              </a:rPr>
              <a:t>In CAL mode x is the common reference, so gₖ, φₖ, τₖ follow from comparing each yₖ with element 1. A single CW tone cannot separate φₖ from τₖ; ESPARGOS sweeps the tone across the band and fits both, after coarse alignment on a shared reference packet.</a:t>
            </a:r>
            <a:endParaRPr sz="1200"/>
          </a:p>
        </p:txBody>
      </p:sp>
      <p:sp>
        <p:nvSpPr>
          <p:cNvPr id="36" name="TextBox 35"/>
          <p:cNvSpPr txBox="1"/>
          <p:nvPr/>
        </p:nvSpPr>
        <p:spPr>
          <a:xfrm>
            <a:off x="6400800" y="3749039"/>
            <a:ext cx="5212080" cy="274320"/>
          </a:xfrm>
          <a:prstGeom prst="rect">
            <a:avLst/>
          </a:prstGeom>
          <a:noFill/>
        </p:spPr>
        <p:txBody>
          <a:bodyPr wrap="square" lIns="0" tIns="0" rIns="0" bIns="0" anchor="t">
            <a:spAutoFit/>
          </a:bodyPr>
          <a:lstStyle/>
          <a:p>
            <a:pPr algn="l">
              <a:buNone/>
            </a:pPr>
            <a:r>
              <a:rPr sz="1400" b="0" i="0">
                <a:solidFill>
                  <a:srgbClr val="1D2733"/>
                </a:solidFill>
                <a:latin typeface="Calibri"/>
              </a:rPr>
              <a:t>What the tone cannot see</a:t>
            </a:r>
            <a:endParaRPr sz="1400"/>
          </a:p>
        </p:txBody>
      </p:sp>
      <p:sp>
        <p:nvSpPr>
          <p:cNvPr id="37" name="TextBox 36"/>
          <p:cNvSpPr txBox="1"/>
          <p:nvPr/>
        </p:nvSpPr>
        <p:spPr>
          <a:xfrm>
            <a:off x="6400800" y="4160520"/>
            <a:ext cx="5212080" cy="2103120"/>
          </a:xfrm>
          <a:prstGeom prst="rect">
            <a:avLst/>
          </a:prstGeom>
          <a:noFill/>
        </p:spPr>
        <p:txBody>
          <a:bodyPr wrap="square" lIns="0" tIns="0" rIns="0" bIns="0" anchor="t">
            <a:spAutoFit/>
          </a:bodyPr>
          <a:lstStyle/>
          <a:p>
            <a:pPr marL="201168" indent="-201168" algn="l">
              <a:spcAft>
                <a:spcPts val="600"/>
              </a:spcAft>
              <a:buFont typeface="Arial"/>
              <a:buChar char="•"/>
            </a:pPr>
            <a:r>
              <a:rPr sz="1200" b="0" i="0">
                <a:solidFill>
                  <a:srgbClr val="5B6776"/>
                </a:solidFill>
                <a:latin typeface="Calibri"/>
              </a:rPr>
              <a:t>Everything before the switch: patch, probe via and a 1 mm line, the same for all eight (or the cable, with a separate aperture). Calibrate once over the air; tile B adds a fixed 180°.</a:t>
            </a:r>
            <a:endParaRPr sz="1200"/>
          </a:p>
          <a:p>
            <a:pPr marL="201168" indent="-201168" algn="l">
              <a:spcAft>
                <a:spcPts val="600"/>
              </a:spcAft>
              <a:buFont typeface="Arial"/>
              <a:buChar char="•"/>
            </a:pPr>
            <a:r>
              <a:rPr sz="1200" b="0" i="0">
                <a:solidFill>
                  <a:srgbClr val="5B6776"/>
                </a:solidFill>
                <a:latin typeface="Calibri"/>
              </a:rPr>
              <a:t>Mutual coupling between elements: measure embedded element patterns once the first tile works.</a:t>
            </a:r>
            <a:endParaRPr sz="1200"/>
          </a:p>
          <a:p>
            <a:pPr marL="201168" indent="-201168" algn="l">
              <a:spcAft>
                <a:spcPts val="600"/>
              </a:spcAft>
              <a:buFont typeface="Arial"/>
              <a:buChar char="•"/>
            </a:pPr>
            <a:r>
              <a:rPr sz="1200" b="0" i="0">
                <a:solidFill>
                  <a:srgbClr val="5B6776"/>
                </a:solidFill>
                <a:latin typeface="Calibri"/>
              </a:rPr>
              <a:t>Errors that change faster than the calibration interval.</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Sixteen receivers create a data problem</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Line rates from datasheets; ESP-SDR uses UART / USB on the C5 today. PARLIO figures are width × 40 MHz. Raw IQ as 8-bit I + 8-bit Q.</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11</a:t>
            </a:r>
            <a:endParaRPr sz="1000"/>
          </a:p>
        </p:txBody>
      </p:sp>
      <p:graphicFrame>
        <p:nvGraphicFramePr>
          <p:cNvPr id="5" name="Chart: raw IQ rates vs link capacities"/>
          <p:cNvGraphicFramePr>
            <a:graphicFrameLocks noGrp="1"/>
          </p:cNvGraphicFramePr>
          <p:nvPr/>
        </p:nvGraphicFramePr>
        <p:xfrm>
          <a:off x="548640" y="128016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p:cNvSpPr/>
          <p:nvPr/>
        </p:nvSpPr>
        <p:spPr>
          <a:xfrm>
            <a:off x="2103120" y="6199632"/>
            <a:ext cx="146304" cy="109728"/>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7" name="TextBox 6"/>
          <p:cNvSpPr txBox="1"/>
          <p:nvPr/>
        </p:nvSpPr>
        <p:spPr>
          <a:xfrm>
            <a:off x="2304288" y="6144768"/>
            <a:ext cx="2011680" cy="219456"/>
          </a:xfrm>
          <a:prstGeom prst="rect">
            <a:avLst/>
          </a:prstGeom>
          <a:noFill/>
        </p:spPr>
        <p:txBody>
          <a:bodyPr wrap="square" lIns="0" tIns="0" rIns="0" bIns="0" anchor="ctr">
            <a:spAutoFit/>
          </a:bodyPr>
          <a:lstStyle/>
          <a:p>
            <a:pPr algn="l">
              <a:buNone/>
            </a:pPr>
            <a:r>
              <a:rPr sz="1000" b="0" i="0">
                <a:solidFill>
                  <a:srgbClr val="5B6776"/>
                </a:solidFill>
                <a:latin typeface="Calibri"/>
              </a:rPr>
              <a:t>what the array produces</a:t>
            </a:r>
            <a:endParaRPr sz="1000"/>
          </a:p>
        </p:txBody>
      </p:sp>
      <p:sp>
        <p:nvSpPr>
          <p:cNvPr id="8" name="Rectangle 7"/>
          <p:cNvSpPr/>
          <p:nvPr/>
        </p:nvSpPr>
        <p:spPr>
          <a:xfrm>
            <a:off x="4206240" y="6199632"/>
            <a:ext cx="146304" cy="109728"/>
          </a:xfrm>
          <a:prstGeom prst="rect">
            <a:avLst/>
          </a:prstGeom>
          <a:solidFill>
            <a:srgbClr val="B8C1C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9" name="TextBox 8"/>
          <p:cNvSpPr txBox="1"/>
          <p:nvPr/>
        </p:nvSpPr>
        <p:spPr>
          <a:xfrm>
            <a:off x="4407408" y="6144768"/>
            <a:ext cx="2194560" cy="219456"/>
          </a:xfrm>
          <a:prstGeom prst="rect">
            <a:avLst/>
          </a:prstGeom>
          <a:noFill/>
        </p:spPr>
        <p:txBody>
          <a:bodyPr wrap="square" lIns="0" tIns="0" rIns="0" bIns="0" anchor="ctr">
            <a:spAutoFit/>
          </a:bodyPr>
          <a:lstStyle/>
          <a:p>
            <a:pPr algn="l">
              <a:buNone/>
            </a:pPr>
            <a:r>
              <a:rPr sz="1000" b="0" i="0">
                <a:solidFill>
                  <a:srgbClr val="5B6776"/>
                </a:solidFill>
                <a:latin typeface="Calibri"/>
              </a:rPr>
              <a:t>what common links carry</a:t>
            </a:r>
            <a:endParaRPr sz="1000"/>
          </a:p>
        </p:txBody>
      </p:sp>
      <p:sp>
        <p:nvSpPr>
          <p:cNvPr id="10" name="TextBox 9"/>
          <p:cNvSpPr txBox="1"/>
          <p:nvPr/>
        </p:nvSpPr>
        <p:spPr>
          <a:xfrm>
            <a:off x="8001000" y="1325880"/>
            <a:ext cx="3657600" cy="822960"/>
          </a:xfrm>
          <a:prstGeom prst="rect">
            <a:avLst/>
          </a:prstGeom>
          <a:noFill/>
        </p:spPr>
        <p:txBody>
          <a:bodyPr wrap="square" lIns="0" tIns="0" rIns="0" bIns="0" anchor="t">
            <a:spAutoFit/>
          </a:bodyPr>
          <a:lstStyle/>
          <a:p>
            <a:pPr algn="l">
              <a:buNone/>
            </a:pPr>
            <a:r>
              <a:rPr sz="1600" b="0" i="0">
                <a:solidFill>
                  <a:srgbClr val="1D2733"/>
                </a:solidFill>
                <a:latin typeface="Calibri Light"/>
              </a:rPr>
              <a:t>16 × 80 MS/s × 16 bit</a:t>
            </a:r>
            <a:endParaRPr sz="1600"/>
          </a:p>
          <a:p>
            <a:pPr algn="l">
              <a:buNone/>
            </a:pPr>
            <a:r>
              <a:rPr sz="2600" b="0" i="0">
                <a:solidFill>
                  <a:srgbClr val="1D2733"/>
                </a:solidFill>
                <a:latin typeface="Calibri Light"/>
              </a:rPr>
              <a:t>= 20.48 Gbit/s</a:t>
            </a:r>
            <a:endParaRPr sz="1600"/>
          </a:p>
        </p:txBody>
      </p:sp>
      <p:sp>
        <p:nvSpPr>
          <p:cNvPr id="11" name="TextBox 10"/>
          <p:cNvSpPr txBox="1"/>
          <p:nvPr/>
        </p:nvSpPr>
        <p:spPr>
          <a:xfrm>
            <a:off x="8001000" y="2423160"/>
            <a:ext cx="3657600" cy="3657600"/>
          </a:xfrm>
          <a:prstGeom prst="rect">
            <a:avLst/>
          </a:prstGeom>
          <a:noFill/>
        </p:spPr>
        <p:txBody>
          <a:bodyPr wrap="square" lIns="0" tIns="0" rIns="0" bIns="0" anchor="t">
            <a:spAutoFit/>
          </a:bodyPr>
          <a:lstStyle/>
          <a:p>
            <a:pPr algn="l">
              <a:spcAft>
                <a:spcPts val="800"/>
              </a:spcAft>
              <a:buNone/>
            </a:pPr>
            <a:r>
              <a:rPr sz="1200" b="0" i="0">
                <a:solidFill>
                  <a:srgbClr val="5B6776"/>
                </a:solidFill>
                <a:latin typeface="Calibri"/>
              </a:rPr>
              <a:t>The C5 samples at up to 80 MS/s internally, but ESP-SDR moves captures out over USB (12 Mbit/s) or UART.</a:t>
            </a:r>
            <a:endParaRPr sz="1200"/>
          </a:p>
          <a:p>
            <a:pPr algn="l">
              <a:spcAft>
                <a:spcPts val="800"/>
              </a:spcAft>
              <a:buNone/>
            </a:pPr>
            <a:r>
              <a:rPr sz="1200" b="0" i="0">
                <a:solidFill>
                  <a:srgbClr val="5B6776"/>
                </a:solidFill>
                <a:latin typeface="Calibri"/>
              </a:rPr>
              <a:t>A 2-bit PARLIO lane at 40 MHz gives each C5 80 Mbit/s: enough for ~4 MS/s continuous, or for draining full-rate snapshots in a few milliseconds.</a:t>
            </a:r>
            <a:endParaRPr sz="1200"/>
          </a:p>
          <a:p>
            <a:pPr algn="l">
              <a:spcAft>
                <a:spcPts val="800"/>
              </a:spcAft>
              <a:buNone/>
            </a:pPr>
            <a:r>
              <a:rPr sz="1200" b="0" i="0">
                <a:solidFill>
                  <a:srgbClr val="5B6776"/>
                </a:solidFill>
                <a:latin typeface="Calibri"/>
              </a:rPr>
              <a:t>Eight lanes fill one 16-bit S31 bus (640 Mbit/s) and one Gigabit port per tile — a rate ESP-SDR already pushes through an S31 (≈ 687 Mbit/s on the wire). Continuous raw 80 MS/s from 16 elements stays out of scope.</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ESP-SDR gives us today: snapshots, not streams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ESP-SDR C5 limits from chip.h (IQ_WORDS = 16,380), README and PR #9 (retune time). Transfer times are upper bounds from line rates — no measured C5 snapshot rate is published.</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12</a:t>
            </a:r>
            <a:endParaRPr sz="1000"/>
          </a:p>
        </p:txBody>
      </p:sp>
      <p:sp>
        <p:nvSpPr>
          <p:cNvPr id="5" name="TextBox 4"/>
          <p:cNvSpPr txBox="1"/>
          <p:nvPr/>
        </p:nvSpPr>
        <p:spPr>
          <a:xfrm>
            <a:off x="548640" y="1417319"/>
            <a:ext cx="2743200" cy="274320"/>
          </a:xfrm>
          <a:prstGeom prst="rect">
            <a:avLst/>
          </a:prstGeom>
          <a:noFill/>
        </p:spPr>
        <p:txBody>
          <a:bodyPr wrap="square" lIns="0" tIns="0" rIns="0" bIns="0" anchor="t">
            <a:spAutoFit/>
          </a:bodyPr>
          <a:lstStyle/>
          <a:p>
            <a:pPr algn="l">
              <a:buNone/>
            </a:pPr>
            <a:r>
              <a:rPr sz="1300" b="0" i="0">
                <a:solidFill>
                  <a:srgbClr val="1D2733"/>
                </a:solidFill>
                <a:latin typeface="Calibri"/>
              </a:rPr>
              <a:t>One element, snapshot mode</a:t>
            </a:r>
            <a:endParaRPr sz="1300"/>
          </a:p>
        </p:txBody>
      </p:sp>
      <p:sp>
        <p:nvSpPr>
          <p:cNvPr id="6" name="Rectangle 5"/>
          <p:cNvSpPr/>
          <p:nvPr/>
        </p:nvSpPr>
        <p:spPr>
          <a:xfrm>
            <a:off x="548640" y="1920240"/>
            <a:ext cx="685800" cy="45720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capture</a:t>
            </a:r>
            <a:endParaRPr sz="1000"/>
          </a:p>
        </p:txBody>
      </p:sp>
      <p:sp>
        <p:nvSpPr>
          <p:cNvPr id="7" name="Rectangle 6"/>
          <p:cNvSpPr/>
          <p:nvPr/>
        </p:nvSpPr>
        <p:spPr>
          <a:xfrm>
            <a:off x="1234440" y="1920240"/>
            <a:ext cx="3017520" cy="457200"/>
          </a:xfrm>
          <a:prstGeom prst="rect">
            <a:avLst/>
          </a:prstGeom>
          <a:solidFill>
            <a:srgbClr val="F3F5F7"/>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transfer to host / tile</a:t>
            </a:r>
            <a:endParaRPr sz="1000"/>
          </a:p>
        </p:txBody>
      </p:sp>
      <p:sp>
        <p:nvSpPr>
          <p:cNvPr id="8" name="Rectangle 7"/>
          <p:cNvSpPr/>
          <p:nvPr/>
        </p:nvSpPr>
        <p:spPr>
          <a:xfrm>
            <a:off x="4251960" y="1920240"/>
            <a:ext cx="502920" cy="45720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8C97A3"/>
                </a:solidFill>
                <a:latin typeface="Calibri"/>
              </a:rPr>
              <a:t>re-arm</a:t>
            </a:r>
            <a:endParaRPr sz="1000"/>
          </a:p>
        </p:txBody>
      </p:sp>
      <p:sp>
        <p:nvSpPr>
          <p:cNvPr id="9" name="Rectangle 8"/>
          <p:cNvSpPr/>
          <p:nvPr/>
        </p:nvSpPr>
        <p:spPr>
          <a:xfrm>
            <a:off x="4754880" y="1920240"/>
            <a:ext cx="685800" cy="45720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capture</a:t>
            </a:r>
            <a:endParaRPr sz="1000"/>
          </a:p>
        </p:txBody>
      </p:sp>
      <p:sp>
        <p:nvSpPr>
          <p:cNvPr id="10" name="Rectangle 9"/>
          <p:cNvSpPr/>
          <p:nvPr/>
        </p:nvSpPr>
        <p:spPr>
          <a:xfrm>
            <a:off x="5440680" y="1920240"/>
            <a:ext cx="3017520" cy="457200"/>
          </a:xfrm>
          <a:prstGeom prst="rect">
            <a:avLst/>
          </a:prstGeom>
          <a:solidFill>
            <a:srgbClr val="F3F5F7"/>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transfer to host / tile</a:t>
            </a:r>
            <a:endParaRPr sz="1000"/>
          </a:p>
        </p:txBody>
      </p:sp>
      <p:sp>
        <p:nvSpPr>
          <p:cNvPr id="11" name="Rectangle 10"/>
          <p:cNvSpPr/>
          <p:nvPr/>
        </p:nvSpPr>
        <p:spPr>
          <a:xfrm>
            <a:off x="8458200" y="1920240"/>
            <a:ext cx="502920" cy="45720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8C97A3"/>
                </a:solidFill>
                <a:latin typeface="Calibri"/>
              </a:rPr>
              <a:t>re-arm</a:t>
            </a:r>
            <a:endParaRPr sz="1000"/>
          </a:p>
        </p:txBody>
      </p:sp>
      <p:sp>
        <p:nvSpPr>
          <p:cNvPr id="12" name="Rectangle 11"/>
          <p:cNvSpPr/>
          <p:nvPr/>
        </p:nvSpPr>
        <p:spPr>
          <a:xfrm>
            <a:off x="8961120" y="1920240"/>
            <a:ext cx="685800" cy="45720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capture</a:t>
            </a:r>
            <a:endParaRPr sz="1000"/>
          </a:p>
        </p:txBody>
      </p:sp>
      <p:sp>
        <p:nvSpPr>
          <p:cNvPr id="13" name="Rectangle 12"/>
          <p:cNvSpPr/>
          <p:nvPr/>
        </p:nvSpPr>
        <p:spPr>
          <a:xfrm>
            <a:off x="9646920" y="1920240"/>
            <a:ext cx="457200" cy="45720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8C97A3"/>
                </a:solidFill>
                <a:latin typeface="Calibri"/>
              </a:rPr>
              <a:t>…</a:t>
            </a:r>
            <a:endParaRPr sz="1000"/>
          </a:p>
        </p:txBody>
      </p:sp>
      <p:cxnSp>
        <p:nvCxnSpPr>
          <p:cNvPr id="14" name="Connector 13"/>
          <p:cNvCxnSpPr/>
          <p:nvPr/>
        </p:nvCxnSpPr>
        <p:spPr>
          <a:xfrm>
            <a:off x="548640" y="2606040"/>
            <a:ext cx="9555480" cy="0"/>
          </a:xfrm>
          <a:prstGeom prst="line">
            <a:avLst/>
          </a:prstGeom>
          <a:ln w="9525">
            <a:solidFill>
              <a:srgbClr val="7F8B97"/>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555480" y="2633472"/>
            <a:ext cx="731520" cy="228600"/>
          </a:xfrm>
          <a:prstGeom prst="rect">
            <a:avLst/>
          </a:prstGeom>
          <a:noFill/>
        </p:spPr>
        <p:txBody>
          <a:bodyPr wrap="square" lIns="0" tIns="0" rIns="0" bIns="0" anchor="t">
            <a:spAutoFit/>
          </a:bodyPr>
          <a:lstStyle/>
          <a:p>
            <a:pPr algn="r">
              <a:buNone/>
            </a:pPr>
            <a:r>
              <a:rPr sz="1000" b="0" i="0">
                <a:solidFill>
                  <a:srgbClr val="5B6776"/>
                </a:solidFill>
                <a:latin typeface="Calibri"/>
              </a:rPr>
              <a:t>time</a:t>
            </a:r>
            <a:endParaRPr sz="1000"/>
          </a:p>
        </p:txBody>
      </p:sp>
      <p:sp>
        <p:nvSpPr>
          <p:cNvPr id="16" name="TextBox 15"/>
          <p:cNvSpPr txBox="1"/>
          <p:nvPr/>
        </p:nvSpPr>
        <p:spPr>
          <a:xfrm>
            <a:off x="548640" y="2880360"/>
            <a:ext cx="11064240" cy="548640"/>
          </a:xfrm>
          <a:prstGeom prst="rect">
            <a:avLst/>
          </a:prstGeom>
          <a:noFill/>
        </p:spPr>
        <p:txBody>
          <a:bodyPr wrap="square" lIns="0" tIns="0" rIns="0" bIns="0" anchor="t">
            <a:spAutoFit/>
          </a:bodyPr>
          <a:lstStyle/>
          <a:p>
            <a:pPr algn="l">
              <a:buNone/>
            </a:pPr>
            <a:r>
              <a:rPr sz="1200" b="0" i="0">
                <a:solidFill>
                  <a:srgbClr val="5B6776"/>
                </a:solidFill>
                <a:latin typeface="Calibri"/>
              </a:rPr>
              <a:t>The largest C5 snapshot is 16,380 complex samples: 204.75 µs at 80 MS/s, 32,760 bytes as 8-bit I/Q. Moving it out takes 100–1000× longer than capturing it, so the duty cycle is set by the output port, not by the ADC.</a:t>
            </a:r>
            <a:endParaRPr sz="1200"/>
          </a:p>
        </p:txBody>
      </p:sp>
      <p:sp>
        <p:nvSpPr>
          <p:cNvPr id="17" name="TextBox 16"/>
          <p:cNvSpPr txBox="1"/>
          <p:nvPr/>
        </p:nvSpPr>
        <p:spPr>
          <a:xfrm>
            <a:off x="548640" y="3429000"/>
            <a:ext cx="5486400" cy="274320"/>
          </a:xfrm>
          <a:prstGeom prst="rect">
            <a:avLst/>
          </a:prstGeom>
          <a:noFill/>
        </p:spPr>
        <p:txBody>
          <a:bodyPr wrap="square" lIns="0" tIns="0" rIns="0" bIns="0" anchor="t">
            <a:spAutoFit/>
          </a:bodyPr>
          <a:lstStyle/>
          <a:p>
            <a:pPr algn="l">
              <a:buNone/>
            </a:pPr>
            <a:r>
              <a:rPr sz="1300" b="0" i="0">
                <a:solidFill>
                  <a:srgbClr val="1D2733"/>
                </a:solidFill>
                <a:latin typeface="Calibri"/>
              </a:rPr>
              <a:t>Best case for one 16,380-sample IQ8 snapshot</a:t>
            </a:r>
            <a:endParaRPr sz="1300"/>
          </a:p>
        </p:txBody>
      </p:sp>
      <p:graphicFrame>
        <p:nvGraphicFramePr>
          <p:cNvPr id="18" name="Table 17"/>
          <p:cNvGraphicFramePr>
            <a:graphicFrameLocks noGrp="1"/>
          </p:cNvGraphicFramePr>
          <p:nvPr/>
        </p:nvGraphicFramePr>
        <p:xfrm>
          <a:off x="548640" y="3749039"/>
          <a:ext cx="6080760" cy="1554480"/>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10896">
                <a:tc>
                  <a:txBody>
                    <a:bodyPr/>
                    <a:lstStyle/>
                    <a:p>
                      <a:pPr algn="l">
                        <a:buNone/>
                      </a:pPr>
                      <a:r>
                        <a:rPr sz="1100" b="0" i="0">
                          <a:solidFill>
                            <a:srgbClr val="5B6776"/>
                          </a:solidFill>
                          <a:latin typeface="Calibri"/>
                        </a:rPr>
                        <a:t>Output port (per element)</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Transfer time</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Snapshots / s</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Duty cycle</a:t>
                      </a:r>
                      <a:endParaRPr sz="11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310896">
                <a:tc>
                  <a:txBody>
                    <a:bodyPr/>
                    <a:lstStyle/>
                    <a:p>
                      <a:pPr algn="l">
                        <a:buNone/>
                      </a:pPr>
                      <a:r>
                        <a:rPr sz="1100" b="0" i="0">
                          <a:solidFill>
                            <a:srgbClr val="1D2733"/>
                          </a:solidFill>
                          <a:latin typeface="Calibri"/>
                        </a:rPr>
                        <a:t>UART, 2 Mbaud (ESP-SDR today)</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163.8 ms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6</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0.12 %</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310896">
                <a:tc>
                  <a:txBody>
                    <a:bodyPr/>
                    <a:lstStyle/>
                    <a:p>
                      <a:pPr algn="l">
                        <a:buNone/>
                      </a:pPr>
                      <a:r>
                        <a:rPr sz="1100" b="0" i="0">
                          <a:solidFill>
                            <a:srgbClr val="1D2733"/>
                          </a:solidFill>
                          <a:latin typeface="Calibri"/>
                        </a:rPr>
                        <a:t>USB-Serial-JTAG, 12 Mbit/s line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21.8 ms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45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0.93 %</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310896">
                <a:tc>
                  <a:txBody>
                    <a:bodyPr/>
                    <a:lstStyle/>
                    <a:p>
                      <a:pPr algn="l">
                        <a:buNone/>
                      </a:pPr>
                      <a:r>
                        <a:rPr sz="1100" b="0" i="0">
                          <a:solidFill>
                            <a:srgbClr val="1D2733"/>
                          </a:solidFill>
                          <a:latin typeface="Calibri"/>
                        </a:rPr>
                        <a:t>PARLIO lane, 2 bit × 40 MHz (planned)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3.3 ms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287</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5.9 %</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310896">
                <a:tc>
                  <a:txBody>
                    <a:bodyPr/>
                    <a:lstStyle/>
                    <a:p>
                      <a:pPr algn="l">
                        <a:buNone/>
                      </a:pPr>
                      <a:r>
                        <a:rPr sz="1100" b="0" i="0">
                          <a:solidFill>
                            <a:srgbClr val="1D2733"/>
                          </a:solidFill>
                          <a:latin typeface="Calibri"/>
                        </a:rPr>
                        <a:t>PARLIO, 8 bit × 40 MHz (ceiling)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0.8 ms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977</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20 %</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6949440" y="3429000"/>
            <a:ext cx="4663440" cy="274320"/>
          </a:xfrm>
          <a:prstGeom prst="rect">
            <a:avLst/>
          </a:prstGeom>
          <a:noFill/>
        </p:spPr>
        <p:txBody>
          <a:bodyPr wrap="square" lIns="0" tIns="0" rIns="0" bIns="0" anchor="t">
            <a:spAutoFit/>
          </a:bodyPr>
          <a:lstStyle/>
          <a:p>
            <a:pPr algn="l">
              <a:buNone/>
            </a:pPr>
            <a:r>
              <a:rPr sz="1300" b="0" i="0">
                <a:solidFill>
                  <a:srgbClr val="1D2733"/>
                </a:solidFill>
                <a:latin typeface="Calibri"/>
              </a:rPr>
              <a:t>What this means</a:t>
            </a:r>
            <a:endParaRPr sz="1300"/>
          </a:p>
        </p:txBody>
      </p:sp>
      <p:sp>
        <p:nvSpPr>
          <p:cNvPr id="20" name="TextBox 19"/>
          <p:cNvSpPr txBox="1"/>
          <p:nvPr/>
        </p:nvSpPr>
        <p:spPr>
          <a:xfrm>
            <a:off x="6949440" y="3749039"/>
            <a:ext cx="4663440" cy="2468880"/>
          </a:xfrm>
          <a:prstGeom prst="rect">
            <a:avLst/>
          </a:prstGeom>
          <a:noFill/>
        </p:spPr>
        <p:txBody>
          <a:bodyPr wrap="square" lIns="0" tIns="0" rIns="0" bIns="0" anchor="t">
            <a:spAutoFit/>
          </a:bodyPr>
          <a:lstStyle/>
          <a:p>
            <a:pPr marL="201168" indent="-201168" algn="l">
              <a:spcAft>
                <a:spcPts val="600"/>
              </a:spcAft>
              <a:buFont typeface="Arial"/>
              <a:buChar char="•"/>
            </a:pPr>
            <a:r>
              <a:rPr sz="1200" b="0" i="0">
                <a:solidFill>
                  <a:srgbClr val="5B6776"/>
                </a:solidFill>
                <a:latin typeface="Calibri"/>
              </a:rPr>
              <a:t>Raw snapshots suit calibration research, beamforming and offline algorithm work — the first milestones.</a:t>
            </a:r>
            <a:endParaRPr sz="1200"/>
          </a:p>
          <a:p>
            <a:pPr marL="201168" indent="-201168" algn="l">
              <a:spcAft>
                <a:spcPts val="600"/>
              </a:spcAft>
              <a:buFont typeface="Arial"/>
              <a:buChar char="•"/>
            </a:pPr>
            <a:r>
              <a:rPr sz="1200" b="0" i="0">
                <a:solidFill>
                  <a:srgbClr val="5B6776"/>
                </a:solidFill>
                <a:latin typeface="Calibri"/>
              </a:rPr>
              <a:t>Doppler and tracking need many snapshots with no retune in between (a C5 retune takes ~28–35 ms at 5 GHz).</a:t>
            </a:r>
            <a:endParaRPr sz="1200"/>
          </a:p>
          <a:p>
            <a:pPr marL="201168" indent="-201168" algn="l">
              <a:spcAft>
                <a:spcPts val="600"/>
              </a:spcAft>
              <a:buFont typeface="Arial"/>
              <a:buChar char="•"/>
            </a:pPr>
            <a:r>
              <a:rPr sz="1200" b="0" i="0">
                <a:solidFill>
                  <a:srgbClr val="5B6776"/>
                </a:solidFill>
                <a:latin typeface="Calibri"/>
              </a:rPr>
              <a:t>The planned 2-bit PARLIO lane drains a full snapshot in 3.3 ms — about 7× faster than USB at its line rate.</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Five ways to collect the data</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Effort and suitability are judgements for a student team. E is the current team proposal.</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13</a:t>
            </a:r>
            <a:endParaRPr sz="1000"/>
          </a:p>
        </p:txBody>
      </p:sp>
      <p:graphicFrame>
        <p:nvGraphicFramePr>
          <p:cNvPr id="5" name="Table 4"/>
          <p:cNvGraphicFramePr>
            <a:graphicFrameLocks noGrp="1"/>
          </p:cNvGraphicFramePr>
          <p:nvPr/>
        </p:nvGraphicFramePr>
        <p:xfrm>
          <a:off x="548640" y="1280160"/>
          <a:ext cx="11091672" cy="3803904"/>
        </p:xfrm>
        <a:graphic>
          <a:graphicData uri="http://schemas.openxmlformats.org/drawingml/2006/table">
            <a:tbl>
              <a:tblPr>
                <a:tableStyleId>{2D5ABB26-0587-4C30-8999-92F81FD0307C}</a:tableStyleId>
              </a:tblPr>
              <a:tblGrid>
                <a:gridCol w="14630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1947672">
                  <a:extLst>
                    <a:ext uri="{9D8B030D-6E8A-4147-A177-3AD203B41FA5}">
                      <a16:colId xmlns:a16="http://schemas.microsoft.com/office/drawing/2014/main" val="20005"/>
                    </a:ext>
                  </a:extLst>
                </a:gridCol>
              </a:tblGrid>
              <a:tr h="411480">
                <a:tc>
                  <a:txBody>
                    <a:bodyPr/>
                    <a:lstStyle/>
                    <a:p>
                      <a:pPr algn="l">
                        <a:buNone/>
                      </a:pPr>
                      <a:endParaRPr sz="1200"/>
                    </a:p>
                  </a:txBody>
                  <a:tcPr marL="64008" marR="64008" marT="32004" marB="32004">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A · Direct to host</a:t>
                      </a:r>
                      <a:endParaRPr sz="1200"/>
                    </a:p>
                  </a:txBody>
                  <a:tcPr marL="64008" marR="64008" marT="32004" marB="32004">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B · Ethernet per C5</a:t>
                      </a:r>
                      <a:endParaRPr sz="1200"/>
                    </a:p>
                  </a:txBody>
                  <a:tcPr marL="64008" marR="64008" marT="32004" marB="32004">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C · Central FPGA</a:t>
                      </a:r>
                      <a:endParaRPr sz="1200"/>
                    </a:p>
                  </a:txBody>
                  <a:tcPr marL="64008" marR="64008" marT="32004" marB="32004">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D · 4 × 2×2 FPGA tiles</a:t>
                      </a:r>
                      <a:endParaRPr sz="1200"/>
                    </a:p>
                  </a:txBody>
                  <a:tcPr marL="64008" marR="64008" marT="32004" marB="32004">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 · 2 × 8 tiles, PARLIO → S31</a:t>
                      </a:r>
                      <a:endParaRPr sz="1200"/>
                    </a:p>
                  </a:txBody>
                  <a:tcPr marL="64008" marR="64008" marT="32004" marB="32004">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713232">
                <a:tc>
                  <a:txBody>
                    <a:bodyPr/>
                    <a:lstStyle/>
                    <a:p>
                      <a:pPr algn="l">
                        <a:buNone/>
                      </a:pPr>
                      <a:r>
                        <a:rPr sz="1100" b="0" i="0">
                          <a:solidFill>
                            <a:srgbClr val="1D2733"/>
                          </a:solidFill>
                          <a:latin typeface="Calibri"/>
                        </a:rPr>
                        <a:t>Topology</a:t>
                      </a:r>
                      <a:endParaRPr sz="1100"/>
                    </a:p>
                  </a:txBody>
                  <a:tcPr marL="64008" marR="64008" marT="32004" marB="32004">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each C5 → USB hub → PC</a:t>
                      </a:r>
                      <a:endParaRPr sz="1100"/>
                    </a:p>
                  </a:txBody>
                  <a:tcPr marL="64008" marR="64008" marT="32004" marB="32004">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 W5500 → switch → GbE</a:t>
                      </a:r>
                      <a:endParaRPr sz="1100"/>
                    </a:p>
                  </a:txBody>
                  <a:tcPr marL="64008" marR="64008" marT="32004" marB="32004">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16 C5 → one FPGA → Ethernet</a:t>
                      </a:r>
                      <a:endParaRPr sz="1100"/>
                    </a:p>
                  </a:txBody>
                  <a:tcPr marL="64008" marR="64008" marT="32004" marB="32004">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4 × (4 C5 → FPGA) → hub</a:t>
                      </a:r>
                      <a:endParaRPr sz="1100"/>
                    </a:p>
                  </a:txBody>
                  <a:tcPr marL="64008" marR="64008" marT="32004" marB="32004">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8 × 2-bit PARLIO → S31 → RTL8211F → GbE</a:t>
                      </a:r>
                      <a:endParaRPr sz="1100"/>
                    </a:p>
                  </a:txBody>
                  <a:tcPr marL="64008" marR="64008" marT="32004" marB="32004">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566928">
                <a:tc>
                  <a:txBody>
                    <a:bodyPr/>
                    <a:lstStyle/>
                    <a:p>
                      <a:pPr algn="l">
                        <a:buNone/>
                      </a:pPr>
                      <a:r>
                        <a:rPr sz="1100" b="0" i="0">
                          <a:solidFill>
                            <a:srgbClr val="1D2733"/>
                          </a:solidFill>
                          <a:latin typeface="Calibri"/>
                        </a:rPr>
                        <a:t>Good for</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bring-up, 1–4 channels</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separate networked nodes</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deterministic capture, DSP</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local reduction, scaling</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cheap integrated tile, two uplinks</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566928">
                <a:tc>
                  <a:txBody>
                    <a:bodyPr/>
                    <a:lstStyle/>
                    <a:p>
                      <a:pPr algn="l">
                        <a:buNone/>
                      </a:pPr>
                      <a:r>
                        <a:rPr sz="1100" b="0" i="0">
                          <a:solidFill>
                            <a:srgbClr val="1D2733"/>
                          </a:solidFill>
                          <a:latin typeface="Calibri"/>
                        </a:rPr>
                        <a:t>Data limit</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USB full speed per C5</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SPI bridge ≤ 100 Mbit per C5</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16 C5 slave ports</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¼ of the array per tile</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80 Mbit/s per lane, 640 per tile</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566928">
                <a:tc>
                  <a:txBody>
                    <a:bodyPr/>
                    <a:lstStyle/>
                    <a:p>
                      <a:pPr algn="l">
                        <a:buNone/>
                      </a:pPr>
                      <a:r>
                        <a:rPr sz="1100" b="0" i="0">
                          <a:solidFill>
                            <a:srgbClr val="1D2733"/>
                          </a:solidFill>
                          <a:latin typeface="Calibri"/>
                        </a:rPr>
                        <a:t>Sample alignment</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software only</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none from Ethernet</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ns, in fabric</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ns inside a tile</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shared PCLK + GO; to be proven</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566928">
                <a:tc>
                  <a:txBody>
                    <a:bodyPr/>
                    <a:lstStyle/>
                    <a:p>
                      <a:pPr algn="l">
                        <a:buNone/>
                      </a:pPr>
                      <a:r>
                        <a:rPr sz="1100" b="0" i="0">
                          <a:solidFill>
                            <a:srgbClr val="1D2733"/>
                          </a:solidFill>
                          <a:latin typeface="Calibri"/>
                        </a:rPr>
                        <a:t>Hardware effort</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low</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high: 8 bridges + PHYs + switch</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high: dense board</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high: FPGA per tile</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medium: one S31 + one PHY per tile</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411480">
                <a:tc>
                  <a:txBody>
                    <a:bodyPr/>
                    <a:lstStyle/>
                    <a:p>
                      <a:pPr algn="l">
                        <a:buNone/>
                      </a:pPr>
                      <a:r>
                        <a:rPr sz="1100" b="0" i="0">
                          <a:solidFill>
                            <a:srgbClr val="1D2733"/>
                          </a:solidFill>
                          <a:latin typeface="Calibri"/>
                        </a:rPr>
                        <a:t>Where it fits</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0E7C76"/>
                          </a:solidFill>
                          <a:latin typeface="Calibri"/>
                        </a:rPr>
                        <a:t>step 1</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5B6776"/>
                          </a:solidFill>
                          <a:latin typeface="Calibri"/>
                        </a:rPr>
                        <a:t>rejected</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F5C99"/>
                          </a:solidFill>
                          <a:latin typeface="Calibri"/>
                        </a:rPr>
                        <a:t>Plan B variant</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F5C99"/>
                          </a:solidFill>
                          <a:latin typeface="Calibri"/>
                        </a:rPr>
                        <a:t>Plan B variant</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0E7C76"/>
                          </a:solidFill>
                          <a:latin typeface="Calibri"/>
                        </a:rPr>
                        <a:t>Rev 1 baseline</a:t>
                      </a:r>
                      <a:endParaRPr sz="1100"/>
                    </a:p>
                  </a:txBody>
                  <a:tcPr marL="64008" marR="64008" marT="32004" marB="32004">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Two 8-element tiles and one timing board</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Team architecture of 13 Oct 2026. Part numbers are candidates. PARLIO export from the C5 and lockstep alignment of eight lanes are open bench questions.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14</a:t>
            </a:r>
            <a:endParaRPr sz="1000"/>
          </a:p>
        </p:txBody>
      </p:sp>
      <p:sp>
        <p:nvSpPr>
          <p:cNvPr id="5" name="Rectangle 4"/>
          <p:cNvSpPr/>
          <p:nvPr/>
        </p:nvSpPr>
        <p:spPr>
          <a:xfrm>
            <a:off x="548640" y="1371600"/>
            <a:ext cx="2148840" cy="448056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6" name="TextBox 5"/>
          <p:cNvSpPr txBox="1"/>
          <p:nvPr/>
        </p:nvSpPr>
        <p:spPr>
          <a:xfrm>
            <a:off x="658368" y="1444752"/>
            <a:ext cx="1965960" cy="274320"/>
          </a:xfrm>
          <a:prstGeom prst="rect">
            <a:avLst/>
          </a:prstGeom>
          <a:noFill/>
        </p:spPr>
        <p:txBody>
          <a:bodyPr wrap="square" lIns="0" tIns="0" rIns="0" bIns="0" anchor="t">
            <a:spAutoFit/>
          </a:bodyPr>
          <a:lstStyle/>
          <a:p>
            <a:pPr algn="l">
              <a:buNone/>
            </a:pPr>
            <a:r>
              <a:rPr sz="1200" b="0" i="0">
                <a:solidFill>
                  <a:srgbClr val="1D2733"/>
                </a:solidFill>
                <a:latin typeface="Calibri"/>
              </a:rPr>
              <a:t>Master timing / RF board</a:t>
            </a:r>
            <a:endParaRPr sz="1200"/>
          </a:p>
        </p:txBody>
      </p:sp>
      <p:sp>
        <p:nvSpPr>
          <p:cNvPr id="7" name="Rectangle 6"/>
          <p:cNvSpPr/>
          <p:nvPr/>
        </p:nvSpPr>
        <p:spPr>
          <a:xfrm>
            <a:off x="685800" y="1737360"/>
            <a:ext cx="1874520" cy="731520"/>
          </a:xfrm>
          <a:prstGeom prst="rect">
            <a:avLst/>
          </a:prstGeom>
          <a:solidFill>
            <a:srgbClr val="FFFFFF"/>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48 MHz TCXO</a:t>
            </a:r>
            <a:endParaRPr sz="1100"/>
          </a:p>
          <a:p>
            <a:pPr algn="ctr">
              <a:buNone/>
            </a:pPr>
            <a:r>
              <a:rPr sz="900" b="0" i="0">
                <a:solidFill>
                  <a:srgbClr val="5B6776"/>
                </a:solidFill>
                <a:latin typeface="Calibri"/>
              </a:rPr>
              <a:t>+ fan-out → 16 C5</a:t>
            </a:r>
            <a:endParaRPr sz="1100"/>
          </a:p>
        </p:txBody>
      </p:sp>
      <p:sp>
        <p:nvSpPr>
          <p:cNvPr id="8" name="Rectangle 7"/>
          <p:cNvSpPr/>
          <p:nvPr/>
        </p:nvSpPr>
        <p:spPr>
          <a:xfrm>
            <a:off x="685800" y="2651760"/>
            <a:ext cx="1874520" cy="731520"/>
          </a:xfrm>
          <a:prstGeom prst="rect">
            <a:avLst/>
          </a:prstGeom>
          <a:solidFill>
            <a:srgbClr val="FFFFFF"/>
          </a:solidFill>
          <a:ln w="12700">
            <a:solidFill>
              <a:srgbClr val="6F4E9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40 MHz data clock</a:t>
            </a:r>
            <a:endParaRPr sz="1100"/>
          </a:p>
          <a:p>
            <a:pPr algn="ctr">
              <a:buNone/>
            </a:pPr>
            <a:r>
              <a:rPr sz="900" b="0" i="0">
                <a:solidFill>
                  <a:srgbClr val="5B6776"/>
                </a:solidFill>
                <a:latin typeface="Calibri"/>
              </a:rPr>
              <a:t>+ fan-out → PARLIO</a:t>
            </a:r>
            <a:endParaRPr sz="1100"/>
          </a:p>
        </p:txBody>
      </p:sp>
      <p:sp>
        <p:nvSpPr>
          <p:cNvPr id="9" name="Rectangle 8"/>
          <p:cNvSpPr/>
          <p:nvPr/>
        </p:nvSpPr>
        <p:spPr>
          <a:xfrm>
            <a:off x="685800" y="3566160"/>
            <a:ext cx="1874520" cy="731520"/>
          </a:xfrm>
          <a:prstGeom prst="rect">
            <a:avLst/>
          </a:prstGeom>
          <a:solidFill>
            <a:srgbClr val="FFFFFF"/>
          </a:solidFill>
          <a:ln w="12700">
            <a:solidFill>
              <a:srgbClr val="A86A0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Trigger / GO</a:t>
            </a:r>
            <a:endParaRPr sz="1100"/>
          </a:p>
          <a:p>
            <a:pPr algn="ctr">
              <a:buNone/>
            </a:pPr>
            <a:r>
              <a:rPr sz="900" b="0" i="0">
                <a:solidFill>
                  <a:srgbClr val="5B6776"/>
                </a:solidFill>
                <a:latin typeface="Calibri"/>
              </a:rPr>
              <a:t>common capture start</a:t>
            </a:r>
            <a:endParaRPr sz="1100"/>
          </a:p>
        </p:txBody>
      </p:sp>
      <p:sp>
        <p:nvSpPr>
          <p:cNvPr id="10" name="Rectangle 9"/>
          <p:cNvSpPr/>
          <p:nvPr/>
        </p:nvSpPr>
        <p:spPr>
          <a:xfrm>
            <a:off x="685800" y="4480560"/>
            <a:ext cx="1874520" cy="731520"/>
          </a:xfrm>
          <a:prstGeom prst="rect">
            <a:avLst/>
          </a:prstGeom>
          <a:solidFill>
            <a:srgbClr val="FFFFFF"/>
          </a:solidFill>
          <a:ln w="12700">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5.2 GHz source</a:t>
            </a:r>
            <a:endParaRPr sz="1100"/>
          </a:p>
          <a:p>
            <a:pPr algn="ctr">
              <a:buNone/>
            </a:pPr>
            <a:r>
              <a:rPr sz="900" b="0" i="0">
                <a:solidFill>
                  <a:srgbClr val="5B6776"/>
                </a:solidFill>
                <a:latin typeface="Calibri"/>
              </a:rPr>
              <a:t>MAX2871-class + 1:2</a:t>
            </a:r>
            <a:endParaRPr sz="1100"/>
          </a:p>
        </p:txBody>
      </p:sp>
      <p:sp>
        <p:nvSpPr>
          <p:cNvPr id="11" name="Rectangle 10"/>
          <p:cNvSpPr/>
          <p:nvPr/>
        </p:nvSpPr>
        <p:spPr>
          <a:xfrm>
            <a:off x="3520440" y="1371600"/>
            <a:ext cx="4937760" cy="2148840"/>
          </a:xfrm>
          <a:prstGeom prst="rect">
            <a:avLst/>
          </a:prstGeom>
          <a:no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2" name="TextBox 11"/>
          <p:cNvSpPr txBox="1"/>
          <p:nvPr/>
        </p:nvSpPr>
        <p:spPr>
          <a:xfrm>
            <a:off x="3611880" y="1417320"/>
            <a:ext cx="3200400" cy="228600"/>
          </a:xfrm>
          <a:prstGeom prst="rect">
            <a:avLst/>
          </a:prstGeom>
          <a:noFill/>
        </p:spPr>
        <p:txBody>
          <a:bodyPr wrap="square" lIns="0" tIns="0" rIns="0" bIns="0" anchor="t">
            <a:spAutoFit/>
          </a:bodyPr>
          <a:lstStyle/>
          <a:p>
            <a:pPr algn="l">
              <a:buNone/>
            </a:pPr>
            <a:r>
              <a:rPr sz="1100" b="0" i="0">
                <a:solidFill>
                  <a:srgbClr val="5B6776"/>
                </a:solidFill>
                <a:latin typeface="Calibri"/>
              </a:rPr>
              <a:t>Tile A — 8 × ESP32-C5 (2 × 4)</a:t>
            </a:r>
            <a:endParaRPr sz="1100"/>
          </a:p>
        </p:txBody>
      </p:sp>
      <p:sp>
        <p:nvSpPr>
          <p:cNvPr id="13" name="Rectangle 12"/>
          <p:cNvSpPr/>
          <p:nvPr/>
        </p:nvSpPr>
        <p:spPr>
          <a:xfrm>
            <a:off x="3963924" y="176936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14" name="Connector 13"/>
          <p:cNvCxnSpPr/>
          <p:nvPr/>
        </p:nvCxnSpPr>
        <p:spPr>
          <a:xfrm>
            <a:off x="4023360" y="188823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794760" y="201168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16" name="Rectangle 15"/>
          <p:cNvSpPr/>
          <p:nvPr/>
        </p:nvSpPr>
        <p:spPr>
          <a:xfrm>
            <a:off x="4567428" y="176936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17" name="Connector 16"/>
          <p:cNvCxnSpPr/>
          <p:nvPr/>
        </p:nvCxnSpPr>
        <p:spPr>
          <a:xfrm>
            <a:off x="4626864" y="188823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98264" y="201168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19" name="Rectangle 18"/>
          <p:cNvSpPr/>
          <p:nvPr/>
        </p:nvSpPr>
        <p:spPr>
          <a:xfrm>
            <a:off x="5170932" y="176936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0" name="Connector 19"/>
          <p:cNvCxnSpPr/>
          <p:nvPr/>
        </p:nvCxnSpPr>
        <p:spPr>
          <a:xfrm>
            <a:off x="5230368" y="188823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01768" y="201168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22" name="Rectangle 21"/>
          <p:cNvSpPr/>
          <p:nvPr/>
        </p:nvSpPr>
        <p:spPr>
          <a:xfrm>
            <a:off x="5774436" y="176936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3" name="Connector 22"/>
          <p:cNvCxnSpPr/>
          <p:nvPr/>
        </p:nvCxnSpPr>
        <p:spPr>
          <a:xfrm>
            <a:off x="5833872" y="188823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05272" y="201168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25" name="Rectangle 24"/>
          <p:cNvSpPr/>
          <p:nvPr/>
        </p:nvSpPr>
        <p:spPr>
          <a:xfrm>
            <a:off x="3963924" y="254660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6" name="Connector 25"/>
          <p:cNvCxnSpPr/>
          <p:nvPr/>
        </p:nvCxnSpPr>
        <p:spPr>
          <a:xfrm>
            <a:off x="4023360" y="266547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794760" y="278892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28" name="Rectangle 27"/>
          <p:cNvSpPr/>
          <p:nvPr/>
        </p:nvSpPr>
        <p:spPr>
          <a:xfrm>
            <a:off x="4567428" y="254660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29" name="Connector 28"/>
          <p:cNvCxnSpPr/>
          <p:nvPr/>
        </p:nvCxnSpPr>
        <p:spPr>
          <a:xfrm>
            <a:off x="4626864" y="266547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398264" y="278892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31" name="Rectangle 30"/>
          <p:cNvSpPr/>
          <p:nvPr/>
        </p:nvSpPr>
        <p:spPr>
          <a:xfrm>
            <a:off x="5170932" y="254660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32" name="Connector 31"/>
          <p:cNvCxnSpPr/>
          <p:nvPr/>
        </p:nvCxnSpPr>
        <p:spPr>
          <a:xfrm>
            <a:off x="5230368" y="266547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001768" y="278892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34" name="Rectangle 33"/>
          <p:cNvSpPr/>
          <p:nvPr/>
        </p:nvSpPr>
        <p:spPr>
          <a:xfrm>
            <a:off x="5774436" y="2546604"/>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35" name="Connector 34"/>
          <p:cNvCxnSpPr/>
          <p:nvPr/>
        </p:nvCxnSpPr>
        <p:spPr>
          <a:xfrm>
            <a:off x="5833872" y="266547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605272" y="278892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37" name="Rectangle 36"/>
          <p:cNvSpPr/>
          <p:nvPr/>
        </p:nvSpPr>
        <p:spPr>
          <a:xfrm>
            <a:off x="6263640" y="1874519"/>
            <a:ext cx="960120" cy="128016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ESP32-S31</a:t>
            </a:r>
            <a:endParaRPr sz="1000"/>
          </a:p>
          <a:p>
            <a:pPr algn="ctr">
              <a:buNone/>
            </a:pPr>
            <a:r>
              <a:rPr sz="800" b="0" i="0">
                <a:solidFill>
                  <a:srgbClr val="5B6776"/>
                </a:solidFill>
                <a:latin typeface="Calibri"/>
              </a:rPr>
              <a:t>16-bit PARLIO in</a:t>
            </a:r>
            <a:endParaRPr sz="1000"/>
          </a:p>
        </p:txBody>
      </p:sp>
      <p:cxnSp>
        <p:nvCxnSpPr>
          <p:cNvPr id="38" name="Connector 37"/>
          <p:cNvCxnSpPr/>
          <p:nvPr/>
        </p:nvCxnSpPr>
        <p:spPr>
          <a:xfrm>
            <a:off x="6153912" y="2514600"/>
            <a:ext cx="109728" cy="0"/>
          </a:xfrm>
          <a:prstGeom prst="line">
            <a:avLst/>
          </a:prstGeom>
          <a:ln w="19050">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897880" y="3172968"/>
            <a:ext cx="1645920" cy="228600"/>
          </a:xfrm>
          <a:prstGeom prst="rect">
            <a:avLst/>
          </a:prstGeom>
          <a:noFill/>
        </p:spPr>
        <p:txBody>
          <a:bodyPr wrap="square" lIns="0" tIns="0" rIns="0" bIns="0" anchor="t">
            <a:spAutoFit/>
          </a:bodyPr>
          <a:lstStyle/>
          <a:p>
            <a:pPr algn="l">
              <a:buNone/>
            </a:pPr>
            <a:r>
              <a:rPr sz="800" b="0" i="0">
                <a:solidFill>
                  <a:srgbClr val="6F4E9E"/>
                </a:solidFill>
                <a:latin typeface="Calibri"/>
              </a:rPr>
              <a:t>8 × 2-bit @ 40 MHz</a:t>
            </a:r>
            <a:endParaRPr sz="800"/>
          </a:p>
        </p:txBody>
      </p:sp>
      <p:sp>
        <p:nvSpPr>
          <p:cNvPr id="40" name="Rectangle 39"/>
          <p:cNvSpPr/>
          <p:nvPr/>
        </p:nvSpPr>
        <p:spPr>
          <a:xfrm>
            <a:off x="7452360" y="2148840"/>
            <a:ext cx="868680" cy="731520"/>
          </a:xfrm>
          <a:prstGeom prst="rect">
            <a:avLst/>
          </a:prstGeom>
          <a:no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PHY</a:t>
            </a:r>
            <a:endParaRPr sz="1000"/>
          </a:p>
          <a:p>
            <a:pPr algn="ctr">
              <a:buNone/>
            </a:pPr>
            <a:r>
              <a:rPr sz="800" b="0" i="0">
                <a:solidFill>
                  <a:srgbClr val="5B6776"/>
                </a:solidFill>
                <a:latin typeface="Calibri"/>
              </a:rPr>
              <a:t>RTL8211F</a:t>
            </a:r>
            <a:endParaRPr sz="1000"/>
          </a:p>
        </p:txBody>
      </p:sp>
      <p:cxnSp>
        <p:nvCxnSpPr>
          <p:cNvPr id="41" name="Connector 40"/>
          <p:cNvCxnSpPr/>
          <p:nvPr/>
        </p:nvCxnSpPr>
        <p:spPr>
          <a:xfrm>
            <a:off x="7223760" y="2514600"/>
            <a:ext cx="228600" cy="0"/>
          </a:xfrm>
          <a:prstGeom prst="line">
            <a:avLst/>
          </a:prstGeom>
          <a:ln w="1587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178040" y="2240280"/>
            <a:ext cx="320040" cy="228600"/>
          </a:xfrm>
          <a:prstGeom prst="rect">
            <a:avLst/>
          </a:prstGeom>
          <a:noFill/>
        </p:spPr>
        <p:txBody>
          <a:bodyPr wrap="square" lIns="0" tIns="0" rIns="0" bIns="0" anchor="t">
            <a:spAutoFit/>
          </a:bodyPr>
          <a:lstStyle/>
          <a:p>
            <a:pPr algn="ctr">
              <a:buNone/>
            </a:pPr>
            <a:r>
              <a:rPr sz="700" b="0" i="0">
                <a:solidFill>
                  <a:srgbClr val="5B6776"/>
                </a:solidFill>
                <a:latin typeface="Calibri"/>
              </a:rPr>
              <a:t>RGMII</a:t>
            </a:r>
            <a:endParaRPr sz="700"/>
          </a:p>
        </p:txBody>
      </p:sp>
      <p:cxnSp>
        <p:nvCxnSpPr>
          <p:cNvPr id="43" name="Connector 42"/>
          <p:cNvCxnSpPr/>
          <p:nvPr/>
        </p:nvCxnSpPr>
        <p:spPr>
          <a:xfrm>
            <a:off x="2560320" y="210312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2788920" y="1691640"/>
            <a:ext cx="0" cy="41148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788920" y="1691640"/>
            <a:ext cx="731520" cy="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560320" y="3017520"/>
            <a:ext cx="384048" cy="0"/>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944368" y="2075688"/>
            <a:ext cx="0" cy="941832"/>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944368" y="2075688"/>
            <a:ext cx="576072" cy="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560320" y="3931920"/>
            <a:ext cx="539495" cy="0"/>
          </a:xfrm>
          <a:prstGeom prst="line">
            <a:avLst/>
          </a:prstGeom>
          <a:ln w="15875">
            <a:solidFill>
              <a:srgbClr val="A86A0B"/>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099815" y="2459736"/>
            <a:ext cx="0" cy="1472184"/>
          </a:xfrm>
          <a:prstGeom prst="line">
            <a:avLst/>
          </a:prstGeom>
          <a:ln w="15875">
            <a:solidFill>
              <a:srgbClr val="A86A0B"/>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099815" y="2459736"/>
            <a:ext cx="420625" cy="0"/>
          </a:xfrm>
          <a:prstGeom prst="line">
            <a:avLst/>
          </a:prstGeom>
          <a:ln w="15875">
            <a:solidFill>
              <a:srgbClr val="A86A0B"/>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560320" y="4846320"/>
            <a:ext cx="694943" cy="0"/>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255263" y="2843784"/>
            <a:ext cx="0" cy="2002536"/>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255263" y="2843784"/>
            <a:ext cx="265177"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321040" y="2514600"/>
            <a:ext cx="822960" cy="0"/>
          </a:xfrm>
          <a:prstGeom prst="line">
            <a:avLst/>
          </a:prstGeom>
          <a:ln w="2222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66760" y="2240280"/>
            <a:ext cx="731520" cy="228600"/>
          </a:xfrm>
          <a:prstGeom prst="rect">
            <a:avLst/>
          </a:prstGeom>
          <a:noFill/>
        </p:spPr>
        <p:txBody>
          <a:bodyPr wrap="square" lIns="0" tIns="0" rIns="0" bIns="0" anchor="t">
            <a:spAutoFit/>
          </a:bodyPr>
          <a:lstStyle/>
          <a:p>
            <a:pPr algn="l">
              <a:buNone/>
            </a:pPr>
            <a:r>
              <a:rPr sz="900" b="0" i="0">
                <a:solidFill>
                  <a:srgbClr val="1D2733"/>
                </a:solidFill>
                <a:latin typeface="Calibri"/>
              </a:rPr>
              <a:t>1 GbE</a:t>
            </a:r>
            <a:endParaRPr sz="900"/>
          </a:p>
        </p:txBody>
      </p:sp>
      <p:sp>
        <p:nvSpPr>
          <p:cNvPr id="57" name="Rectangle 56"/>
          <p:cNvSpPr/>
          <p:nvPr/>
        </p:nvSpPr>
        <p:spPr>
          <a:xfrm>
            <a:off x="3520440" y="3703320"/>
            <a:ext cx="4937760" cy="2148840"/>
          </a:xfrm>
          <a:prstGeom prst="rect">
            <a:avLst/>
          </a:prstGeom>
          <a:no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58" name="TextBox 57"/>
          <p:cNvSpPr txBox="1"/>
          <p:nvPr/>
        </p:nvSpPr>
        <p:spPr>
          <a:xfrm>
            <a:off x="3611880" y="3749039"/>
            <a:ext cx="3200400" cy="228600"/>
          </a:xfrm>
          <a:prstGeom prst="rect">
            <a:avLst/>
          </a:prstGeom>
          <a:noFill/>
        </p:spPr>
        <p:txBody>
          <a:bodyPr wrap="square" lIns="0" tIns="0" rIns="0" bIns="0" anchor="t">
            <a:spAutoFit/>
          </a:bodyPr>
          <a:lstStyle/>
          <a:p>
            <a:pPr algn="l">
              <a:buNone/>
            </a:pPr>
            <a:r>
              <a:rPr sz="1100" b="0" i="0">
                <a:solidFill>
                  <a:srgbClr val="5B6776"/>
                </a:solidFill>
                <a:latin typeface="Calibri"/>
              </a:rPr>
              <a:t>Tile B — 8 × ESP32-C5 (2 × 4)</a:t>
            </a:r>
            <a:endParaRPr sz="1100"/>
          </a:p>
        </p:txBody>
      </p:sp>
      <p:sp>
        <p:nvSpPr>
          <p:cNvPr id="59" name="Rectangle 58"/>
          <p:cNvSpPr/>
          <p:nvPr/>
        </p:nvSpPr>
        <p:spPr>
          <a:xfrm>
            <a:off x="3963924" y="410108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60" name="Connector 59"/>
          <p:cNvCxnSpPr/>
          <p:nvPr/>
        </p:nvCxnSpPr>
        <p:spPr>
          <a:xfrm>
            <a:off x="4023360" y="421995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3794760" y="434340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62" name="Rectangle 61"/>
          <p:cNvSpPr/>
          <p:nvPr/>
        </p:nvSpPr>
        <p:spPr>
          <a:xfrm>
            <a:off x="4567428" y="410108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63" name="Connector 62"/>
          <p:cNvCxnSpPr/>
          <p:nvPr/>
        </p:nvCxnSpPr>
        <p:spPr>
          <a:xfrm>
            <a:off x="4626864" y="421995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4398264" y="434340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65" name="Rectangle 64"/>
          <p:cNvSpPr/>
          <p:nvPr/>
        </p:nvSpPr>
        <p:spPr>
          <a:xfrm>
            <a:off x="5170932" y="410108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66" name="Connector 65"/>
          <p:cNvCxnSpPr/>
          <p:nvPr/>
        </p:nvCxnSpPr>
        <p:spPr>
          <a:xfrm>
            <a:off x="5230368" y="421995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001768" y="434340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68" name="Rectangle 67"/>
          <p:cNvSpPr/>
          <p:nvPr/>
        </p:nvSpPr>
        <p:spPr>
          <a:xfrm>
            <a:off x="5774436" y="410108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69" name="Connector 68"/>
          <p:cNvCxnSpPr/>
          <p:nvPr/>
        </p:nvCxnSpPr>
        <p:spPr>
          <a:xfrm>
            <a:off x="5833872" y="421995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605272" y="434340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71" name="Rectangle 70"/>
          <p:cNvSpPr/>
          <p:nvPr/>
        </p:nvSpPr>
        <p:spPr>
          <a:xfrm>
            <a:off x="3963924" y="487832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72" name="Connector 71"/>
          <p:cNvCxnSpPr/>
          <p:nvPr/>
        </p:nvCxnSpPr>
        <p:spPr>
          <a:xfrm>
            <a:off x="4023360" y="499719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3794760" y="512064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74" name="Rectangle 73"/>
          <p:cNvSpPr/>
          <p:nvPr/>
        </p:nvSpPr>
        <p:spPr>
          <a:xfrm>
            <a:off x="4567428" y="487832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75" name="Connector 74"/>
          <p:cNvCxnSpPr/>
          <p:nvPr/>
        </p:nvCxnSpPr>
        <p:spPr>
          <a:xfrm>
            <a:off x="4626864" y="499719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4398264" y="512064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77" name="Rectangle 76"/>
          <p:cNvSpPr/>
          <p:nvPr/>
        </p:nvSpPr>
        <p:spPr>
          <a:xfrm>
            <a:off x="5170932" y="487832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78" name="Connector 77"/>
          <p:cNvCxnSpPr/>
          <p:nvPr/>
        </p:nvCxnSpPr>
        <p:spPr>
          <a:xfrm>
            <a:off x="5230368" y="499719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5001768" y="512064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80" name="Rectangle 79"/>
          <p:cNvSpPr/>
          <p:nvPr/>
        </p:nvSpPr>
        <p:spPr>
          <a:xfrm>
            <a:off x="5774436" y="4878323"/>
            <a:ext cx="118872" cy="1188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cxnSp>
        <p:nvCxnSpPr>
          <p:cNvPr id="81" name="Connector 80"/>
          <p:cNvCxnSpPr/>
          <p:nvPr/>
        </p:nvCxnSpPr>
        <p:spPr>
          <a:xfrm>
            <a:off x="5833872" y="4997196"/>
            <a:ext cx="0" cy="123444"/>
          </a:xfrm>
          <a:prstGeom prst="line">
            <a:avLst/>
          </a:prstGeom>
          <a:ln w="9525">
            <a:solidFill>
              <a:srgbClr val="0E7C76"/>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5605272" y="5120640"/>
            <a:ext cx="457200" cy="329184"/>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1D2733"/>
                </a:solidFill>
                <a:latin typeface="Calibri"/>
              </a:rPr>
              <a:t>C5</a:t>
            </a:r>
            <a:endParaRPr sz="900"/>
          </a:p>
        </p:txBody>
      </p:sp>
      <p:sp>
        <p:nvSpPr>
          <p:cNvPr id="83" name="Rectangle 82"/>
          <p:cNvSpPr/>
          <p:nvPr/>
        </p:nvSpPr>
        <p:spPr>
          <a:xfrm>
            <a:off x="6263640" y="4206240"/>
            <a:ext cx="960120" cy="128016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ESP32-S31</a:t>
            </a:r>
            <a:endParaRPr sz="1000"/>
          </a:p>
          <a:p>
            <a:pPr algn="ctr">
              <a:buNone/>
            </a:pPr>
            <a:r>
              <a:rPr sz="800" b="0" i="0">
                <a:solidFill>
                  <a:srgbClr val="5B6776"/>
                </a:solidFill>
                <a:latin typeface="Calibri"/>
              </a:rPr>
              <a:t>16-bit PARLIO in</a:t>
            </a:r>
            <a:endParaRPr sz="1000"/>
          </a:p>
        </p:txBody>
      </p:sp>
      <p:cxnSp>
        <p:nvCxnSpPr>
          <p:cNvPr id="84" name="Connector 83"/>
          <p:cNvCxnSpPr/>
          <p:nvPr/>
        </p:nvCxnSpPr>
        <p:spPr>
          <a:xfrm>
            <a:off x="6153912" y="4846320"/>
            <a:ext cx="109728" cy="0"/>
          </a:xfrm>
          <a:prstGeom prst="line">
            <a:avLst/>
          </a:prstGeom>
          <a:ln w="19050">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5897880" y="5504688"/>
            <a:ext cx="1645920" cy="228600"/>
          </a:xfrm>
          <a:prstGeom prst="rect">
            <a:avLst/>
          </a:prstGeom>
          <a:noFill/>
        </p:spPr>
        <p:txBody>
          <a:bodyPr wrap="square" lIns="0" tIns="0" rIns="0" bIns="0" anchor="t">
            <a:spAutoFit/>
          </a:bodyPr>
          <a:lstStyle/>
          <a:p>
            <a:pPr algn="l">
              <a:buNone/>
            </a:pPr>
            <a:r>
              <a:rPr sz="800" b="0" i="0">
                <a:solidFill>
                  <a:srgbClr val="6F4E9E"/>
                </a:solidFill>
                <a:latin typeface="Calibri"/>
              </a:rPr>
              <a:t>8 × 2-bit @ 40 MHz</a:t>
            </a:r>
            <a:endParaRPr sz="800"/>
          </a:p>
        </p:txBody>
      </p:sp>
      <p:sp>
        <p:nvSpPr>
          <p:cNvPr id="86" name="Rectangle 85"/>
          <p:cNvSpPr/>
          <p:nvPr/>
        </p:nvSpPr>
        <p:spPr>
          <a:xfrm>
            <a:off x="7452360" y="4480559"/>
            <a:ext cx="868680" cy="731520"/>
          </a:xfrm>
          <a:prstGeom prst="rect">
            <a:avLst/>
          </a:prstGeom>
          <a:no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PHY</a:t>
            </a:r>
            <a:endParaRPr sz="1000"/>
          </a:p>
          <a:p>
            <a:pPr algn="ctr">
              <a:buNone/>
            </a:pPr>
            <a:r>
              <a:rPr sz="800" b="0" i="0">
                <a:solidFill>
                  <a:srgbClr val="5B6776"/>
                </a:solidFill>
                <a:latin typeface="Calibri"/>
              </a:rPr>
              <a:t>RTL8211F</a:t>
            </a:r>
            <a:endParaRPr sz="1000"/>
          </a:p>
        </p:txBody>
      </p:sp>
      <p:cxnSp>
        <p:nvCxnSpPr>
          <p:cNvPr id="87" name="Connector 86"/>
          <p:cNvCxnSpPr/>
          <p:nvPr/>
        </p:nvCxnSpPr>
        <p:spPr>
          <a:xfrm>
            <a:off x="7223760" y="4846320"/>
            <a:ext cx="228600" cy="0"/>
          </a:xfrm>
          <a:prstGeom prst="line">
            <a:avLst/>
          </a:prstGeom>
          <a:ln w="1587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178040" y="4572000"/>
            <a:ext cx="320040" cy="228600"/>
          </a:xfrm>
          <a:prstGeom prst="rect">
            <a:avLst/>
          </a:prstGeom>
          <a:noFill/>
        </p:spPr>
        <p:txBody>
          <a:bodyPr wrap="square" lIns="0" tIns="0" rIns="0" bIns="0" anchor="t">
            <a:spAutoFit/>
          </a:bodyPr>
          <a:lstStyle/>
          <a:p>
            <a:pPr algn="ctr">
              <a:buNone/>
            </a:pPr>
            <a:r>
              <a:rPr sz="700" b="0" i="0">
                <a:solidFill>
                  <a:srgbClr val="5B6776"/>
                </a:solidFill>
                <a:latin typeface="Calibri"/>
              </a:rPr>
              <a:t>RGMII</a:t>
            </a:r>
            <a:endParaRPr sz="700"/>
          </a:p>
        </p:txBody>
      </p:sp>
      <p:cxnSp>
        <p:nvCxnSpPr>
          <p:cNvPr id="89" name="Connector 88"/>
          <p:cNvCxnSpPr/>
          <p:nvPr/>
        </p:nvCxnSpPr>
        <p:spPr>
          <a:xfrm>
            <a:off x="2560320" y="2103120"/>
            <a:ext cx="228600" cy="0"/>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2788920" y="2103120"/>
            <a:ext cx="0" cy="1920239"/>
          </a:xfrm>
          <a:prstGeom prst="line">
            <a:avLst/>
          </a:prstGeom>
          <a:ln w="15875">
            <a:solidFill>
              <a:srgbClr val="1F5C9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2788920" y="4023359"/>
            <a:ext cx="731520" cy="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2560320" y="3017520"/>
            <a:ext cx="384048" cy="0"/>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2944368" y="3017520"/>
            <a:ext cx="0" cy="1389887"/>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2944368" y="4407407"/>
            <a:ext cx="576072" cy="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2560320" y="3931920"/>
            <a:ext cx="539495" cy="0"/>
          </a:xfrm>
          <a:prstGeom prst="line">
            <a:avLst/>
          </a:prstGeom>
          <a:ln w="15875">
            <a:solidFill>
              <a:srgbClr val="A86A0B"/>
            </a:solidFill>
            <a:prstDash val="dash"/>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3099815" y="3931920"/>
            <a:ext cx="0" cy="859535"/>
          </a:xfrm>
          <a:prstGeom prst="line">
            <a:avLst/>
          </a:prstGeom>
          <a:ln w="15875">
            <a:solidFill>
              <a:srgbClr val="A86A0B"/>
            </a:solidFill>
            <a:prstDash val="dash"/>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3099815" y="4791455"/>
            <a:ext cx="420625" cy="0"/>
          </a:xfrm>
          <a:prstGeom prst="line">
            <a:avLst/>
          </a:prstGeom>
          <a:ln w="15875">
            <a:solidFill>
              <a:srgbClr val="A86A0B"/>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2560320" y="4846320"/>
            <a:ext cx="694943" cy="0"/>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3255263" y="4846320"/>
            <a:ext cx="0" cy="329183"/>
          </a:xfrm>
          <a:prstGeom prst="line">
            <a:avLst/>
          </a:prstGeom>
          <a:ln w="15875">
            <a:solidFill>
              <a:srgbClr val="0E7C7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3255263" y="5175503"/>
            <a:ext cx="265177" cy="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321040" y="4846320"/>
            <a:ext cx="822960" cy="0"/>
          </a:xfrm>
          <a:prstGeom prst="line">
            <a:avLst/>
          </a:prstGeom>
          <a:ln w="2222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8366760" y="4572000"/>
            <a:ext cx="731520" cy="228600"/>
          </a:xfrm>
          <a:prstGeom prst="rect">
            <a:avLst/>
          </a:prstGeom>
          <a:noFill/>
        </p:spPr>
        <p:txBody>
          <a:bodyPr wrap="square" lIns="0" tIns="0" rIns="0" bIns="0" anchor="t">
            <a:spAutoFit/>
          </a:bodyPr>
          <a:lstStyle/>
          <a:p>
            <a:pPr algn="l">
              <a:buNone/>
            </a:pPr>
            <a:r>
              <a:rPr sz="900" b="0" i="0">
                <a:solidFill>
                  <a:srgbClr val="1D2733"/>
                </a:solidFill>
                <a:latin typeface="Calibri"/>
              </a:rPr>
              <a:t>1 GbE</a:t>
            </a:r>
            <a:endParaRPr sz="900"/>
          </a:p>
        </p:txBody>
      </p:sp>
      <p:sp>
        <p:nvSpPr>
          <p:cNvPr id="103" name="Rectangle 102"/>
          <p:cNvSpPr/>
          <p:nvPr/>
        </p:nvSpPr>
        <p:spPr>
          <a:xfrm>
            <a:off x="9144000" y="2011680"/>
            <a:ext cx="2496312" cy="2926080"/>
          </a:xfrm>
          <a:prstGeom prst="rect">
            <a:avLst/>
          </a:prstGeom>
          <a:solidFill>
            <a:srgbClr val="FFFFFF"/>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Host PC</a:t>
            </a:r>
            <a:endParaRPr sz="1200"/>
          </a:p>
          <a:p>
            <a:pPr algn="ctr">
              <a:buNone/>
            </a:pPr>
            <a:r>
              <a:rPr sz="1000" b="0" i="0">
                <a:solidFill>
                  <a:srgbClr val="5B6776"/>
                </a:solidFill>
                <a:latin typeface="Calibri"/>
              </a:rPr>
              <a:t>2 × GbE NIC</a:t>
            </a:r>
            <a:endParaRPr sz="1200"/>
          </a:p>
          <a:p>
            <a:pPr algn="ctr">
              <a:buNone/>
            </a:pPr>
            <a:r>
              <a:rPr sz="1000" b="0" i="0">
                <a:solidFill>
                  <a:srgbClr val="5B6776"/>
                </a:solidFill>
                <a:latin typeface="Calibri"/>
              </a:rPr>
              <a:t>bit de-interleaving</a:t>
            </a:r>
            <a:endParaRPr sz="1200"/>
          </a:p>
          <a:p>
            <a:pPr algn="ctr">
              <a:buNone/>
            </a:pPr>
            <a:r>
              <a:rPr sz="1000" b="0" i="0">
                <a:solidFill>
                  <a:srgbClr val="5B6776"/>
                </a:solidFill>
                <a:latin typeface="Calibri"/>
              </a:rPr>
              <a:t>calibration, FFT</a:t>
            </a:r>
            <a:endParaRPr sz="1200"/>
          </a:p>
          <a:p>
            <a:pPr algn="ctr">
              <a:buNone/>
            </a:pPr>
            <a:r>
              <a:rPr sz="1000" b="0" i="0">
                <a:solidFill>
                  <a:srgbClr val="5B6776"/>
                </a:solidFill>
                <a:latin typeface="Calibri"/>
              </a:rPr>
              <a:t>beamforming, AoA</a:t>
            </a:r>
            <a:endParaRPr sz="1200"/>
          </a:p>
          <a:p>
            <a:pPr algn="ctr">
              <a:buNone/>
            </a:pPr>
            <a:r>
              <a:rPr sz="1000" b="0" i="0">
                <a:solidFill>
                  <a:srgbClr val="5B6776"/>
                </a:solidFill>
                <a:latin typeface="Calibri"/>
              </a:rPr>
              <a:t>radar / sensing</a:t>
            </a:r>
            <a:endParaRPr sz="1200"/>
          </a:p>
        </p:txBody>
      </p:sp>
      <p:cxnSp>
        <p:nvCxnSpPr>
          <p:cNvPr id="104" name="Connector 103"/>
          <p:cNvCxnSpPr/>
          <p:nvPr/>
        </p:nvCxnSpPr>
        <p:spPr>
          <a:xfrm>
            <a:off x="548640" y="6153912"/>
            <a:ext cx="365760" cy="0"/>
          </a:xfrm>
          <a:prstGeom prst="line">
            <a:avLst/>
          </a:prstGeom>
          <a:ln w="19050">
            <a:solidFill>
              <a:srgbClr val="1F5C99"/>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987552" y="6053328"/>
            <a:ext cx="1318564" cy="201168"/>
          </a:xfrm>
          <a:prstGeom prst="rect">
            <a:avLst/>
          </a:prstGeom>
          <a:noFill/>
        </p:spPr>
        <p:txBody>
          <a:bodyPr wrap="square" lIns="0" tIns="0" rIns="0" bIns="0" anchor="ctr">
            <a:spAutoFit/>
          </a:bodyPr>
          <a:lstStyle/>
          <a:p>
            <a:pPr algn="l">
              <a:buNone/>
            </a:pPr>
            <a:r>
              <a:rPr sz="1000" b="0" i="0">
                <a:solidFill>
                  <a:srgbClr val="5B6776"/>
                </a:solidFill>
                <a:latin typeface="Calibri"/>
              </a:rPr>
              <a:t>48 MHz RF reference</a:t>
            </a:r>
            <a:endParaRPr sz="1000"/>
          </a:p>
        </p:txBody>
      </p:sp>
      <p:cxnSp>
        <p:nvCxnSpPr>
          <p:cNvPr id="106" name="Connector 105"/>
          <p:cNvCxnSpPr/>
          <p:nvPr/>
        </p:nvCxnSpPr>
        <p:spPr>
          <a:xfrm>
            <a:off x="2580436" y="6153912"/>
            <a:ext cx="365760" cy="0"/>
          </a:xfrm>
          <a:prstGeom prst="line">
            <a:avLst/>
          </a:prstGeom>
          <a:ln w="19050">
            <a:solidFill>
              <a:srgbClr val="6F4E9E"/>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3019348" y="6053328"/>
            <a:ext cx="1318564" cy="201168"/>
          </a:xfrm>
          <a:prstGeom prst="rect">
            <a:avLst/>
          </a:prstGeom>
          <a:noFill/>
        </p:spPr>
        <p:txBody>
          <a:bodyPr wrap="square" lIns="0" tIns="0" rIns="0" bIns="0" anchor="ctr">
            <a:spAutoFit/>
          </a:bodyPr>
          <a:lstStyle/>
          <a:p>
            <a:pPr algn="l">
              <a:buNone/>
            </a:pPr>
            <a:r>
              <a:rPr sz="1000" b="0" i="0">
                <a:solidFill>
                  <a:srgbClr val="5B6776"/>
                </a:solidFill>
                <a:latin typeface="Calibri"/>
              </a:rPr>
              <a:t>40 MHz PARLIO clock</a:t>
            </a:r>
            <a:endParaRPr sz="1000"/>
          </a:p>
        </p:txBody>
      </p:sp>
      <p:cxnSp>
        <p:nvCxnSpPr>
          <p:cNvPr id="108" name="Connector 107"/>
          <p:cNvCxnSpPr/>
          <p:nvPr/>
        </p:nvCxnSpPr>
        <p:spPr>
          <a:xfrm>
            <a:off x="4612233" y="6153912"/>
            <a:ext cx="365760" cy="0"/>
          </a:xfrm>
          <a:prstGeom prst="line">
            <a:avLst/>
          </a:prstGeom>
          <a:ln w="19050">
            <a:solidFill>
              <a:srgbClr val="A86A0B"/>
            </a:solidFill>
            <a:prstDash val="dash"/>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5051145" y="6053328"/>
            <a:ext cx="572414" cy="201168"/>
          </a:xfrm>
          <a:prstGeom prst="rect">
            <a:avLst/>
          </a:prstGeom>
          <a:noFill/>
        </p:spPr>
        <p:txBody>
          <a:bodyPr wrap="square" lIns="0" tIns="0" rIns="0" bIns="0" anchor="ctr">
            <a:spAutoFit/>
          </a:bodyPr>
          <a:lstStyle/>
          <a:p>
            <a:pPr algn="l">
              <a:buNone/>
            </a:pPr>
            <a:r>
              <a:rPr sz="1000" b="0" i="0">
                <a:solidFill>
                  <a:srgbClr val="5B6776"/>
                </a:solidFill>
                <a:latin typeface="Calibri"/>
              </a:rPr>
              <a:t>trigger</a:t>
            </a:r>
            <a:endParaRPr sz="1000"/>
          </a:p>
        </p:txBody>
      </p:sp>
      <p:cxnSp>
        <p:nvCxnSpPr>
          <p:cNvPr id="110" name="Connector 109"/>
          <p:cNvCxnSpPr/>
          <p:nvPr/>
        </p:nvCxnSpPr>
        <p:spPr>
          <a:xfrm>
            <a:off x="5897880" y="6153912"/>
            <a:ext cx="365760" cy="0"/>
          </a:xfrm>
          <a:prstGeom prst="line">
            <a:avLst/>
          </a:prstGeom>
          <a:ln w="19050">
            <a:solidFill>
              <a:srgbClr val="0E7C76"/>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336792" y="6053328"/>
            <a:ext cx="1318564" cy="201168"/>
          </a:xfrm>
          <a:prstGeom prst="rect">
            <a:avLst/>
          </a:prstGeom>
          <a:noFill/>
        </p:spPr>
        <p:txBody>
          <a:bodyPr wrap="square" lIns="0" tIns="0" rIns="0" bIns="0" anchor="ctr">
            <a:spAutoFit/>
          </a:bodyPr>
          <a:lstStyle/>
          <a:p>
            <a:pPr algn="l">
              <a:buNone/>
            </a:pPr>
            <a:r>
              <a:rPr sz="1000" b="0" i="0">
                <a:solidFill>
                  <a:srgbClr val="5B6776"/>
                </a:solidFill>
                <a:latin typeface="Calibri"/>
              </a:rPr>
              <a:t>5.2 GHz calibration</a:t>
            </a:r>
            <a:endParaRPr sz="1000"/>
          </a:p>
        </p:txBody>
      </p:sp>
      <p:cxnSp>
        <p:nvCxnSpPr>
          <p:cNvPr id="112" name="Connector 111"/>
          <p:cNvCxnSpPr/>
          <p:nvPr/>
        </p:nvCxnSpPr>
        <p:spPr>
          <a:xfrm>
            <a:off x="7929676" y="6153912"/>
            <a:ext cx="365760" cy="0"/>
          </a:xfrm>
          <a:prstGeom prst="line">
            <a:avLst/>
          </a:prstGeom>
          <a:ln w="19050">
            <a:solidFill>
              <a:srgbClr val="1D2733"/>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8368588" y="6053328"/>
            <a:ext cx="385876" cy="201168"/>
          </a:xfrm>
          <a:prstGeom prst="rect">
            <a:avLst/>
          </a:prstGeom>
          <a:noFill/>
        </p:spPr>
        <p:txBody>
          <a:bodyPr wrap="square" lIns="0" tIns="0" rIns="0" bIns="0" anchor="ctr">
            <a:spAutoFit/>
          </a:bodyPr>
          <a:lstStyle/>
          <a:p>
            <a:pPr algn="l">
              <a:buNone/>
            </a:pPr>
            <a:r>
              <a:rPr sz="1000" b="0" i="0">
                <a:solidFill>
                  <a:srgbClr val="5B6776"/>
                </a:solidFill>
                <a:latin typeface="Calibri"/>
              </a:rPr>
              <a:t>data</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One tile: eight C5s, one S31, one Gigabit port</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C5 PARLIO: datasheet v1.5. S31 EMAC 10/100/1000 over MII/RMII/RGMII with IEEE 1588 (datasheet v0.5). Espressif's S31 board and ESP-SDR use a YT8531 RGMII PHY.</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15</a:t>
            </a:r>
            <a:endParaRPr sz="1000"/>
          </a:p>
        </p:txBody>
      </p:sp>
      <p:sp>
        <p:nvSpPr>
          <p:cNvPr id="5" name="Rectangle 4"/>
          <p:cNvSpPr/>
          <p:nvPr/>
        </p:nvSpPr>
        <p:spPr>
          <a:xfrm>
            <a:off x="713232" y="2029967"/>
            <a:ext cx="868680" cy="64008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6" name="Rectangle 5"/>
          <p:cNvSpPr/>
          <p:nvPr/>
        </p:nvSpPr>
        <p:spPr>
          <a:xfrm>
            <a:off x="658368" y="2084831"/>
            <a:ext cx="868680" cy="64008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7" name="Rectangle 6"/>
          <p:cNvSpPr/>
          <p:nvPr/>
        </p:nvSpPr>
        <p:spPr>
          <a:xfrm>
            <a:off x="603503" y="2139696"/>
            <a:ext cx="868680" cy="64008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8" name="Rectangle 7"/>
          <p:cNvSpPr/>
          <p:nvPr/>
        </p:nvSpPr>
        <p:spPr>
          <a:xfrm>
            <a:off x="548640" y="2194560"/>
            <a:ext cx="868680" cy="640080"/>
          </a:xfrm>
          <a:prstGeom prst="rect">
            <a:avLst/>
          </a:prstGeom>
          <a:solidFill>
            <a:srgbClr val="FFFFFF"/>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Patch</a:t>
            </a:r>
            <a:endParaRPr sz="1200"/>
          </a:p>
          <a:p>
            <a:pPr algn="ctr">
              <a:buNone/>
            </a:pPr>
            <a:r>
              <a:rPr sz="1000" b="0" i="0">
                <a:solidFill>
                  <a:srgbClr val="5B6776"/>
                </a:solidFill>
                <a:latin typeface="Calibri"/>
              </a:rPr>
              <a:t>5.2 GHz</a:t>
            </a:r>
            <a:endParaRPr sz="1200"/>
          </a:p>
        </p:txBody>
      </p:sp>
      <p:sp>
        <p:nvSpPr>
          <p:cNvPr id="9" name="Rectangle 8"/>
          <p:cNvSpPr/>
          <p:nvPr/>
        </p:nvSpPr>
        <p:spPr>
          <a:xfrm>
            <a:off x="1901952" y="2029967"/>
            <a:ext cx="777240" cy="64008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0" name="Rectangle 9"/>
          <p:cNvSpPr/>
          <p:nvPr/>
        </p:nvSpPr>
        <p:spPr>
          <a:xfrm>
            <a:off x="1847088" y="2084831"/>
            <a:ext cx="777240" cy="64008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1" name="Rectangle 10"/>
          <p:cNvSpPr/>
          <p:nvPr/>
        </p:nvSpPr>
        <p:spPr>
          <a:xfrm>
            <a:off x="1792224" y="2139696"/>
            <a:ext cx="777240" cy="64008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2" name="Rectangle 11"/>
          <p:cNvSpPr/>
          <p:nvPr/>
        </p:nvSpPr>
        <p:spPr>
          <a:xfrm>
            <a:off x="1737360" y="2194560"/>
            <a:ext cx="777240" cy="640080"/>
          </a:xfrm>
          <a:prstGeom prst="rect">
            <a:avLst/>
          </a:prstGeom>
          <a:solidFill>
            <a:srgbClr val="FFFFFF"/>
          </a:solid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SPDT</a:t>
            </a:r>
            <a:endParaRPr sz="1200"/>
          </a:p>
          <a:p>
            <a:pPr algn="ctr">
              <a:buNone/>
            </a:pPr>
            <a:r>
              <a:rPr sz="1000" b="0" i="0">
                <a:solidFill>
                  <a:srgbClr val="5B6776"/>
                </a:solidFill>
                <a:latin typeface="Calibri"/>
              </a:rPr>
              <a:t>ANT / CAL</a:t>
            </a:r>
            <a:endParaRPr sz="1200"/>
          </a:p>
        </p:txBody>
      </p:sp>
      <p:sp>
        <p:nvSpPr>
          <p:cNvPr id="13" name="Rectangle 12"/>
          <p:cNvSpPr/>
          <p:nvPr/>
        </p:nvSpPr>
        <p:spPr>
          <a:xfrm>
            <a:off x="3044952" y="1847088"/>
            <a:ext cx="1463040" cy="100584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4" name="Rectangle 13"/>
          <p:cNvSpPr/>
          <p:nvPr/>
        </p:nvSpPr>
        <p:spPr>
          <a:xfrm>
            <a:off x="2990088" y="1901952"/>
            <a:ext cx="1463040" cy="100584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5" name="Rectangle 14"/>
          <p:cNvSpPr/>
          <p:nvPr/>
        </p:nvSpPr>
        <p:spPr>
          <a:xfrm>
            <a:off x="2935224" y="1956816"/>
            <a:ext cx="1463040" cy="100584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6" name="Rectangle 15"/>
          <p:cNvSpPr/>
          <p:nvPr/>
        </p:nvSpPr>
        <p:spPr>
          <a:xfrm>
            <a:off x="2880360" y="2011680"/>
            <a:ext cx="1463040" cy="1005840"/>
          </a:xfrm>
          <a:prstGeom prst="rect">
            <a:avLst/>
          </a:prstGeom>
          <a:solidFill>
            <a:srgbClr val="E4F2F1"/>
          </a:solidFill>
          <a:ln w="12700">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300" b="0" i="0">
                <a:solidFill>
                  <a:srgbClr val="1D2733"/>
                </a:solidFill>
                <a:latin typeface="Calibri"/>
              </a:rPr>
              <a:t>ESP32-C5</a:t>
            </a:r>
            <a:endParaRPr sz="1300"/>
          </a:p>
          <a:p>
            <a:pPr algn="ctr">
              <a:buNone/>
            </a:pPr>
            <a:r>
              <a:rPr sz="900" b="0" i="0">
                <a:solidFill>
                  <a:srgbClr val="5B6776"/>
                </a:solidFill>
                <a:latin typeface="Calibri"/>
              </a:rPr>
              <a:t>IQ snapshot → PARLIO TX</a:t>
            </a:r>
            <a:endParaRPr sz="1300"/>
          </a:p>
        </p:txBody>
      </p:sp>
      <p:sp>
        <p:nvSpPr>
          <p:cNvPr id="17" name="TextBox 16"/>
          <p:cNvSpPr txBox="1"/>
          <p:nvPr/>
        </p:nvSpPr>
        <p:spPr>
          <a:xfrm>
            <a:off x="4251960" y="1645920"/>
            <a:ext cx="548640" cy="274320"/>
          </a:xfrm>
          <a:prstGeom prst="rect">
            <a:avLst/>
          </a:prstGeom>
          <a:noFill/>
        </p:spPr>
        <p:txBody>
          <a:bodyPr wrap="square" lIns="0" tIns="0" rIns="0" bIns="0" anchor="t">
            <a:spAutoFit/>
          </a:bodyPr>
          <a:lstStyle/>
          <a:p>
            <a:pPr algn="l">
              <a:buNone/>
            </a:pPr>
            <a:r>
              <a:rPr sz="1600" b="0" i="0">
                <a:solidFill>
                  <a:srgbClr val="0E7C76"/>
                </a:solidFill>
                <a:latin typeface="Calibri Light"/>
              </a:rPr>
              <a:t>×8</a:t>
            </a:r>
            <a:endParaRPr sz="1600"/>
          </a:p>
        </p:txBody>
      </p:sp>
      <p:cxnSp>
        <p:nvCxnSpPr>
          <p:cNvPr id="18" name="Connector 17"/>
          <p:cNvCxnSpPr/>
          <p:nvPr/>
        </p:nvCxnSpPr>
        <p:spPr>
          <a:xfrm>
            <a:off x="1417320" y="2514600"/>
            <a:ext cx="320040" cy="0"/>
          </a:xfrm>
          <a:prstGeom prst="line">
            <a:avLst/>
          </a:prstGeom>
          <a:ln w="19050">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514600" y="2514600"/>
            <a:ext cx="365760" cy="0"/>
          </a:xfrm>
          <a:prstGeom prst="line">
            <a:avLst/>
          </a:prstGeom>
          <a:ln w="19050">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257800" y="1417320"/>
            <a:ext cx="1828800" cy="274320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1" name="TextBox 20"/>
          <p:cNvSpPr txBox="1"/>
          <p:nvPr/>
        </p:nvSpPr>
        <p:spPr>
          <a:xfrm>
            <a:off x="5367528" y="1490472"/>
            <a:ext cx="1645920" cy="274320"/>
          </a:xfrm>
          <a:prstGeom prst="rect">
            <a:avLst/>
          </a:prstGeom>
          <a:noFill/>
        </p:spPr>
        <p:txBody>
          <a:bodyPr wrap="square" lIns="0" tIns="0" rIns="0" bIns="0" anchor="t">
            <a:spAutoFit/>
          </a:bodyPr>
          <a:lstStyle/>
          <a:p>
            <a:pPr algn="l">
              <a:buNone/>
            </a:pPr>
            <a:r>
              <a:rPr sz="1300" b="0" i="0">
                <a:solidFill>
                  <a:srgbClr val="1D2733"/>
                </a:solidFill>
                <a:latin typeface="Calibri"/>
              </a:rPr>
              <a:t>ESP32-S31</a:t>
            </a:r>
            <a:endParaRPr sz="1300"/>
          </a:p>
        </p:txBody>
      </p:sp>
      <p:sp>
        <p:nvSpPr>
          <p:cNvPr id="22" name="TextBox 21"/>
          <p:cNvSpPr txBox="1"/>
          <p:nvPr/>
        </p:nvSpPr>
        <p:spPr>
          <a:xfrm>
            <a:off x="5367528" y="1828800"/>
            <a:ext cx="1645920" cy="2286000"/>
          </a:xfrm>
          <a:prstGeom prst="rect">
            <a:avLst/>
          </a:prstGeom>
          <a:noFill/>
        </p:spPr>
        <p:txBody>
          <a:bodyPr wrap="square" lIns="0" tIns="0" rIns="0" bIns="0" anchor="t">
            <a:spAutoFit/>
          </a:bodyPr>
          <a:lstStyle/>
          <a:p>
            <a:pPr marL="201168" indent="-201168" algn="l">
              <a:spcAft>
                <a:spcPts val="200"/>
              </a:spcAft>
              <a:buFont typeface="Arial"/>
              <a:buChar char="•"/>
            </a:pPr>
            <a:r>
              <a:rPr sz="1000" b="0" i="0">
                <a:solidFill>
                  <a:srgbClr val="5B6776"/>
                </a:solidFill>
                <a:latin typeface="Calibri"/>
              </a:rPr>
              <a:t>16-bit PARLIO RX, external PCLK</a:t>
            </a:r>
            <a:endParaRPr sz="1000"/>
          </a:p>
          <a:p>
            <a:pPr marL="201168" indent="-201168" algn="l">
              <a:spcAft>
                <a:spcPts val="200"/>
              </a:spcAft>
              <a:buFont typeface="Arial"/>
              <a:buChar char="•"/>
            </a:pPr>
            <a:r>
              <a:rPr sz="1000" b="0" i="0">
                <a:solidFill>
                  <a:srgbClr val="5B6776"/>
                </a:solidFill>
                <a:latin typeface="Calibri"/>
              </a:rPr>
              <a:t>GDMA into RAM</a:t>
            </a:r>
            <a:endParaRPr sz="1000"/>
          </a:p>
          <a:p>
            <a:pPr marL="201168" indent="-201168" algn="l">
              <a:spcAft>
                <a:spcPts val="200"/>
              </a:spcAft>
              <a:buFont typeface="Arial"/>
              <a:buChar char="•"/>
            </a:pPr>
            <a:r>
              <a:rPr sz="1000" b="0" i="0">
                <a:solidFill>
                  <a:srgbClr val="5B6776"/>
                </a:solidFill>
                <a:latin typeface="Calibri"/>
              </a:rPr>
              <a:t>sync-word check per frame</a:t>
            </a:r>
            <a:endParaRPr sz="1000"/>
          </a:p>
          <a:p>
            <a:pPr marL="201168" indent="-201168" algn="l">
              <a:spcAft>
                <a:spcPts val="200"/>
              </a:spcAft>
              <a:buFont typeface="Arial"/>
              <a:buChar char="•"/>
            </a:pPr>
            <a:r>
              <a:rPr sz="1000" b="0" i="0">
                <a:solidFill>
                  <a:srgbClr val="5B6776"/>
                </a:solidFill>
                <a:latin typeface="Calibri"/>
              </a:rPr>
              <a:t>UDP packetization</a:t>
            </a:r>
            <a:endParaRPr sz="1000"/>
          </a:p>
          <a:p>
            <a:pPr marL="201168" indent="-201168" algn="l">
              <a:spcAft>
                <a:spcPts val="200"/>
              </a:spcAft>
              <a:buFont typeface="Arial"/>
              <a:buChar char="•"/>
            </a:pPr>
            <a:r>
              <a:rPr sz="1000" b="0" i="0">
                <a:solidFill>
                  <a:srgbClr val="5B6776"/>
                </a:solidFill>
                <a:latin typeface="Calibri"/>
              </a:rPr>
              <a:t>EMAC → RGMII</a:t>
            </a:r>
            <a:endParaRPr sz="1000"/>
          </a:p>
          <a:p>
            <a:pPr marL="201168" indent="-201168" algn="l">
              <a:spcAft>
                <a:spcPts val="200"/>
              </a:spcAft>
              <a:buFont typeface="Arial"/>
              <a:buChar char="•"/>
            </a:pPr>
            <a:r>
              <a:rPr sz="1000" b="0" i="0">
                <a:solidFill>
                  <a:srgbClr val="5B6776"/>
                </a:solidFill>
                <a:latin typeface="Calibri"/>
              </a:rPr>
              <a:t>READY / GO, ANT / CAL GPIOs</a:t>
            </a:r>
            <a:endParaRPr sz="1000"/>
          </a:p>
          <a:p>
            <a:pPr marL="201168" indent="-201168" algn="l">
              <a:spcAft>
                <a:spcPts val="200"/>
              </a:spcAft>
              <a:buFont typeface="Arial"/>
              <a:buChar char="•"/>
            </a:pPr>
            <a:r>
              <a:rPr sz="1000" b="0" i="0">
                <a:solidFill>
                  <a:srgbClr val="5B6776"/>
                </a:solidFill>
                <a:latin typeface="Calibri"/>
              </a:rPr>
              <a:t>IEEE 1588 timestamps</a:t>
            </a:r>
            <a:endParaRPr sz="1000"/>
          </a:p>
          <a:p>
            <a:pPr marL="201168" indent="-201168" algn="l">
              <a:spcAft>
                <a:spcPts val="200"/>
              </a:spcAft>
              <a:buFont typeface="Arial"/>
              <a:buChar char="•"/>
            </a:pPr>
            <a:r>
              <a:rPr sz="1000" b="0" i="0">
                <a:solidFill>
                  <a:srgbClr val="5B6776"/>
                </a:solidFill>
                <a:latin typeface="Calibri"/>
              </a:rPr>
              <a:t>USB HS for debug</a:t>
            </a:r>
            <a:endParaRPr sz="1000"/>
          </a:p>
        </p:txBody>
      </p:sp>
      <p:cxnSp>
        <p:nvCxnSpPr>
          <p:cNvPr id="23" name="Connector 22"/>
          <p:cNvCxnSpPr/>
          <p:nvPr/>
        </p:nvCxnSpPr>
        <p:spPr>
          <a:xfrm>
            <a:off x="4343400" y="2377440"/>
            <a:ext cx="914400" cy="0"/>
          </a:xfrm>
          <a:prstGeom prst="line">
            <a:avLst/>
          </a:prstGeom>
          <a:ln w="222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70832" y="2103120"/>
            <a:ext cx="914400" cy="256032"/>
          </a:xfrm>
          <a:prstGeom prst="rect">
            <a:avLst/>
          </a:prstGeom>
          <a:noFill/>
        </p:spPr>
        <p:txBody>
          <a:bodyPr wrap="square" lIns="0" tIns="0" rIns="0" bIns="0" anchor="t">
            <a:spAutoFit/>
          </a:bodyPr>
          <a:lstStyle/>
          <a:p>
            <a:pPr algn="ctr">
              <a:buNone/>
            </a:pPr>
            <a:r>
              <a:rPr sz="800" b="0" i="0">
                <a:solidFill>
                  <a:srgbClr val="6F4E9E"/>
                </a:solidFill>
                <a:latin typeface="Calibri"/>
              </a:rPr>
              <a:t>2 bit × 40 MHz</a:t>
            </a:r>
            <a:endParaRPr sz="800"/>
          </a:p>
        </p:txBody>
      </p:sp>
      <p:cxnSp>
        <p:nvCxnSpPr>
          <p:cNvPr id="25" name="Connector 24"/>
          <p:cNvCxnSpPr/>
          <p:nvPr/>
        </p:nvCxnSpPr>
        <p:spPr>
          <a:xfrm flipH="1">
            <a:off x="4343400" y="2788920"/>
            <a:ext cx="914400" cy="0"/>
          </a:xfrm>
          <a:prstGeom prst="line">
            <a:avLst/>
          </a:prstGeom>
          <a:ln w="12700">
            <a:solidFill>
              <a:srgbClr val="A86A0B"/>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343400" y="2971800"/>
            <a:ext cx="914400" cy="0"/>
          </a:xfrm>
          <a:prstGeom prst="line">
            <a:avLst/>
          </a:prstGeom>
          <a:ln w="12700">
            <a:solidFill>
              <a:srgbClr val="A86A0B"/>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70832" y="2990088"/>
            <a:ext cx="914400" cy="237744"/>
          </a:xfrm>
          <a:prstGeom prst="rect">
            <a:avLst/>
          </a:prstGeom>
          <a:noFill/>
        </p:spPr>
        <p:txBody>
          <a:bodyPr wrap="square" lIns="0" tIns="0" rIns="0" bIns="0" anchor="t">
            <a:spAutoFit/>
          </a:bodyPr>
          <a:lstStyle/>
          <a:p>
            <a:pPr algn="ctr">
              <a:buNone/>
            </a:pPr>
            <a:r>
              <a:rPr sz="800" b="0" i="0">
                <a:solidFill>
                  <a:srgbClr val="A86A0B"/>
                </a:solidFill>
                <a:latin typeface="Calibri"/>
              </a:rPr>
              <a:t>READY / GO</a:t>
            </a:r>
            <a:endParaRPr sz="800"/>
          </a:p>
        </p:txBody>
      </p:sp>
      <p:sp>
        <p:nvSpPr>
          <p:cNvPr id="28" name="Rectangle 27"/>
          <p:cNvSpPr/>
          <p:nvPr/>
        </p:nvSpPr>
        <p:spPr>
          <a:xfrm>
            <a:off x="7498079" y="2057400"/>
            <a:ext cx="1143000" cy="868680"/>
          </a:xfrm>
          <a:prstGeom prst="rect">
            <a:avLst/>
          </a:prstGeom>
          <a:solidFill>
            <a:srgbClr val="FFFFFF"/>
          </a:solid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PHY</a:t>
            </a:r>
            <a:endParaRPr sz="1200"/>
          </a:p>
          <a:p>
            <a:pPr algn="ctr">
              <a:buNone/>
            </a:pPr>
            <a:r>
              <a:rPr sz="900" b="0" i="0">
                <a:solidFill>
                  <a:srgbClr val="5B6776"/>
                </a:solidFill>
                <a:latin typeface="Calibri"/>
              </a:rPr>
              <a:t>RTL8211F</a:t>
            </a:r>
            <a:endParaRPr sz="1200"/>
          </a:p>
          <a:p>
            <a:pPr algn="ctr">
              <a:buNone/>
            </a:pPr>
            <a:r>
              <a:rPr sz="900" b="0" i="0">
                <a:solidFill>
                  <a:srgbClr val="5B6776"/>
                </a:solidFill>
                <a:latin typeface="Calibri"/>
              </a:rPr>
              <a:t>10/100/1000</a:t>
            </a:r>
            <a:endParaRPr sz="1200"/>
          </a:p>
        </p:txBody>
      </p:sp>
      <p:cxnSp>
        <p:nvCxnSpPr>
          <p:cNvPr id="29" name="Connector 28"/>
          <p:cNvCxnSpPr/>
          <p:nvPr/>
        </p:nvCxnSpPr>
        <p:spPr>
          <a:xfrm>
            <a:off x="7086600" y="2487168"/>
            <a:ext cx="411479" cy="0"/>
          </a:xfrm>
          <a:prstGeom prst="line">
            <a:avLst/>
          </a:prstGeom>
          <a:ln w="1905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86600" y="2212848"/>
            <a:ext cx="411480" cy="228600"/>
          </a:xfrm>
          <a:prstGeom prst="rect">
            <a:avLst/>
          </a:prstGeom>
          <a:noFill/>
        </p:spPr>
        <p:txBody>
          <a:bodyPr wrap="square" lIns="0" tIns="0" rIns="0" bIns="0" anchor="t">
            <a:spAutoFit/>
          </a:bodyPr>
          <a:lstStyle/>
          <a:p>
            <a:pPr algn="ctr">
              <a:buNone/>
            </a:pPr>
            <a:r>
              <a:rPr sz="800" b="0" i="0">
                <a:solidFill>
                  <a:srgbClr val="5B6776"/>
                </a:solidFill>
                <a:latin typeface="Calibri"/>
              </a:rPr>
              <a:t>RGMII</a:t>
            </a:r>
            <a:endParaRPr sz="800"/>
          </a:p>
        </p:txBody>
      </p:sp>
      <p:sp>
        <p:nvSpPr>
          <p:cNvPr id="31" name="Rectangle 30"/>
          <p:cNvSpPr/>
          <p:nvPr/>
        </p:nvSpPr>
        <p:spPr>
          <a:xfrm>
            <a:off x="9006840" y="2057400"/>
            <a:ext cx="1097280" cy="868680"/>
          </a:xfrm>
          <a:prstGeom prst="rect">
            <a:avLst/>
          </a:prstGeom>
          <a:solidFill>
            <a:srgbClr val="FFFFFF"/>
          </a:solidFill>
          <a:ln w="9525">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MagJack</a:t>
            </a:r>
            <a:endParaRPr sz="1200"/>
          </a:p>
          <a:p>
            <a:pPr algn="ctr">
              <a:buNone/>
            </a:pPr>
            <a:r>
              <a:rPr sz="900" b="0" i="0">
                <a:solidFill>
                  <a:srgbClr val="5B6776"/>
                </a:solidFill>
                <a:latin typeface="Calibri"/>
              </a:rPr>
              <a:t>RJ45</a:t>
            </a:r>
            <a:endParaRPr sz="1200"/>
          </a:p>
        </p:txBody>
      </p:sp>
      <p:cxnSp>
        <p:nvCxnSpPr>
          <p:cNvPr id="32" name="Connector 31"/>
          <p:cNvCxnSpPr/>
          <p:nvPr/>
        </p:nvCxnSpPr>
        <p:spPr>
          <a:xfrm>
            <a:off x="8641080" y="2487168"/>
            <a:ext cx="365760" cy="0"/>
          </a:xfrm>
          <a:prstGeom prst="line">
            <a:avLst/>
          </a:prstGeom>
          <a:ln w="1905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04120" y="2487168"/>
            <a:ext cx="502920" cy="0"/>
          </a:xfrm>
          <a:prstGeom prst="line">
            <a:avLst/>
          </a:prstGeom>
          <a:ln w="2222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607040" y="2331720"/>
            <a:ext cx="1097280" cy="320040"/>
          </a:xfrm>
          <a:prstGeom prst="rect">
            <a:avLst/>
          </a:prstGeom>
          <a:noFill/>
        </p:spPr>
        <p:txBody>
          <a:bodyPr wrap="square" lIns="0" tIns="0" rIns="0" bIns="0" anchor="t">
            <a:spAutoFit/>
          </a:bodyPr>
          <a:lstStyle/>
          <a:p>
            <a:pPr algn="l">
              <a:buNone/>
            </a:pPr>
            <a:r>
              <a:rPr sz="1300" b="0" i="0">
                <a:solidFill>
                  <a:srgbClr val="1D2733"/>
                </a:solidFill>
                <a:latin typeface="Calibri"/>
              </a:rPr>
              <a:t>1 GbE</a:t>
            </a:r>
            <a:endParaRPr sz="1300"/>
          </a:p>
        </p:txBody>
      </p:sp>
      <p:sp>
        <p:nvSpPr>
          <p:cNvPr id="35" name="Rectangle 34"/>
          <p:cNvSpPr/>
          <p:nvPr/>
        </p:nvSpPr>
        <p:spPr>
          <a:xfrm>
            <a:off x="1325880" y="4343400"/>
            <a:ext cx="1325880" cy="530352"/>
          </a:xfrm>
          <a:prstGeom prst="rect">
            <a:avLst/>
          </a:prstGeom>
          <a:solidFill>
            <a:srgbClr val="FFFFFF"/>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1:8 splitter</a:t>
            </a:r>
            <a:endParaRPr sz="1100"/>
          </a:p>
        </p:txBody>
      </p:sp>
      <p:cxnSp>
        <p:nvCxnSpPr>
          <p:cNvPr id="36" name="Connector 35"/>
          <p:cNvCxnSpPr/>
          <p:nvPr/>
        </p:nvCxnSpPr>
        <p:spPr>
          <a:xfrm flipV="1">
            <a:off x="2011680" y="2834640"/>
            <a:ext cx="0" cy="1508760"/>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2880360" y="4343400"/>
            <a:ext cx="1417320" cy="530352"/>
          </a:xfrm>
          <a:prstGeom prst="rect">
            <a:avLst/>
          </a:prstGeom>
          <a:solidFill>
            <a:srgbClr val="FFFFFF"/>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1:8 buffer 48 MHz</a:t>
            </a:r>
            <a:endParaRPr sz="1000"/>
          </a:p>
        </p:txBody>
      </p:sp>
      <p:cxnSp>
        <p:nvCxnSpPr>
          <p:cNvPr id="38" name="Connector 37"/>
          <p:cNvCxnSpPr/>
          <p:nvPr/>
        </p:nvCxnSpPr>
        <p:spPr>
          <a:xfrm flipV="1">
            <a:off x="3291840" y="3017520"/>
            <a:ext cx="0" cy="1325880"/>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7560" y="3520440"/>
            <a:ext cx="731520" cy="228600"/>
          </a:xfrm>
          <a:prstGeom prst="rect">
            <a:avLst/>
          </a:prstGeom>
          <a:noFill/>
        </p:spPr>
        <p:txBody>
          <a:bodyPr wrap="square" lIns="0" tIns="0" rIns="0" bIns="0" anchor="t">
            <a:spAutoFit/>
          </a:bodyPr>
          <a:lstStyle/>
          <a:p>
            <a:pPr algn="l">
              <a:buNone/>
            </a:pPr>
            <a:r>
              <a:rPr sz="800" b="0" i="0">
                <a:solidFill>
                  <a:srgbClr val="1F5C99"/>
                </a:solidFill>
                <a:latin typeface="Calibri"/>
              </a:rPr>
              <a:t>XTAL_P</a:t>
            </a:r>
            <a:endParaRPr sz="800"/>
          </a:p>
        </p:txBody>
      </p:sp>
      <p:sp>
        <p:nvSpPr>
          <p:cNvPr id="40" name="Rectangle 39"/>
          <p:cNvSpPr/>
          <p:nvPr/>
        </p:nvSpPr>
        <p:spPr>
          <a:xfrm>
            <a:off x="4480560" y="4343400"/>
            <a:ext cx="1417320" cy="530352"/>
          </a:xfrm>
          <a:prstGeom prst="rect">
            <a:avLst/>
          </a:prstGeom>
          <a:solidFill>
            <a:srgbClr val="FFFFFF"/>
          </a:solidFill>
          <a:ln w="9525">
            <a:solidFill>
              <a:srgbClr val="6F4E9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1:10 buffer 40 MHz</a:t>
            </a:r>
            <a:endParaRPr sz="1000"/>
          </a:p>
        </p:txBody>
      </p:sp>
      <p:cxnSp>
        <p:nvCxnSpPr>
          <p:cNvPr id="41" name="Connector 40"/>
          <p:cNvCxnSpPr/>
          <p:nvPr/>
        </p:nvCxnSpPr>
        <p:spPr>
          <a:xfrm flipV="1">
            <a:off x="4617720" y="3429000"/>
            <a:ext cx="0" cy="914400"/>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4023360" y="3429000"/>
            <a:ext cx="594360" cy="0"/>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023360" y="3017520"/>
            <a:ext cx="0" cy="41148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715000" y="4160520"/>
            <a:ext cx="0" cy="18288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069080" y="3200400"/>
            <a:ext cx="640080" cy="228600"/>
          </a:xfrm>
          <a:prstGeom prst="rect">
            <a:avLst/>
          </a:prstGeom>
          <a:noFill/>
        </p:spPr>
        <p:txBody>
          <a:bodyPr wrap="square" lIns="0" tIns="0" rIns="0" bIns="0" anchor="t">
            <a:spAutoFit/>
          </a:bodyPr>
          <a:lstStyle/>
          <a:p>
            <a:pPr algn="l">
              <a:buNone/>
            </a:pPr>
            <a:r>
              <a:rPr sz="800" b="0" i="0">
                <a:solidFill>
                  <a:srgbClr val="6F4E9E"/>
                </a:solidFill>
                <a:latin typeface="Calibri"/>
              </a:rPr>
              <a:t>PCLK</a:t>
            </a:r>
            <a:endParaRPr sz="800"/>
          </a:p>
        </p:txBody>
      </p:sp>
      <p:cxnSp>
        <p:nvCxnSpPr>
          <p:cNvPr id="46" name="Connector 45"/>
          <p:cNvCxnSpPr/>
          <p:nvPr/>
        </p:nvCxnSpPr>
        <p:spPr>
          <a:xfrm flipH="1">
            <a:off x="2240280" y="3886200"/>
            <a:ext cx="3017520" cy="0"/>
          </a:xfrm>
          <a:prstGeom prst="line">
            <a:avLst/>
          </a:prstGeom>
          <a:ln w="12700">
            <a:solidFill>
              <a:srgbClr val="A86A0B"/>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240280" y="2834640"/>
            <a:ext cx="0" cy="1051560"/>
          </a:xfrm>
          <a:prstGeom prst="line">
            <a:avLst/>
          </a:prstGeom>
          <a:ln w="12700">
            <a:solidFill>
              <a:srgbClr val="A86A0B"/>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331720" y="3639312"/>
            <a:ext cx="1463040" cy="228600"/>
          </a:xfrm>
          <a:prstGeom prst="rect">
            <a:avLst/>
          </a:prstGeom>
          <a:noFill/>
        </p:spPr>
        <p:txBody>
          <a:bodyPr wrap="square" lIns="0" tIns="0" rIns="0" bIns="0" anchor="t">
            <a:spAutoFit/>
          </a:bodyPr>
          <a:lstStyle/>
          <a:p>
            <a:pPr algn="l">
              <a:buNone/>
            </a:pPr>
            <a:r>
              <a:rPr sz="800" b="0" i="0">
                <a:solidFill>
                  <a:srgbClr val="A86A0B"/>
                </a:solidFill>
                <a:latin typeface="Calibri"/>
              </a:rPr>
              <a:t>ANT / CAL via C5</a:t>
            </a:r>
            <a:endParaRPr sz="800"/>
          </a:p>
        </p:txBody>
      </p:sp>
      <p:cxnSp>
        <p:nvCxnSpPr>
          <p:cNvPr id="49" name="Connector 48"/>
          <p:cNvCxnSpPr/>
          <p:nvPr/>
        </p:nvCxnSpPr>
        <p:spPr>
          <a:xfrm flipV="1">
            <a:off x="1965960" y="4873752"/>
            <a:ext cx="0" cy="292608"/>
          </a:xfrm>
          <a:prstGeom prst="line">
            <a:avLst/>
          </a:prstGeom>
          <a:ln w="15875">
            <a:solidFill>
              <a:srgbClr val="0E7C76"/>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234439" y="5175504"/>
            <a:ext cx="1645920" cy="228600"/>
          </a:xfrm>
          <a:prstGeom prst="rect">
            <a:avLst/>
          </a:prstGeom>
          <a:noFill/>
        </p:spPr>
        <p:txBody>
          <a:bodyPr wrap="square" lIns="0" tIns="0" rIns="0" bIns="0" anchor="t">
            <a:spAutoFit/>
          </a:bodyPr>
          <a:lstStyle/>
          <a:p>
            <a:pPr algn="ctr">
              <a:buNone/>
            </a:pPr>
            <a:r>
              <a:rPr sz="800" b="0" i="0">
                <a:solidFill>
                  <a:srgbClr val="0E7C76"/>
                </a:solidFill>
                <a:latin typeface="Calibri"/>
              </a:rPr>
              <a:t>from master: 5.2 GHz</a:t>
            </a:r>
            <a:endParaRPr sz="800"/>
          </a:p>
        </p:txBody>
      </p:sp>
      <p:cxnSp>
        <p:nvCxnSpPr>
          <p:cNvPr id="51" name="Connector 50"/>
          <p:cNvCxnSpPr/>
          <p:nvPr/>
        </p:nvCxnSpPr>
        <p:spPr>
          <a:xfrm flipV="1">
            <a:off x="3520439" y="4873752"/>
            <a:ext cx="0" cy="292608"/>
          </a:xfrm>
          <a:prstGeom prst="line">
            <a:avLst/>
          </a:prstGeom>
          <a:ln w="15875">
            <a:solidFill>
              <a:srgbClr val="1F5C99"/>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788920" y="5175504"/>
            <a:ext cx="1645920" cy="228600"/>
          </a:xfrm>
          <a:prstGeom prst="rect">
            <a:avLst/>
          </a:prstGeom>
          <a:noFill/>
        </p:spPr>
        <p:txBody>
          <a:bodyPr wrap="square" lIns="0" tIns="0" rIns="0" bIns="0" anchor="t">
            <a:spAutoFit/>
          </a:bodyPr>
          <a:lstStyle/>
          <a:p>
            <a:pPr algn="ctr">
              <a:buNone/>
            </a:pPr>
            <a:r>
              <a:rPr sz="800" b="0" i="0">
                <a:solidFill>
                  <a:srgbClr val="1F5C99"/>
                </a:solidFill>
                <a:latin typeface="Calibri"/>
              </a:rPr>
              <a:t>from master: 48 MHz</a:t>
            </a:r>
            <a:endParaRPr sz="800"/>
          </a:p>
        </p:txBody>
      </p:sp>
      <p:cxnSp>
        <p:nvCxnSpPr>
          <p:cNvPr id="53" name="Connector 52"/>
          <p:cNvCxnSpPr/>
          <p:nvPr/>
        </p:nvCxnSpPr>
        <p:spPr>
          <a:xfrm flipV="1">
            <a:off x="5120640" y="4873752"/>
            <a:ext cx="0" cy="292608"/>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389120" y="5175504"/>
            <a:ext cx="1645920" cy="228600"/>
          </a:xfrm>
          <a:prstGeom prst="rect">
            <a:avLst/>
          </a:prstGeom>
          <a:noFill/>
        </p:spPr>
        <p:txBody>
          <a:bodyPr wrap="square" lIns="0" tIns="0" rIns="0" bIns="0" anchor="t">
            <a:spAutoFit/>
          </a:bodyPr>
          <a:lstStyle/>
          <a:p>
            <a:pPr algn="ctr">
              <a:buNone/>
            </a:pPr>
            <a:r>
              <a:rPr sz="800" b="0" i="0">
                <a:solidFill>
                  <a:srgbClr val="6F4E9E"/>
                </a:solidFill>
                <a:latin typeface="Calibri"/>
              </a:rPr>
              <a:t>from master: 40 MHz</a:t>
            </a:r>
            <a:endParaRPr sz="800"/>
          </a:p>
        </p:txBody>
      </p:sp>
      <p:sp>
        <p:nvSpPr>
          <p:cNvPr id="55" name="TextBox 54"/>
          <p:cNvSpPr txBox="1"/>
          <p:nvPr/>
        </p:nvSpPr>
        <p:spPr>
          <a:xfrm>
            <a:off x="7498079" y="3246120"/>
            <a:ext cx="4114800" cy="1737360"/>
          </a:xfrm>
          <a:prstGeom prst="rect">
            <a:avLst/>
          </a:prstGeom>
          <a:noFill/>
        </p:spPr>
        <p:txBody>
          <a:bodyPr wrap="square" lIns="0" tIns="0" rIns="0" bIns="0" anchor="t">
            <a:spAutoFit/>
          </a:bodyPr>
          <a:lstStyle/>
          <a:p>
            <a:pPr marL="201168" indent="-201168" algn="l">
              <a:spcAft>
                <a:spcPts val="500"/>
              </a:spcAft>
              <a:buFont typeface="Arial"/>
              <a:buChar char="•"/>
            </a:pPr>
            <a:r>
              <a:rPr sz="1100" b="0" i="0">
                <a:solidFill>
                  <a:srgbClr val="5B6776"/>
                </a:solidFill>
                <a:latin typeface="Calibri"/>
              </a:rPr>
              <a:t>Chip-down C5 (QFN48): modules carry their own 48 MHz crystal and cannot share a reference.</a:t>
            </a:r>
            <a:endParaRPr sz="1100"/>
          </a:p>
          <a:p>
            <a:pPr marL="201168" indent="-201168" algn="l">
              <a:spcAft>
                <a:spcPts val="500"/>
              </a:spcAft>
              <a:buFont typeface="Arial"/>
              <a:buChar char="•"/>
            </a:pPr>
            <a:r>
              <a:rPr sz="1100" b="0" i="0">
                <a:solidFill>
                  <a:srgbClr val="5B6776"/>
                </a:solidFill>
                <a:latin typeface="Calibri"/>
              </a:rPr>
              <a:t>PHY: RTL8211F is the team's choice; Espressif's S31 board uses a YT8531 — check the ESP-IDF driver before layout.</a:t>
            </a:r>
            <a:endParaRPr sz="1100"/>
          </a:p>
          <a:p>
            <a:pPr marL="201168" indent="-201168" algn="l">
              <a:spcAft>
                <a:spcPts val="500"/>
              </a:spcAft>
              <a:buFont typeface="Arial"/>
              <a:buChar char="•"/>
            </a:pPr>
            <a:r>
              <a:rPr sz="1100" b="0" i="0">
                <a:solidFill>
                  <a:srgbClr val="5B6776"/>
                </a:solidFill>
                <a:latin typeface="Calibri"/>
              </a:rPr>
              <a:t>The S31 forwards 16-bit words untouched; bit de-interleaving runs on the host.</a:t>
            </a:r>
            <a:endParaRPr sz="1100"/>
          </a:p>
          <a:p>
            <a:pPr marL="201168" indent="-201168" algn="l">
              <a:spcAft>
                <a:spcPts val="500"/>
              </a:spcAft>
              <a:buFont typeface="Arial"/>
              <a:buChar char="•"/>
            </a:pPr>
            <a:r>
              <a:rPr sz="1100" b="0" i="0">
                <a:solidFill>
                  <a:srgbClr val="5B6776"/>
                </a:solidFill>
                <a:latin typeface="Calibri"/>
              </a:rPr>
              <a:t>Ethernet and PTP give timestamps and coordination only — sample alignment comes from the shared PCLK, the GO signal and the RF calibration.</a:t>
            </a:r>
            <a:endParaRPr sz="1100"/>
          </a:p>
        </p:txBody>
      </p:sp>
      <p:cxnSp>
        <p:nvCxnSpPr>
          <p:cNvPr id="56" name="Connector 55"/>
          <p:cNvCxnSpPr/>
          <p:nvPr/>
        </p:nvCxnSpPr>
        <p:spPr>
          <a:xfrm>
            <a:off x="548640" y="5532120"/>
            <a:ext cx="110916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48640" y="5623560"/>
            <a:ext cx="11064240" cy="685800"/>
          </a:xfrm>
          <a:prstGeom prst="rect">
            <a:avLst/>
          </a:prstGeom>
          <a:noFill/>
        </p:spPr>
        <p:txBody>
          <a:bodyPr wrap="square" lIns="0" tIns="0" rIns="0" bIns="0" anchor="t">
            <a:spAutoFit/>
          </a:bodyPr>
          <a:lstStyle/>
          <a:p>
            <a:pPr algn="l">
              <a:buNone/>
            </a:pPr>
            <a:r>
              <a:rPr sz="1200" b="0" i="0">
                <a:solidFill>
                  <a:srgbClr val="1D2733"/>
                </a:solidFill>
                <a:latin typeface="Calibri"/>
              </a:rPr>
              <a:t>8 × 80 Mbit/s = 640 Mbit/s on one 16-bit bus at 40 MHz — 64 % of a Gigabit link. </a:t>
            </a:r>
            <a:r>
              <a:rPr sz="1200" b="0" i="0">
                <a:solidFill>
                  <a:srgbClr val="5B6776"/>
                </a:solidFill>
                <a:latin typeface="Calibri"/>
              </a:rPr>
              <a:t>No Ethernet MAC, PHY, magnetics or switch per element.</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Eight 2-bit streams on one 16-bit bus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C5 TRM v1.1 §43: PARLIO ≤ 40 MHz, external TX clock, not an ETM peripheral; a gated external clock may start after TX_START. Lockstep across chips is an inference to test.</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16</a:t>
            </a:r>
            <a:endParaRPr sz="1000"/>
          </a:p>
        </p:txBody>
      </p:sp>
      <p:sp>
        <p:nvSpPr>
          <p:cNvPr id="5" name="Rectangle 4"/>
          <p:cNvSpPr/>
          <p:nvPr/>
        </p:nvSpPr>
        <p:spPr>
          <a:xfrm>
            <a:off x="548640" y="1325880"/>
            <a:ext cx="1463040" cy="457200"/>
          </a:xfrm>
          <a:prstGeom prst="rect">
            <a:avLst/>
          </a:prstGeom>
          <a:solidFill>
            <a:srgbClr val="FFFFFF"/>
          </a:solidFill>
          <a:ln w="9525">
            <a:solidFill>
              <a:srgbClr val="6F4E9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40 MHz PCLK</a:t>
            </a:r>
            <a:endParaRPr sz="1000"/>
          </a:p>
        </p:txBody>
      </p:sp>
      <p:cxnSp>
        <p:nvCxnSpPr>
          <p:cNvPr id="6" name="Connector 5"/>
          <p:cNvCxnSpPr/>
          <p:nvPr/>
        </p:nvCxnSpPr>
        <p:spPr>
          <a:xfrm>
            <a:off x="2011680" y="1554480"/>
            <a:ext cx="731520" cy="0"/>
          </a:xfrm>
          <a:prstGeom prst="line">
            <a:avLst/>
          </a:prstGeom>
          <a:ln w="15875">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554480"/>
            <a:ext cx="0" cy="4160520"/>
          </a:xfrm>
          <a:prstGeom prst="line">
            <a:avLst/>
          </a:prstGeom>
          <a:ln w="12700">
            <a:solidFill>
              <a:srgbClr val="6F4E9E"/>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48640" y="2011680"/>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#0</a:t>
            </a:r>
            <a:endParaRPr sz="1000"/>
          </a:p>
        </p:txBody>
      </p:sp>
      <p:cxnSp>
        <p:nvCxnSpPr>
          <p:cNvPr id="9" name="Connector 8"/>
          <p:cNvCxnSpPr/>
          <p:nvPr/>
        </p:nvCxnSpPr>
        <p:spPr>
          <a:xfrm flipH="1">
            <a:off x="1783080" y="2185416"/>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783080" y="2121408"/>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83080" y="2249424"/>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80360" y="1947672"/>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D[1:0]</a:t>
            </a:r>
            <a:endParaRPr sz="800"/>
          </a:p>
        </p:txBody>
      </p:sp>
      <p:sp>
        <p:nvSpPr>
          <p:cNvPr id="13" name="Rectangle 12"/>
          <p:cNvSpPr/>
          <p:nvPr/>
        </p:nvSpPr>
        <p:spPr>
          <a:xfrm>
            <a:off x="548640" y="2487168"/>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#1</a:t>
            </a:r>
            <a:endParaRPr sz="1000"/>
          </a:p>
        </p:txBody>
      </p:sp>
      <p:cxnSp>
        <p:nvCxnSpPr>
          <p:cNvPr id="14" name="Connector 13"/>
          <p:cNvCxnSpPr/>
          <p:nvPr/>
        </p:nvCxnSpPr>
        <p:spPr>
          <a:xfrm flipH="1">
            <a:off x="1783080" y="2660904"/>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83080" y="2596896"/>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83080" y="2724912"/>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80360" y="2423160"/>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D[3:2]</a:t>
            </a:r>
            <a:endParaRPr sz="800"/>
          </a:p>
        </p:txBody>
      </p:sp>
      <p:sp>
        <p:nvSpPr>
          <p:cNvPr id="18" name="Rectangle 17"/>
          <p:cNvSpPr/>
          <p:nvPr/>
        </p:nvSpPr>
        <p:spPr>
          <a:xfrm>
            <a:off x="548640" y="2962656"/>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#2</a:t>
            </a:r>
            <a:endParaRPr sz="1000"/>
          </a:p>
        </p:txBody>
      </p:sp>
      <p:cxnSp>
        <p:nvCxnSpPr>
          <p:cNvPr id="19" name="Connector 18"/>
          <p:cNvCxnSpPr/>
          <p:nvPr/>
        </p:nvCxnSpPr>
        <p:spPr>
          <a:xfrm flipH="1">
            <a:off x="1783080" y="3136392"/>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83080" y="3072384"/>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83080" y="3200400"/>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80360" y="2898648"/>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D[5:4]</a:t>
            </a:r>
            <a:endParaRPr sz="800"/>
          </a:p>
        </p:txBody>
      </p:sp>
      <p:sp>
        <p:nvSpPr>
          <p:cNvPr id="23" name="Rectangle 22"/>
          <p:cNvSpPr/>
          <p:nvPr/>
        </p:nvSpPr>
        <p:spPr>
          <a:xfrm>
            <a:off x="548640" y="3438144"/>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#3</a:t>
            </a:r>
            <a:endParaRPr sz="1000"/>
          </a:p>
        </p:txBody>
      </p:sp>
      <p:cxnSp>
        <p:nvCxnSpPr>
          <p:cNvPr id="24" name="Connector 23"/>
          <p:cNvCxnSpPr/>
          <p:nvPr/>
        </p:nvCxnSpPr>
        <p:spPr>
          <a:xfrm flipH="1">
            <a:off x="1783080" y="3611880"/>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83080" y="3547872"/>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783080" y="3675888"/>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80360" y="3374136"/>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D[7:6]</a:t>
            </a:r>
            <a:endParaRPr sz="800"/>
          </a:p>
        </p:txBody>
      </p:sp>
      <p:sp>
        <p:nvSpPr>
          <p:cNvPr id="28" name="Rectangle 27"/>
          <p:cNvSpPr/>
          <p:nvPr/>
        </p:nvSpPr>
        <p:spPr>
          <a:xfrm>
            <a:off x="548640" y="3913632"/>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#4</a:t>
            </a:r>
            <a:endParaRPr sz="1000"/>
          </a:p>
        </p:txBody>
      </p:sp>
      <p:cxnSp>
        <p:nvCxnSpPr>
          <p:cNvPr id="29" name="Connector 28"/>
          <p:cNvCxnSpPr/>
          <p:nvPr/>
        </p:nvCxnSpPr>
        <p:spPr>
          <a:xfrm flipH="1">
            <a:off x="1783080" y="4087368"/>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783080" y="4023360"/>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783080" y="4151376"/>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880360" y="3849624"/>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D[9:8]</a:t>
            </a:r>
            <a:endParaRPr sz="800"/>
          </a:p>
        </p:txBody>
      </p:sp>
      <p:sp>
        <p:nvSpPr>
          <p:cNvPr id="33" name="Rectangle 32"/>
          <p:cNvSpPr/>
          <p:nvPr/>
        </p:nvSpPr>
        <p:spPr>
          <a:xfrm>
            <a:off x="548640" y="4389120"/>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#5</a:t>
            </a:r>
            <a:endParaRPr sz="1000"/>
          </a:p>
        </p:txBody>
      </p:sp>
      <p:cxnSp>
        <p:nvCxnSpPr>
          <p:cNvPr id="34" name="Connector 33"/>
          <p:cNvCxnSpPr/>
          <p:nvPr/>
        </p:nvCxnSpPr>
        <p:spPr>
          <a:xfrm flipH="1">
            <a:off x="1783080" y="4562856"/>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783080" y="4498848"/>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783080" y="4626864"/>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880360" y="4325112"/>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D[11:10]</a:t>
            </a:r>
            <a:endParaRPr sz="800"/>
          </a:p>
        </p:txBody>
      </p:sp>
      <p:sp>
        <p:nvSpPr>
          <p:cNvPr id="38" name="Rectangle 37"/>
          <p:cNvSpPr/>
          <p:nvPr/>
        </p:nvSpPr>
        <p:spPr>
          <a:xfrm>
            <a:off x="548640" y="4864608"/>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#6</a:t>
            </a:r>
            <a:endParaRPr sz="1000"/>
          </a:p>
        </p:txBody>
      </p:sp>
      <p:cxnSp>
        <p:nvCxnSpPr>
          <p:cNvPr id="39" name="Connector 38"/>
          <p:cNvCxnSpPr/>
          <p:nvPr/>
        </p:nvCxnSpPr>
        <p:spPr>
          <a:xfrm flipH="1">
            <a:off x="1783080" y="5038344"/>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783080" y="4974336"/>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783080" y="5102352"/>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880360" y="4800600"/>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D[13:12]</a:t>
            </a:r>
            <a:endParaRPr sz="800"/>
          </a:p>
        </p:txBody>
      </p:sp>
      <p:sp>
        <p:nvSpPr>
          <p:cNvPr id="43" name="Rectangle 42"/>
          <p:cNvSpPr/>
          <p:nvPr/>
        </p:nvSpPr>
        <p:spPr>
          <a:xfrm>
            <a:off x="548640" y="5340096"/>
            <a:ext cx="1234440" cy="347472"/>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#7</a:t>
            </a:r>
            <a:endParaRPr sz="1000"/>
          </a:p>
        </p:txBody>
      </p:sp>
      <p:cxnSp>
        <p:nvCxnSpPr>
          <p:cNvPr id="44" name="Connector 43"/>
          <p:cNvCxnSpPr/>
          <p:nvPr/>
        </p:nvCxnSpPr>
        <p:spPr>
          <a:xfrm flipH="1">
            <a:off x="1783080" y="5513832"/>
            <a:ext cx="960120" cy="0"/>
          </a:xfrm>
          <a:prstGeom prst="line">
            <a:avLst/>
          </a:prstGeom>
          <a:ln w="952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783080" y="5449824"/>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783080" y="5577840"/>
            <a:ext cx="205740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80360" y="5276088"/>
            <a:ext cx="914400" cy="201168"/>
          </a:xfrm>
          <a:prstGeom prst="rect">
            <a:avLst/>
          </a:prstGeom>
          <a:noFill/>
        </p:spPr>
        <p:txBody>
          <a:bodyPr wrap="square" lIns="0" tIns="0" rIns="0" bIns="0" anchor="t">
            <a:spAutoFit/>
          </a:bodyPr>
          <a:lstStyle/>
          <a:p>
            <a:pPr algn="ctr">
              <a:buNone/>
            </a:pPr>
            <a:r>
              <a:rPr sz="800" b="0" i="0">
                <a:solidFill>
                  <a:srgbClr val="5B6776"/>
                </a:solidFill>
                <a:latin typeface="Calibri"/>
              </a:rPr>
              <a:t>D[15:14]</a:t>
            </a:r>
            <a:endParaRPr sz="800"/>
          </a:p>
        </p:txBody>
      </p:sp>
      <p:sp>
        <p:nvSpPr>
          <p:cNvPr id="48" name="Rectangle 47"/>
          <p:cNvSpPr/>
          <p:nvPr/>
        </p:nvSpPr>
        <p:spPr>
          <a:xfrm>
            <a:off x="3840480" y="2011680"/>
            <a:ext cx="73152" cy="3675888"/>
          </a:xfrm>
          <a:prstGeom prst="rect">
            <a:avLst/>
          </a:prstGeom>
          <a:solidFill>
            <a:srgbClr val="1D273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49" name="Rectangle 48"/>
          <p:cNvSpPr/>
          <p:nvPr/>
        </p:nvSpPr>
        <p:spPr>
          <a:xfrm>
            <a:off x="4251960" y="3017520"/>
            <a:ext cx="1463040" cy="164592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200" b="0" i="0">
                <a:solidFill>
                  <a:srgbClr val="1D2733"/>
                </a:solidFill>
                <a:latin typeface="Calibri"/>
              </a:rPr>
              <a:t>ESP32-S31</a:t>
            </a:r>
            <a:endParaRPr sz="1200"/>
          </a:p>
          <a:p>
            <a:pPr algn="ctr">
              <a:buNone/>
            </a:pPr>
            <a:r>
              <a:rPr sz="900" b="0" i="0">
                <a:solidFill>
                  <a:srgbClr val="5B6776"/>
                </a:solidFill>
                <a:latin typeface="Calibri"/>
              </a:rPr>
              <a:t>PARLIO RX</a:t>
            </a:r>
            <a:endParaRPr sz="1200"/>
          </a:p>
          <a:p>
            <a:pPr algn="ctr">
              <a:buNone/>
            </a:pPr>
            <a:r>
              <a:rPr sz="900" b="0" i="0">
                <a:solidFill>
                  <a:srgbClr val="5B6776"/>
                </a:solidFill>
                <a:latin typeface="Calibri"/>
              </a:rPr>
              <a:t>16 bit × 40 MHz</a:t>
            </a:r>
            <a:endParaRPr sz="1200"/>
          </a:p>
        </p:txBody>
      </p:sp>
      <p:cxnSp>
        <p:nvCxnSpPr>
          <p:cNvPr id="50" name="Connector 49"/>
          <p:cNvCxnSpPr/>
          <p:nvPr/>
        </p:nvCxnSpPr>
        <p:spPr>
          <a:xfrm>
            <a:off x="3913632" y="3840480"/>
            <a:ext cx="338328" cy="0"/>
          </a:xfrm>
          <a:prstGeom prst="line">
            <a:avLst/>
          </a:prstGeom>
          <a:ln w="2540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743200" y="5715000"/>
            <a:ext cx="2240280" cy="0"/>
          </a:xfrm>
          <a:prstGeom prst="line">
            <a:avLst/>
          </a:prstGeom>
          <a:ln w="12700">
            <a:solidFill>
              <a:srgbClr val="6F4E9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983480" y="4663440"/>
            <a:ext cx="0" cy="1051560"/>
          </a:xfrm>
          <a:prstGeom prst="line">
            <a:avLst/>
          </a:prstGeom>
          <a:ln w="12700">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834640" y="5733288"/>
            <a:ext cx="2194560" cy="228600"/>
          </a:xfrm>
          <a:prstGeom prst="rect">
            <a:avLst/>
          </a:prstGeom>
          <a:noFill/>
        </p:spPr>
        <p:txBody>
          <a:bodyPr wrap="square" lIns="0" tIns="0" rIns="0" bIns="0" anchor="t">
            <a:spAutoFit/>
          </a:bodyPr>
          <a:lstStyle/>
          <a:p>
            <a:pPr algn="l">
              <a:buNone/>
            </a:pPr>
            <a:r>
              <a:rPr sz="800" b="0" i="0">
                <a:solidFill>
                  <a:srgbClr val="6F4E9E"/>
                </a:solidFill>
                <a:latin typeface="Calibri"/>
              </a:rPr>
              <a:t>same PCLK at the receiver</a:t>
            </a:r>
            <a:endParaRPr sz="800"/>
          </a:p>
        </p:txBody>
      </p:sp>
      <p:sp>
        <p:nvSpPr>
          <p:cNvPr id="54" name="TextBox 53"/>
          <p:cNvSpPr txBox="1"/>
          <p:nvPr/>
        </p:nvSpPr>
        <p:spPr>
          <a:xfrm>
            <a:off x="6172200" y="1280160"/>
            <a:ext cx="5486400" cy="274320"/>
          </a:xfrm>
          <a:prstGeom prst="rect">
            <a:avLst/>
          </a:prstGeom>
          <a:noFill/>
        </p:spPr>
        <p:txBody>
          <a:bodyPr wrap="square" lIns="0" tIns="0" rIns="0" bIns="0" anchor="t">
            <a:spAutoFit/>
          </a:bodyPr>
          <a:lstStyle/>
          <a:p>
            <a:pPr algn="l">
              <a:buNone/>
            </a:pPr>
            <a:r>
              <a:rPr sz="1400" b="0" i="0">
                <a:solidFill>
                  <a:srgbClr val="1D2733"/>
                </a:solidFill>
                <a:latin typeface="Calibri"/>
              </a:rPr>
              <a:t>Start sequence</a:t>
            </a:r>
            <a:endParaRPr sz="1400"/>
          </a:p>
        </p:txBody>
      </p:sp>
      <p:sp>
        <p:nvSpPr>
          <p:cNvPr id="55" name="TextBox 54"/>
          <p:cNvSpPr txBox="1"/>
          <p:nvPr/>
        </p:nvSpPr>
        <p:spPr>
          <a:xfrm>
            <a:off x="6172200" y="1600200"/>
            <a:ext cx="5486400" cy="1737360"/>
          </a:xfrm>
          <a:prstGeom prst="rect">
            <a:avLst/>
          </a:prstGeom>
          <a:noFill/>
        </p:spPr>
        <p:txBody>
          <a:bodyPr wrap="square" lIns="0" tIns="0" rIns="0" bIns="0" anchor="t">
            <a:spAutoFit/>
          </a:bodyPr>
          <a:lstStyle/>
          <a:p>
            <a:pPr algn="l">
              <a:spcAft>
                <a:spcPts val="100"/>
              </a:spcAft>
              <a:buNone/>
            </a:pPr>
            <a:r>
              <a:rPr sz="1100" b="0" i="0">
                <a:solidFill>
                  <a:srgbClr val="5B6776"/>
                </a:solidFill>
                <a:latin typeface="Calibri"/>
              </a:rPr>
              <a:t>1   the S31 arms all C5s; each captures a snapshot and loads its PARLIO DMA descriptors</a:t>
            </a:r>
            <a:endParaRPr sz="1100"/>
          </a:p>
          <a:p>
            <a:pPr algn="l">
              <a:spcAft>
                <a:spcPts val="100"/>
              </a:spcAft>
              <a:buNone/>
            </a:pPr>
            <a:r>
              <a:rPr sz="1100" b="0" i="0">
                <a:solidFill>
                  <a:srgbClr val="5B6776"/>
                </a:solidFill>
                <a:latin typeface="Calibri"/>
              </a:rPr>
              <a:t>2   each C5 raises READY</a:t>
            </a:r>
            <a:endParaRPr sz="1100"/>
          </a:p>
          <a:p>
            <a:pPr algn="l">
              <a:spcAft>
                <a:spcPts val="100"/>
              </a:spcAft>
              <a:buNone/>
            </a:pPr>
            <a:r>
              <a:rPr sz="1100" b="0" i="0">
                <a:solidFill>
                  <a:srgbClr val="5B6776"/>
                </a:solidFill>
                <a:latin typeface="Calibri"/>
              </a:rPr>
              <a:t>3   the S31 waits until all eight READY lines are high</a:t>
            </a:r>
            <a:endParaRPr sz="1100"/>
          </a:p>
          <a:p>
            <a:pPr algn="l">
              <a:spcAft>
                <a:spcPts val="100"/>
              </a:spcAft>
              <a:buNone/>
            </a:pPr>
            <a:r>
              <a:rPr sz="1100" b="0" i="0">
                <a:solidFill>
                  <a:srgbClr val="5B6776"/>
                </a:solidFill>
                <a:latin typeface="Calibri"/>
              </a:rPr>
              <a:t>4   GO: the S31 enables the PCLK buffer, so all lanes start on one edge</a:t>
            </a:r>
            <a:endParaRPr sz="1100"/>
          </a:p>
          <a:p>
            <a:pPr algn="l">
              <a:spcAft>
                <a:spcPts val="100"/>
              </a:spcAft>
              <a:buNone/>
            </a:pPr>
            <a:r>
              <a:rPr sz="1100" b="0" i="0">
                <a:solidFill>
                  <a:srgbClr val="5B6776"/>
                </a:solidFill>
                <a:latin typeface="Calibri"/>
              </a:rPr>
              <a:t>5   all C5s shift out on the same clock edges</a:t>
            </a:r>
            <a:endParaRPr sz="1100"/>
          </a:p>
          <a:p>
            <a:pPr algn="l">
              <a:spcAft>
                <a:spcPts val="100"/>
              </a:spcAft>
              <a:buNone/>
            </a:pPr>
            <a:r>
              <a:rPr sz="1100" b="0" i="0">
                <a:solidFill>
                  <a:srgbClr val="5B6776"/>
                </a:solidFill>
                <a:latin typeface="Calibri"/>
              </a:rPr>
              <a:t>6   the S31 captures 16-bit words by DMA</a:t>
            </a:r>
            <a:endParaRPr sz="1100"/>
          </a:p>
          <a:p>
            <a:pPr algn="l">
              <a:spcAft>
                <a:spcPts val="100"/>
              </a:spcAft>
              <a:buNone/>
            </a:pPr>
            <a:r>
              <a:rPr sz="1100" b="0" i="0">
                <a:solidFill>
                  <a:srgbClr val="5B6776"/>
                </a:solidFill>
                <a:latin typeface="Calibri"/>
              </a:rPr>
              <a:t>7   every frame starts with a sync word common to all lanes</a:t>
            </a:r>
            <a:endParaRPr sz="1100"/>
          </a:p>
        </p:txBody>
      </p:sp>
      <p:sp>
        <p:nvSpPr>
          <p:cNvPr id="56" name="TextBox 55"/>
          <p:cNvSpPr txBox="1"/>
          <p:nvPr/>
        </p:nvSpPr>
        <p:spPr>
          <a:xfrm>
            <a:off x="6172200" y="3291840"/>
            <a:ext cx="5486400" cy="274320"/>
          </a:xfrm>
          <a:prstGeom prst="rect">
            <a:avLst/>
          </a:prstGeom>
          <a:noFill/>
        </p:spPr>
        <p:txBody>
          <a:bodyPr wrap="square" lIns="0" tIns="0" rIns="0" bIns="0" anchor="t">
            <a:spAutoFit/>
          </a:bodyPr>
          <a:lstStyle/>
          <a:p>
            <a:pPr algn="l">
              <a:buNone/>
            </a:pPr>
            <a:r>
              <a:rPr sz="1400" b="0" i="0">
                <a:solidFill>
                  <a:srgbClr val="1D2733"/>
                </a:solidFill>
                <a:latin typeface="Calibri"/>
              </a:rPr>
              <a:t>Per-lane frame (every C5 sends the same layout)</a:t>
            </a:r>
            <a:endParaRPr sz="1400"/>
          </a:p>
        </p:txBody>
      </p:sp>
      <p:graphicFrame>
        <p:nvGraphicFramePr>
          <p:cNvPr id="57" name="Table 56"/>
          <p:cNvGraphicFramePr>
            <a:graphicFrameLocks noGrp="1"/>
          </p:cNvGraphicFramePr>
          <p:nvPr/>
        </p:nvGraphicFramePr>
        <p:xfrm>
          <a:off x="6172200" y="3611880"/>
          <a:ext cx="5468112" cy="1938528"/>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3364992">
                  <a:extLst>
                    <a:ext uri="{9D8B030D-6E8A-4147-A177-3AD203B41FA5}">
                      <a16:colId xmlns:a16="http://schemas.microsoft.com/office/drawing/2014/main" val="20002"/>
                    </a:ext>
                  </a:extLst>
                </a:gridCol>
              </a:tblGrid>
              <a:tr h="242316">
                <a:tc>
                  <a:txBody>
                    <a:bodyPr/>
                    <a:lstStyle/>
                    <a:p>
                      <a:pPr algn="l">
                        <a:buNone/>
                      </a:pPr>
                      <a:r>
                        <a:rPr sz="1000" b="0" i="0">
                          <a:solidFill>
                            <a:srgbClr val="5B6776"/>
                          </a:solidFill>
                          <a:latin typeface="Calibri"/>
                        </a:rPr>
                        <a:t>Field</a:t>
                      </a:r>
                      <a:endParaRPr sz="1000"/>
                    </a:p>
                  </a:txBody>
                  <a:tcPr marL="64008" marR="64008" marT="32004" marB="32004" anchor="ctr">
                    <a:lnL w="0">
                      <a:noFill/>
                    </a:lnL>
                    <a:lnR w="0">
                      <a:noFill/>
                    </a:lnR>
                    <a:lnT w="0">
                      <a:noFill/>
                    </a:lnT>
                    <a:lnB w="12700">
                      <a:solidFill>
                        <a:srgbClr val="7F8B97"/>
                      </a:solidFill>
                    </a:lnB>
                    <a:noFill/>
                  </a:tcPr>
                </a:tc>
                <a:tc>
                  <a:txBody>
                    <a:bodyPr/>
                    <a:lstStyle/>
                    <a:p>
                      <a:pPr algn="r">
                        <a:buNone/>
                      </a:pPr>
                      <a:r>
                        <a:rPr sz="1000" b="0" i="0">
                          <a:solidFill>
                            <a:srgbClr val="5B6776"/>
                          </a:solidFill>
                          <a:latin typeface="Calibri"/>
                        </a:rPr>
                        <a:t>bits</a:t>
                      </a:r>
                      <a:endParaRPr sz="1000"/>
                    </a:p>
                  </a:txBody>
                  <a:tcPr marL="64008" marR="64008" marT="32004" marB="32004" anchor="ctr">
                    <a:lnL w="0">
                      <a:noFill/>
                    </a:lnL>
                    <a:lnR w="0">
                      <a:noFill/>
                    </a:lnR>
                    <a:lnT w="0">
                      <a:noFill/>
                    </a:lnT>
                    <a:lnB w="12700">
                      <a:solidFill>
                        <a:srgbClr val="7F8B97"/>
                      </a:solidFill>
                    </a:lnB>
                    <a:noFill/>
                  </a:tcPr>
                </a:tc>
                <a:tc>
                  <a:txBody>
                    <a:bodyPr/>
                    <a:lstStyle/>
                    <a:p>
                      <a:pPr algn="l">
                        <a:buNone/>
                      </a:pPr>
                      <a:r>
                        <a:rPr sz="1000" b="0" i="0">
                          <a:solidFill>
                            <a:srgbClr val="5B6776"/>
                          </a:solidFill>
                          <a:latin typeface="Calibri"/>
                        </a:rPr>
                        <a:t>Purpose</a:t>
                      </a:r>
                      <a:endParaRPr sz="10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242316">
                <a:tc>
                  <a:txBody>
                    <a:bodyPr/>
                    <a:lstStyle/>
                    <a:p>
                      <a:pPr algn="l">
                        <a:buNone/>
                      </a:pPr>
                      <a:r>
                        <a:rPr sz="1000" b="0" i="0">
                          <a:solidFill>
                            <a:srgbClr val="1D2733"/>
                          </a:solidFill>
                          <a:latin typeface="Calibri"/>
                        </a:rPr>
                        <a:t>sync word</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32</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identical on all lanes → alignment check</a:t>
                      </a:r>
                      <a:endParaRPr sz="10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42316">
                <a:tc>
                  <a:txBody>
                    <a:bodyPr/>
                    <a:lstStyle/>
                    <a:p>
                      <a:pPr algn="l">
                        <a:buNone/>
                      </a:pPr>
                      <a:r>
                        <a:rPr sz="1000" b="0" i="0">
                          <a:solidFill>
                            <a:srgbClr val="1D2733"/>
                          </a:solidFill>
                          <a:latin typeface="Calibri"/>
                        </a:rPr>
                        <a:t>channel ID</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8</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which C5 / antenna</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42316">
                <a:tc>
                  <a:txBody>
                    <a:bodyPr/>
                    <a:lstStyle/>
                    <a:p>
                      <a:pPr algn="l">
                        <a:buNone/>
                      </a:pPr>
                      <a:r>
                        <a:rPr sz="1000" b="0" i="0">
                          <a:solidFill>
                            <a:srgbClr val="1D2733"/>
                          </a:solidFill>
                          <a:latin typeface="Calibri"/>
                        </a:rPr>
                        <a:t>frame sequence</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16</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detects lost frames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42316">
                <a:tc>
                  <a:txBody>
                    <a:bodyPr/>
                    <a:lstStyle/>
                    <a:p>
                      <a:pPr algn="l">
                        <a:buNone/>
                      </a:pPr>
                      <a:r>
                        <a:rPr sz="1000" b="0" i="0">
                          <a:solidFill>
                            <a:srgbClr val="1D2733"/>
                          </a:solidFill>
                          <a:latin typeface="Calibri"/>
                        </a:rPr>
                        <a:t>sample counter</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32</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ties the frame to the capture start</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242316">
                <a:tc>
                  <a:txBody>
                    <a:bodyPr/>
                    <a:lstStyle/>
                    <a:p>
                      <a:pPr algn="l">
                        <a:buNone/>
                      </a:pPr>
                      <a:r>
                        <a:rPr sz="1000" b="0" i="0">
                          <a:solidFill>
                            <a:srgbClr val="1D2733"/>
                          </a:solidFill>
                          <a:latin typeface="Calibri"/>
                        </a:rPr>
                        <a:t>capture metadata</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32</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rate, gain index, ANT / CAL state</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242316">
                <a:tc>
                  <a:txBody>
                    <a:bodyPr/>
                    <a:lstStyle/>
                    <a:p>
                      <a:pPr algn="l">
                        <a:buNone/>
                      </a:pPr>
                      <a:r>
                        <a:rPr sz="1000" b="0" i="0">
                          <a:solidFill>
                            <a:srgbClr val="1D2733"/>
                          </a:solidFill>
                          <a:latin typeface="Calibri"/>
                        </a:rPr>
                        <a:t>payload</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N × 16</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IQ8 (or packed IQ10)</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242316">
                <a:tc>
                  <a:txBody>
                    <a:bodyPr/>
                    <a:lstStyle/>
                    <a:p>
                      <a:pPr algn="l">
                        <a:buNone/>
                      </a:pPr>
                      <a:r>
                        <a:rPr sz="1000" b="0" i="0">
                          <a:solidFill>
                            <a:srgbClr val="1D2733"/>
                          </a:solidFill>
                          <a:latin typeface="Calibri"/>
                        </a:rPr>
                        <a:t>CRC</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16</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bit errors on the parallel bus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bl>
          </a:graphicData>
        </a:graphic>
      </p:graphicFrame>
      <p:sp>
        <p:nvSpPr>
          <p:cNvPr id="58" name="TextBox 57"/>
          <p:cNvSpPr txBox="1"/>
          <p:nvPr/>
        </p:nvSpPr>
        <p:spPr>
          <a:xfrm>
            <a:off x="6172200" y="5715000"/>
            <a:ext cx="5486400" cy="640080"/>
          </a:xfrm>
          <a:prstGeom prst="rect">
            <a:avLst/>
          </a:prstGeom>
          <a:noFill/>
        </p:spPr>
        <p:txBody>
          <a:bodyPr wrap="square" lIns="0" tIns="0" rIns="0" bIns="0" anchor="t">
            <a:spAutoFit/>
          </a:bodyPr>
          <a:lstStyle/>
          <a:p>
            <a:pPr algn="l">
              <a:buNone/>
            </a:pPr>
            <a:r>
              <a:rPr sz="1100" b="0" i="0">
                <a:solidFill>
                  <a:srgbClr val="1D2733"/>
                </a:solidFill>
                <a:latin typeface="Calibri"/>
              </a:rPr>
              <a:t>If one lane slips by a clock, the sync word no longer lines up across the 16 bits </a:t>
            </a:r>
            <a:r>
              <a:rPr sz="1100" b="0" i="0">
                <a:solidFill>
                  <a:srgbClr val="5B6776"/>
                </a:solidFill>
                <a:latin typeface="Calibri"/>
              </a:rPr>
              <a:t>and the S31 sees it at once. Bit transposition is cheap on a PC and expensive on the S31 at 40 M words/s.</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Two data modes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ESP-SDR C5 limits: rates 80/40/20/10/8/4 MS/s, ≤ 16,380 samples per snapshot, 11–48 MHz analog bandwidth. Lane = 2 bit × 40 MHz = 80 Mbit/s.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17</a:t>
            </a:r>
            <a:endParaRPr sz="1000"/>
          </a:p>
        </p:txBody>
      </p:sp>
      <p:sp>
        <p:nvSpPr>
          <p:cNvPr id="5" name="status Open — needs bench test"/>
          <p:cNvSpPr/>
          <p:nvPr/>
        </p:nvSpPr>
        <p:spPr>
          <a:xfrm>
            <a:off x="562356" y="141274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325880"/>
            <a:ext cx="5120640" cy="320040"/>
          </a:xfrm>
          <a:prstGeom prst="rect">
            <a:avLst/>
          </a:prstGeom>
          <a:noFill/>
        </p:spPr>
        <p:txBody>
          <a:bodyPr wrap="square" lIns="0" tIns="0" rIns="0" bIns="0" anchor="t">
            <a:spAutoFit/>
          </a:bodyPr>
          <a:lstStyle/>
          <a:p>
            <a:pPr algn="l">
              <a:buNone/>
            </a:pPr>
            <a:r>
              <a:rPr sz="1700" b="0" i="0">
                <a:solidFill>
                  <a:srgbClr val="1D2733"/>
                </a:solidFill>
                <a:latin typeface="Calibri Light"/>
              </a:rPr>
              <a:t>Mode 1 — continuous reduced rate</a:t>
            </a:r>
            <a:endParaRPr sz="1700"/>
          </a:p>
        </p:txBody>
      </p:sp>
      <p:sp>
        <p:nvSpPr>
          <p:cNvPr id="7" name="TextBox 6"/>
          <p:cNvSpPr txBox="1"/>
          <p:nvPr/>
        </p:nvSpPr>
        <p:spPr>
          <a:xfrm>
            <a:off x="548640" y="1783080"/>
            <a:ext cx="5349240" cy="640080"/>
          </a:xfrm>
          <a:prstGeom prst="rect">
            <a:avLst/>
          </a:prstGeom>
          <a:noFill/>
        </p:spPr>
        <p:txBody>
          <a:bodyPr wrap="square" lIns="0" tIns="0" rIns="0" bIns="0" anchor="t">
            <a:spAutoFit/>
          </a:bodyPr>
          <a:lstStyle/>
          <a:p>
            <a:pPr algn="l">
              <a:buNone/>
            </a:pPr>
            <a:r>
              <a:rPr sz="1200" b="0" i="0">
                <a:solidFill>
                  <a:srgbClr val="5B6776"/>
                </a:solidFill>
                <a:latin typeface="Calibri"/>
              </a:rPr>
              <a:t>Every C5 streams a narrow band continuously over its own 2-bit lane.</a:t>
            </a:r>
            <a:endParaRPr sz="1200"/>
          </a:p>
        </p:txBody>
      </p:sp>
      <p:graphicFrame>
        <p:nvGraphicFramePr>
          <p:cNvPr id="8" name="Table 7"/>
          <p:cNvGraphicFramePr>
            <a:graphicFrameLocks noGrp="1"/>
          </p:cNvGraphicFramePr>
          <p:nvPr/>
        </p:nvGraphicFramePr>
        <p:xfrm>
          <a:off x="548640" y="2468880"/>
          <a:ext cx="5349240" cy="1463040"/>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292608">
                <a:tc>
                  <a:txBody>
                    <a:bodyPr/>
                    <a:lstStyle/>
                    <a:p>
                      <a:pPr algn="l">
                        <a:buNone/>
                      </a:pPr>
                      <a:r>
                        <a:rPr sz="1100" b="0" i="0">
                          <a:solidFill>
                            <a:srgbClr val="1D2733"/>
                          </a:solidFill>
                          <a:latin typeface="Calibri"/>
                        </a:rPr>
                        <a:t>Sample rate (nearest ESP-SDR rate)</a:t>
                      </a:r>
                      <a:endParaRPr sz="1100"/>
                    </a:p>
                  </a:txBody>
                  <a:tcPr marL="64008" marR="64008" marT="32004" marB="32004" anchor="ctr">
                    <a:lnL w="0">
                      <a:noFill/>
                    </a:lnL>
                    <a:lnR w="0">
                      <a:noFill/>
                    </a:lnR>
                    <a:lnT w="0">
                      <a:noFill/>
                    </a:lnT>
                    <a:lnB w="9525">
                      <a:solidFill>
                        <a:srgbClr val="D3D9DF"/>
                      </a:solidFill>
                    </a:lnB>
                    <a:noFill/>
                  </a:tcPr>
                </a:tc>
                <a:tc>
                  <a:txBody>
                    <a:bodyPr/>
                    <a:lstStyle/>
                    <a:p>
                      <a:pPr algn="r">
                        <a:buNone/>
                      </a:pPr>
                      <a:r>
                        <a:rPr sz="1100" b="0" i="0">
                          <a:solidFill>
                            <a:srgbClr val="1D2733"/>
                          </a:solidFill>
                          <a:latin typeface="Calibri"/>
                        </a:rPr>
                        <a:t>4 MS/s, IQ8</a:t>
                      </a:r>
                      <a:endParaRPr sz="1100"/>
                    </a:p>
                  </a:txBody>
                  <a:tcPr marL="64008" marR="64008" marT="32004" marB="32004" anchor="ctr">
                    <a:lnL w="0">
                      <a:noFill/>
                    </a:lnL>
                    <a:lnR w="0">
                      <a:noFill/>
                    </a:lnR>
                    <a:lnT w="0">
                      <a:noFill/>
                    </a:lnT>
                    <a:lnB w="9525">
                      <a:solidFill>
                        <a:srgbClr val="D3D9DF"/>
                      </a:solidFill>
                    </a:lnB>
                    <a:noFill/>
                  </a:tcPr>
                </a:tc>
                <a:extLst>
                  <a:ext uri="{0D108BD9-81ED-4DB2-BD59-A6C34878D82A}">
                    <a16:rowId xmlns:a16="http://schemas.microsoft.com/office/drawing/2014/main" val="10000"/>
                  </a:ext>
                </a:extLst>
              </a:tr>
              <a:tr h="292608">
                <a:tc>
                  <a:txBody>
                    <a:bodyPr/>
                    <a:lstStyle/>
                    <a:p>
                      <a:pPr algn="l">
                        <a:buNone/>
                      </a:pPr>
                      <a:r>
                        <a:rPr sz="1100" b="0" i="0">
                          <a:solidFill>
                            <a:srgbClr val="1D2733"/>
                          </a:solidFill>
                          <a:latin typeface="Calibri"/>
                        </a:rPr>
                        <a:t>Per element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64 of 80 Mbit/s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92608">
                <a:tc>
                  <a:txBody>
                    <a:bodyPr/>
                    <a:lstStyle/>
                    <a:p>
                      <a:pPr algn="l">
                        <a:buNone/>
                      </a:pPr>
                      <a:r>
                        <a:rPr sz="1100" b="0" i="0">
                          <a:solidFill>
                            <a:srgbClr val="1D2733"/>
                          </a:solidFill>
                          <a:latin typeface="Calibri"/>
                        </a:rPr>
                        <a:t>Per tile / array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512 Mbit/s / 1.02 Gbit/s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92608">
                <a:tc>
                  <a:txBody>
                    <a:bodyPr/>
                    <a:lstStyle/>
                    <a:p>
                      <a:pPr algn="l">
                        <a:buNone/>
                      </a:pPr>
                      <a:r>
                        <a:rPr sz="1100" b="0" i="0">
                          <a:solidFill>
                            <a:srgbClr val="1D2733"/>
                          </a:solidFill>
                          <a:latin typeface="Calibri"/>
                        </a:rPr>
                        <a:t>Instantaneous bandwidth</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4 MHz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92608">
                <a:tc>
                  <a:txBody>
                    <a:bodyPr/>
                    <a:lstStyle/>
                    <a:p>
                      <a:pPr algn="l">
                        <a:buNone/>
                      </a:pPr>
                      <a:r>
                        <a:rPr sz="1100" b="0" i="0">
                          <a:solidFill>
                            <a:srgbClr val="1D2733"/>
                          </a:solidFill>
                          <a:latin typeface="Calibri"/>
                        </a:rPr>
                        <a:t>Doppler at 5.2 GHz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34.7 Hz per m/s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bl>
          </a:graphicData>
        </a:graphic>
      </p:graphicFrame>
      <p:sp>
        <p:nvSpPr>
          <p:cNvPr id="9" name="TextBox 8"/>
          <p:cNvSpPr txBox="1"/>
          <p:nvPr/>
        </p:nvSpPr>
        <p:spPr>
          <a:xfrm>
            <a:off x="548640" y="4114800"/>
            <a:ext cx="5349240" cy="201168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5 MS/s is not an ESP-SDR rate, and 8 MS/s (128 Mbit/s) does not fit a 2-bit lane.</a:t>
            </a:r>
            <a:endParaRPr sz="1100"/>
          </a:p>
          <a:p>
            <a:pPr marL="201168" indent="-201168" algn="l">
              <a:spcAft>
                <a:spcPts val="400"/>
              </a:spcAft>
              <a:buFont typeface="Arial"/>
              <a:buChar char="•"/>
            </a:pPr>
            <a:r>
              <a:rPr sz="1100" b="0" i="0">
                <a:solidFill>
                  <a:srgbClr val="5B6776"/>
                </a:solidFill>
                <a:latin typeface="Calibri"/>
              </a:rPr>
              <a:t>The C5 has no continuous capture today. Back-to-back 4 MS/s snapshots (4.1 ms each, 3.3 ms to drain) would be near-continuous if capture and transfer can overlap.</a:t>
            </a:r>
            <a:endParaRPr sz="1100"/>
          </a:p>
          <a:p>
            <a:pPr marL="201168" indent="-201168" algn="l">
              <a:spcAft>
                <a:spcPts val="400"/>
              </a:spcAft>
              <a:buFont typeface="Arial"/>
              <a:buChar char="•"/>
            </a:pPr>
            <a:r>
              <a:rPr sz="1100" b="0" i="0">
                <a:solidFill>
                  <a:srgbClr val="5B6776"/>
                </a:solidFill>
                <a:latin typeface="Calibri"/>
              </a:rPr>
              <a:t>The C5 analog filter is at least 11 MHz wide: at 4 MS/s out-of-band signals may alias (the S31 stream subsamples without a decimation filter).</a:t>
            </a:r>
            <a:endParaRPr sz="1100"/>
          </a:p>
          <a:p>
            <a:pPr marL="201168" indent="-201168" algn="l">
              <a:spcAft>
                <a:spcPts val="400"/>
              </a:spcAft>
              <a:buFont typeface="Arial"/>
              <a:buChar char="•"/>
            </a:pPr>
            <a:r>
              <a:rPr sz="1100" b="0" i="0">
                <a:solidFill>
                  <a:srgbClr val="5B6776"/>
                </a:solidFill>
                <a:latin typeface="Calibri"/>
              </a:rPr>
              <a:t>On the S31, ESP-SDR streams by routing the modem debug bus into PARLIO. The C5 lists MODEM_DIAG0–31 signals, but IQ on them is undocumented — and 16–20 lanes per C5 would not fit the shared bus.</a:t>
            </a:r>
            <a:endParaRPr sz="1100"/>
          </a:p>
        </p:txBody>
      </p:sp>
      <p:sp>
        <p:nvSpPr>
          <p:cNvPr id="10" name="status Engineering inference"/>
          <p:cNvSpPr/>
          <p:nvPr/>
        </p:nvSpPr>
        <p:spPr>
          <a:xfrm>
            <a:off x="6231636" y="1412748"/>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325880"/>
            <a:ext cx="5120640" cy="320040"/>
          </a:xfrm>
          <a:prstGeom prst="rect">
            <a:avLst/>
          </a:prstGeom>
          <a:noFill/>
        </p:spPr>
        <p:txBody>
          <a:bodyPr wrap="square" lIns="0" tIns="0" rIns="0" bIns="0" anchor="t">
            <a:spAutoFit/>
          </a:bodyPr>
          <a:lstStyle/>
          <a:p>
            <a:pPr algn="l">
              <a:buNone/>
            </a:pPr>
            <a:r>
              <a:rPr sz="1700" b="0" i="0">
                <a:solidFill>
                  <a:srgbClr val="1D2733"/>
                </a:solidFill>
                <a:latin typeface="Calibri Light"/>
              </a:rPr>
              <a:t>Mode 2 — full-rate synchronized snapshots</a:t>
            </a:r>
            <a:endParaRPr sz="1700"/>
          </a:p>
        </p:txBody>
      </p:sp>
      <p:sp>
        <p:nvSpPr>
          <p:cNvPr id="12" name="TextBox 11"/>
          <p:cNvSpPr txBox="1"/>
          <p:nvPr/>
        </p:nvSpPr>
        <p:spPr>
          <a:xfrm>
            <a:off x="6217920" y="1783080"/>
            <a:ext cx="5349240" cy="640080"/>
          </a:xfrm>
          <a:prstGeom prst="rect">
            <a:avLst/>
          </a:prstGeom>
          <a:noFill/>
        </p:spPr>
        <p:txBody>
          <a:bodyPr wrap="square" lIns="0" tIns="0" rIns="0" bIns="0" anchor="t">
            <a:spAutoFit/>
          </a:bodyPr>
          <a:lstStyle/>
          <a:p>
            <a:pPr algn="l">
              <a:buNone/>
            </a:pPr>
            <a:r>
              <a:rPr sz="1200" b="0" i="0">
                <a:solidFill>
                  <a:srgbClr val="5B6776"/>
                </a:solidFill>
                <a:latin typeface="Calibri"/>
              </a:rPr>
              <a:t>All 16 elements capture the same 205 µs at 80 MS/s, then drain over their lanes.</a:t>
            </a:r>
            <a:endParaRPr sz="1200"/>
          </a:p>
        </p:txBody>
      </p:sp>
      <p:graphicFrame>
        <p:nvGraphicFramePr>
          <p:cNvPr id="13" name="Table 12"/>
          <p:cNvGraphicFramePr>
            <a:graphicFrameLocks noGrp="1"/>
          </p:cNvGraphicFramePr>
          <p:nvPr/>
        </p:nvGraphicFramePr>
        <p:xfrm>
          <a:off x="6217920" y="2468880"/>
          <a:ext cx="5349240" cy="1463040"/>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292608">
                <a:tc>
                  <a:txBody>
                    <a:bodyPr/>
                    <a:lstStyle/>
                    <a:p>
                      <a:pPr algn="l">
                        <a:buNone/>
                      </a:pPr>
                      <a:r>
                        <a:rPr sz="1100" b="0" i="0">
                          <a:solidFill>
                            <a:srgbClr val="1D2733"/>
                          </a:solidFill>
                          <a:latin typeface="Calibri"/>
                        </a:rPr>
                        <a:t>Snapshot</a:t>
                      </a:r>
                      <a:endParaRPr sz="1100"/>
                    </a:p>
                  </a:txBody>
                  <a:tcPr marL="64008" marR="64008" marT="32004" marB="32004" anchor="ctr">
                    <a:lnL w="0">
                      <a:noFill/>
                    </a:lnL>
                    <a:lnR w="0">
                      <a:noFill/>
                    </a:lnR>
                    <a:lnT w="0">
                      <a:noFill/>
                    </a:lnT>
                    <a:lnB w="9525">
                      <a:solidFill>
                        <a:srgbClr val="D3D9DF"/>
                      </a:solidFill>
                    </a:lnB>
                    <a:noFill/>
                  </a:tcPr>
                </a:tc>
                <a:tc>
                  <a:txBody>
                    <a:bodyPr/>
                    <a:lstStyle/>
                    <a:p>
                      <a:pPr algn="r">
                        <a:buNone/>
                      </a:pPr>
                      <a:r>
                        <a:rPr sz="1100" b="0" i="0">
                          <a:solidFill>
                            <a:srgbClr val="1D2733"/>
                          </a:solidFill>
                          <a:latin typeface="Calibri"/>
                        </a:rPr>
                        <a:t>16,380 samples, 205 µs</a:t>
                      </a:r>
                      <a:endParaRPr sz="1100"/>
                    </a:p>
                  </a:txBody>
                  <a:tcPr marL="64008" marR="64008" marT="32004" marB="32004" anchor="ctr">
                    <a:lnL w="0">
                      <a:noFill/>
                    </a:lnL>
                    <a:lnR w="0">
                      <a:noFill/>
                    </a:lnR>
                    <a:lnT w="0">
                      <a:noFill/>
                    </a:lnT>
                    <a:lnB w="9525">
                      <a:solidFill>
                        <a:srgbClr val="D3D9DF"/>
                      </a:solidFill>
                    </a:lnB>
                    <a:noFill/>
                  </a:tcPr>
                </a:tc>
                <a:extLst>
                  <a:ext uri="{0D108BD9-81ED-4DB2-BD59-A6C34878D82A}">
                    <a16:rowId xmlns:a16="http://schemas.microsoft.com/office/drawing/2014/main" val="10000"/>
                  </a:ext>
                </a:extLst>
              </a:tr>
              <a:tr h="292608">
                <a:tc>
                  <a:txBody>
                    <a:bodyPr/>
                    <a:lstStyle/>
                    <a:p>
                      <a:pPr algn="l">
                        <a:buNone/>
                      </a:pPr>
                      <a:r>
                        <a:rPr sz="1100" b="0" i="0">
                          <a:solidFill>
                            <a:srgbClr val="1D2733"/>
                          </a:solidFill>
                          <a:latin typeface="Calibri"/>
                        </a:rPr>
                        <a:t>Size per element, IQ8 / IQ10</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32.8 / 41.0 kB</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92608">
                <a:tc>
                  <a:txBody>
                    <a:bodyPr/>
                    <a:lstStyle/>
                    <a:p>
                      <a:pPr algn="l">
                        <a:buNone/>
                      </a:pPr>
                      <a:r>
                        <a:rPr sz="1100" b="0" i="0">
                          <a:solidFill>
                            <a:srgbClr val="1D2733"/>
                          </a:solidFill>
                          <a:latin typeface="Calibri"/>
                        </a:rPr>
                        <a:t>Drain time at 80 Mbit/s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3.3 / 4.1 ms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92608">
                <a:tc>
                  <a:txBody>
                    <a:bodyPr/>
                    <a:lstStyle/>
                    <a:p>
                      <a:pPr algn="l">
                        <a:buNone/>
                      </a:pPr>
                      <a:r>
                        <a:rPr sz="1100" b="0" i="0">
                          <a:solidFill>
                            <a:srgbClr val="1D2733"/>
                          </a:solidFill>
                          <a:latin typeface="Calibri"/>
                        </a:rPr>
                        <a:t>Max snapshot rate (IQ8)</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287 per second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92608">
                <a:tc>
                  <a:txBody>
                    <a:bodyPr/>
                    <a:lstStyle/>
                    <a:p>
                      <a:pPr algn="l">
                        <a:buNone/>
                      </a:pPr>
                      <a:r>
                        <a:rPr sz="1100" b="0" i="0">
                          <a:solidFill>
                            <a:srgbClr val="1D2733"/>
                          </a:solidFill>
                          <a:latin typeface="Calibri"/>
                        </a:rPr>
                        <a:t>Array data per snapshot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524 kB</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217920" y="4114800"/>
            <a:ext cx="5349240" cy="201168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Wide instantaneous bandwidth (11–48 MHz analog) with low-cost networking.</a:t>
            </a:r>
            <a:endParaRPr sz="1100"/>
          </a:p>
          <a:p>
            <a:pPr marL="201168" indent="-201168" algn="l">
              <a:spcAft>
                <a:spcPts val="400"/>
              </a:spcAft>
              <a:buFont typeface="Arial"/>
              <a:buChar char="•"/>
            </a:pPr>
            <a:r>
              <a:rPr sz="1100" b="0" i="0">
                <a:solidFill>
                  <a:srgbClr val="5B6776"/>
                </a:solidFill>
                <a:latin typeface="Calibri"/>
              </a:rPr>
              <a:t>Right mode for calibration, wideband channel sounding and radar trials.</a:t>
            </a:r>
            <a:endParaRPr sz="1100"/>
          </a:p>
          <a:p>
            <a:pPr marL="201168" indent="-201168" algn="l">
              <a:spcAft>
                <a:spcPts val="400"/>
              </a:spcAft>
              <a:buFont typeface="Arial"/>
              <a:buChar char="•"/>
            </a:pPr>
            <a:r>
              <a:rPr sz="1100" b="0" i="0">
                <a:solidFill>
                  <a:srgbClr val="5B6776"/>
                </a:solidFill>
                <a:latin typeface="Calibri"/>
              </a:rPr>
              <a:t>Needs PARLIO export firmware and a hardware capture trigger — both new work.</a:t>
            </a:r>
            <a:endParaRPr sz="1100"/>
          </a:p>
        </p:txBody>
      </p:sp>
      <p:sp>
        <p:nvSpPr>
          <p:cNvPr id="15" name="status Confirmed"/>
          <p:cNvSpPr/>
          <p:nvPr/>
        </p:nvSpPr>
        <p:spPr>
          <a:xfrm>
            <a:off x="562356" y="6094476"/>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6053328"/>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17" name="status Engineering inference"/>
          <p:cNvSpPr/>
          <p:nvPr/>
        </p:nvSpPr>
        <p:spPr>
          <a:xfrm>
            <a:off x="1548079" y="6094476"/>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35531" y="6053328"/>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19" name="status Open — needs bench test"/>
          <p:cNvSpPr/>
          <p:nvPr/>
        </p:nvSpPr>
        <p:spPr>
          <a:xfrm>
            <a:off x="3214116" y="6094476"/>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01568" y="6053328"/>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Data-rate budget, stage by stage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Assumptions: IQ8, 16,380-sample snapshots (ESP-SDR maximum on C5), 2 bit × 40 MHz per lane. Replace with step-1/2 measurements.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18</a:t>
            </a:r>
            <a:endParaRPr sz="1000"/>
          </a:p>
        </p:txBody>
      </p:sp>
      <p:graphicFrame>
        <p:nvGraphicFramePr>
          <p:cNvPr id="5" name="Table 4"/>
          <p:cNvGraphicFramePr>
            <a:graphicFrameLocks noGrp="1"/>
          </p:cNvGraphicFramePr>
          <p:nvPr/>
        </p:nvGraphicFramePr>
        <p:xfrm>
          <a:off x="548640" y="1280160"/>
          <a:ext cx="11091672" cy="3895344"/>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3090672">
                  <a:extLst>
                    <a:ext uri="{9D8B030D-6E8A-4147-A177-3AD203B41FA5}">
                      <a16:colId xmlns:a16="http://schemas.microsoft.com/office/drawing/2014/main" val="20004"/>
                    </a:ext>
                  </a:extLst>
                </a:gridCol>
              </a:tblGrid>
              <a:tr h="384048">
                <a:tc>
                  <a:txBody>
                    <a:bodyPr/>
                    <a:lstStyle/>
                    <a:p>
                      <a:pPr algn="l">
                        <a:buNone/>
                      </a:pPr>
                      <a:r>
                        <a:rPr sz="1200" b="0" i="0">
                          <a:solidFill>
                            <a:srgbClr val="5B6776"/>
                          </a:solidFill>
                          <a:latin typeface="Calibri"/>
                        </a:rPr>
                        <a:t>Stage</a:t>
                      </a:r>
                      <a:endParaRPr sz="1200"/>
                    </a:p>
                  </a:txBody>
                  <a:tcPr marL="64008" marR="64008" marT="32004" marB="32004" anchor="ctr">
                    <a:lnL w="0">
                      <a:noFill/>
                    </a:lnL>
                    <a:lnR w="0">
                      <a:noFill/>
                    </a:lnR>
                    <a:lnT w="0">
                      <a:noFill/>
                    </a:lnT>
                    <a:lnB w="12700">
                      <a:solidFill>
                        <a:srgbClr val="7F8B97"/>
                      </a:solidFill>
                    </a:lnB>
                    <a:noFill/>
                  </a:tcPr>
                </a:tc>
                <a:tc>
                  <a:txBody>
                    <a:bodyPr/>
                    <a:lstStyle/>
                    <a:p>
                      <a:pPr algn="r">
                        <a:buNone/>
                      </a:pPr>
                      <a:r>
                        <a:rPr sz="1200" b="0" i="0">
                          <a:solidFill>
                            <a:srgbClr val="5B6776"/>
                          </a:solidFill>
                          <a:latin typeface="Calibri"/>
                        </a:rPr>
                        <a:t>per element</a:t>
                      </a:r>
                      <a:endParaRPr sz="1200"/>
                    </a:p>
                  </a:txBody>
                  <a:tcPr marL="64008" marR="64008" marT="32004" marB="32004" anchor="ctr">
                    <a:lnL w="0">
                      <a:noFill/>
                    </a:lnL>
                    <a:lnR w="0">
                      <a:noFill/>
                    </a:lnR>
                    <a:lnT w="0">
                      <a:noFill/>
                    </a:lnT>
                    <a:lnB w="12700">
                      <a:solidFill>
                        <a:srgbClr val="7F8B97"/>
                      </a:solidFill>
                    </a:lnB>
                    <a:noFill/>
                  </a:tcPr>
                </a:tc>
                <a:tc>
                  <a:txBody>
                    <a:bodyPr/>
                    <a:lstStyle/>
                    <a:p>
                      <a:pPr algn="r">
                        <a:buNone/>
                      </a:pPr>
                      <a:r>
                        <a:rPr sz="1200" b="0" i="0">
                          <a:solidFill>
                            <a:srgbClr val="5B6776"/>
                          </a:solidFill>
                          <a:latin typeface="Calibri"/>
                        </a:rPr>
                        <a:t>per tile (×8)</a:t>
                      </a:r>
                      <a:endParaRPr sz="1200"/>
                    </a:p>
                  </a:txBody>
                  <a:tcPr marL="64008" marR="64008" marT="32004" marB="32004" anchor="ctr">
                    <a:lnL w="0">
                      <a:noFill/>
                    </a:lnL>
                    <a:lnR w="0">
                      <a:noFill/>
                    </a:lnR>
                    <a:lnT w="0">
                      <a:noFill/>
                    </a:lnT>
                    <a:lnB w="12700">
                      <a:solidFill>
                        <a:srgbClr val="7F8B97"/>
                      </a:solidFill>
                    </a:lnB>
                    <a:noFill/>
                  </a:tcPr>
                </a:tc>
                <a:tc>
                  <a:txBody>
                    <a:bodyPr/>
                    <a:lstStyle/>
                    <a:p>
                      <a:pPr algn="r">
                        <a:buNone/>
                      </a:pPr>
                      <a:r>
                        <a:rPr sz="1200" b="0" i="0">
                          <a:solidFill>
                            <a:srgbClr val="5B6776"/>
                          </a:solidFill>
                          <a:latin typeface="Calibri"/>
                        </a:rPr>
                        <a:t>array (×16)</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comment</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438912">
                <a:tc>
                  <a:txBody>
                    <a:bodyPr/>
                    <a:lstStyle/>
                    <a:p>
                      <a:pPr algn="l">
                        <a:buNone/>
                      </a:pPr>
                      <a:r>
                        <a:rPr sz="1200" b="0" i="0">
                          <a:solidFill>
                            <a:srgbClr val="1D2733"/>
                          </a:solidFill>
                          <a:latin typeface="Calibri"/>
                        </a:rPr>
                        <a:t>Internal IQ, 80 MS/s, IQ8</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1.28 Gbit/s</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10.2 Gbit/s</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20.5 Gbit/s</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inside the chip only</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438912">
                <a:tc>
                  <a:txBody>
                    <a:bodyPr/>
                    <a:lstStyle/>
                    <a:p>
                      <a:pPr algn="l">
                        <a:buNone/>
                      </a:pPr>
                      <a:r>
                        <a:rPr sz="1200" b="0" i="0">
                          <a:solidFill>
                            <a:srgbClr val="1D2733"/>
                          </a:solidFill>
                          <a:latin typeface="Calibri"/>
                        </a:rPr>
                        <a:t>Snapshot, 16,380 samples (IQ8)</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32 KiB</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256 KiB</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512 KiB</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205 µs of signal</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438912">
                <a:tc>
                  <a:txBody>
                    <a:bodyPr/>
                    <a:lstStyle/>
                    <a:p>
                      <a:pPr algn="l">
                        <a:buNone/>
                      </a:pPr>
                      <a:r>
                        <a:rPr sz="1200" b="0" i="0">
                          <a:solidFill>
                            <a:srgbClr val="1D2733"/>
                          </a:solidFill>
                          <a:latin typeface="Calibri"/>
                        </a:rPr>
                        <a:t>Today: USB-Serial-JTAG</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12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ESP-SDR, line rate</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438912">
                <a:tc>
                  <a:txBody>
                    <a:bodyPr/>
                    <a:lstStyle/>
                    <a:p>
                      <a:pPr algn="l">
                        <a:buNone/>
                      </a:pPr>
                      <a:r>
                        <a:rPr sz="1200" b="0" i="0">
                          <a:solidFill>
                            <a:srgbClr val="1D2733"/>
                          </a:solidFill>
                          <a:latin typeface="Calibri"/>
                        </a:rPr>
                        <a:t>PARLIO lane, 2 bit × 40 MHz</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80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640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1.28 Gbit/s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64 % of GbE per tile</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438912">
                <a:tc>
                  <a:txBody>
                    <a:bodyPr/>
                    <a:lstStyle/>
                    <a:p>
                      <a:pPr algn="l">
                        <a:buNone/>
                      </a:pPr>
                      <a:r>
                        <a:rPr sz="1200" b="0" i="0">
                          <a:solidFill>
                            <a:srgbClr val="1D2733"/>
                          </a:solidFill>
                          <a:latin typeface="Calibri"/>
                        </a:rPr>
                        <a:t>Mode 1: 4 MS/s IQ8 continuous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64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512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1.02 Gbit/s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C5 continuous capture is open</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438912">
                <a:tc>
                  <a:txBody>
                    <a:bodyPr/>
                    <a:lstStyle/>
                    <a:p>
                      <a:pPr algn="l">
                        <a:buNone/>
                      </a:pPr>
                      <a:r>
                        <a:rPr sz="1200" b="0" i="0">
                          <a:solidFill>
                            <a:srgbClr val="1D2733"/>
                          </a:solidFill>
                          <a:latin typeface="Calibri"/>
                        </a:rPr>
                        <a:t>Mode 2: snapshot drain (IQ8)</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3.3 ms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same, parallel</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same, parallel</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 287 snapshots/s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438912">
                <a:tc>
                  <a:txBody>
                    <a:bodyPr/>
                    <a:lstStyle/>
                    <a:p>
                      <a:pPr algn="l">
                        <a:buNone/>
                      </a:pPr>
                      <a:r>
                        <a:rPr sz="1200" b="0" i="0">
                          <a:solidFill>
                            <a:srgbClr val="1D2733"/>
                          </a:solidFill>
                          <a:latin typeface="Calibri"/>
                        </a:rPr>
                        <a:t>64 FFT bins per snapshot, 100/s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205 kbit/s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1.64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3.28 Mbit/s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complex, 16-bit I/Q</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r h="438912">
                <a:tc>
                  <a:txBody>
                    <a:bodyPr/>
                    <a:lstStyle/>
                    <a:p>
                      <a:pPr algn="l">
                        <a:buNone/>
                      </a:pPr>
                      <a:r>
                        <a:rPr sz="1200" b="0" i="0">
                          <a:solidFill>
                            <a:srgbClr val="1D2733"/>
                          </a:solidFill>
                          <a:latin typeface="Calibri"/>
                        </a:rPr>
                        <a:t>16 × 16 covariance, 100/s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870 kbit/s</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200" b="0" i="0">
                          <a:solidFill>
                            <a:srgbClr val="1D2733"/>
                          </a:solidFill>
                          <a:latin typeface="Calibri"/>
                        </a:rPr>
                        <a:t>136 complex float32</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8"/>
                  </a:ext>
                </a:extLst>
              </a:tr>
            </a:tbl>
          </a:graphicData>
        </a:graphic>
      </p:graphicFrame>
      <p:sp>
        <p:nvSpPr>
          <p:cNvPr id="6" name="TextBox 5"/>
          <p:cNvSpPr txBox="1"/>
          <p:nvPr/>
        </p:nvSpPr>
        <p:spPr>
          <a:xfrm>
            <a:off x="548640" y="5760720"/>
            <a:ext cx="11064240" cy="457200"/>
          </a:xfrm>
          <a:prstGeom prst="rect">
            <a:avLst/>
          </a:prstGeom>
          <a:noFill/>
        </p:spPr>
        <p:txBody>
          <a:bodyPr wrap="square" lIns="0" tIns="0" rIns="0" bIns="0" anchor="t">
            <a:spAutoFit/>
          </a:bodyPr>
          <a:lstStyle/>
          <a:p>
            <a:pPr algn="l">
              <a:buNone/>
            </a:pPr>
            <a:r>
              <a:rPr sz="1300" b="0" i="0">
                <a:solidFill>
                  <a:srgbClr val="1D2733"/>
                </a:solidFill>
                <a:latin typeface="Calibri"/>
              </a:rPr>
              <a:t>Per tile the lanes add up to 640 Mbit/s and one Gigabit port; the array needs two ports at the host. Reduction (FFT bins, covariance) can move to the S31 or an FPGA later.</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happens to the IQ data?</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Lane = 2 bit × 40 MHz. S31 PARLIO→GbE at 640 Mbit/s is shown by ESP-SDR's S31 streaming firmware (one board, internal source).</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19</a:t>
            </a:r>
            <a:endParaRPr sz="1000"/>
          </a:p>
        </p:txBody>
      </p:sp>
      <p:sp>
        <p:nvSpPr>
          <p:cNvPr id="5" name="Rectangle 4"/>
          <p:cNvSpPr/>
          <p:nvPr/>
        </p:nvSpPr>
        <p:spPr>
          <a:xfrm>
            <a:off x="548640" y="1965960"/>
            <a:ext cx="1828800" cy="731520"/>
          </a:xfrm>
          <a:prstGeom prst="rect">
            <a:avLst/>
          </a:prstGeom>
          <a:solidFill>
            <a:srgbClr val="E4F2F1"/>
          </a:solidFill>
          <a:ln w="12700">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400" b="0" i="0">
                <a:solidFill>
                  <a:srgbClr val="1D2733"/>
                </a:solidFill>
                <a:latin typeface="Calibri"/>
              </a:rPr>
              <a:t>ESP32-C5</a:t>
            </a:r>
            <a:r>
              <a:rPr sz="1100" b="0" i="0">
                <a:solidFill>
                  <a:srgbClr val="5B6776"/>
                </a:solidFill>
                <a:latin typeface="Calibri"/>
              </a:rPr>
              <a:t>  ×16</a:t>
            </a:r>
            <a:endParaRPr sz="1400"/>
          </a:p>
        </p:txBody>
      </p:sp>
      <p:sp>
        <p:nvSpPr>
          <p:cNvPr id="6" name="Rectangle 5"/>
          <p:cNvSpPr/>
          <p:nvPr/>
        </p:nvSpPr>
        <p:spPr>
          <a:xfrm>
            <a:off x="3685032" y="1965960"/>
            <a:ext cx="1828800" cy="73152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400" b="0" i="0">
                <a:solidFill>
                  <a:srgbClr val="1D2733"/>
                </a:solidFill>
                <a:latin typeface="Calibri"/>
              </a:rPr>
              <a:t>ESP32-S31</a:t>
            </a:r>
            <a:r>
              <a:rPr sz="1100" b="0" i="0">
                <a:solidFill>
                  <a:srgbClr val="5B6776"/>
                </a:solidFill>
                <a:latin typeface="Calibri"/>
              </a:rPr>
              <a:t>  ×2</a:t>
            </a:r>
            <a:endParaRPr sz="1400"/>
          </a:p>
        </p:txBody>
      </p:sp>
      <p:sp>
        <p:nvSpPr>
          <p:cNvPr id="7" name="Rectangle 6"/>
          <p:cNvSpPr/>
          <p:nvPr/>
        </p:nvSpPr>
        <p:spPr>
          <a:xfrm>
            <a:off x="6821424" y="1965960"/>
            <a:ext cx="1828800" cy="731520"/>
          </a:xfrm>
          <a:prstGeom prst="rect">
            <a:avLst/>
          </a:prstGeom>
          <a:solidFill>
            <a:srgbClr val="FFFFFF"/>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400" b="0" i="0">
                <a:solidFill>
                  <a:srgbClr val="1D2733"/>
                </a:solidFill>
                <a:latin typeface="Calibri"/>
              </a:rPr>
              <a:t>Host capture</a:t>
            </a:r>
            <a:r>
              <a:rPr sz="1100" b="0" i="0">
                <a:solidFill>
                  <a:srgbClr val="5B6776"/>
                </a:solidFill>
                <a:latin typeface="Calibri"/>
              </a:rPr>
              <a:t>  2 × GbE</a:t>
            </a:r>
            <a:endParaRPr sz="1400"/>
          </a:p>
        </p:txBody>
      </p:sp>
      <p:sp>
        <p:nvSpPr>
          <p:cNvPr id="8" name="Rectangle 7"/>
          <p:cNvSpPr/>
          <p:nvPr/>
        </p:nvSpPr>
        <p:spPr>
          <a:xfrm>
            <a:off x="9811512" y="1965960"/>
            <a:ext cx="1828800" cy="731520"/>
          </a:xfrm>
          <a:prstGeom prst="rect">
            <a:avLst/>
          </a:prstGeom>
          <a:solidFill>
            <a:srgbClr val="FFFFFF"/>
          </a:solidFill>
          <a:ln w="12700">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400" b="0" i="0">
                <a:solidFill>
                  <a:srgbClr val="1D2733"/>
                </a:solidFill>
                <a:latin typeface="Calibri"/>
              </a:rPr>
              <a:t>Host DSP</a:t>
            </a:r>
            <a:r>
              <a:rPr sz="1100" b="0" i="0">
                <a:solidFill>
                  <a:srgbClr val="5B6776"/>
                </a:solidFill>
                <a:latin typeface="Calibri"/>
              </a:rPr>
              <a:t>  </a:t>
            </a:r>
            <a:endParaRPr sz="1400"/>
          </a:p>
        </p:txBody>
      </p:sp>
      <p:cxnSp>
        <p:nvCxnSpPr>
          <p:cNvPr id="9" name="Connector 8"/>
          <p:cNvCxnSpPr/>
          <p:nvPr/>
        </p:nvCxnSpPr>
        <p:spPr>
          <a:xfrm>
            <a:off x="2377440" y="2331720"/>
            <a:ext cx="1307592" cy="0"/>
          </a:xfrm>
          <a:prstGeom prst="line">
            <a:avLst/>
          </a:prstGeom>
          <a:ln w="1905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267712" y="1344167"/>
            <a:ext cx="1527048" cy="566928"/>
          </a:xfrm>
          <a:prstGeom prst="rect">
            <a:avLst/>
          </a:prstGeom>
          <a:noFill/>
        </p:spPr>
        <p:txBody>
          <a:bodyPr wrap="square" lIns="0" tIns="0" rIns="0" bIns="0" anchor="b">
            <a:spAutoFit/>
          </a:bodyPr>
          <a:lstStyle/>
          <a:p>
            <a:pPr algn="ctr">
              <a:buNone/>
            </a:pPr>
            <a:r>
              <a:rPr sz="1000" b="0" i="0">
                <a:solidFill>
                  <a:srgbClr val="1D2733"/>
                </a:solidFill>
                <a:latin typeface="Calibri"/>
              </a:rPr>
              <a:t>80 Mbit/s per lane</a:t>
            </a:r>
            <a:endParaRPr sz="1000"/>
          </a:p>
          <a:p>
            <a:pPr algn="ctr">
              <a:buNone/>
            </a:pPr>
            <a:r>
              <a:rPr sz="1000" b="0" i="0">
                <a:solidFill>
                  <a:srgbClr val="1D2733"/>
                </a:solidFill>
                <a:latin typeface="Calibri"/>
              </a:rPr>
              <a:t>(2 bit × 40 MHz)</a:t>
            </a:r>
            <a:endParaRPr sz="1000"/>
          </a:p>
        </p:txBody>
      </p:sp>
      <p:cxnSp>
        <p:nvCxnSpPr>
          <p:cNvPr id="11" name="Connector 10"/>
          <p:cNvCxnSpPr/>
          <p:nvPr/>
        </p:nvCxnSpPr>
        <p:spPr>
          <a:xfrm>
            <a:off x="5513832" y="2331720"/>
            <a:ext cx="1307592" cy="0"/>
          </a:xfrm>
          <a:prstGeom prst="line">
            <a:avLst/>
          </a:prstGeom>
          <a:ln w="1905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04104" y="1344167"/>
            <a:ext cx="1527047" cy="566928"/>
          </a:xfrm>
          <a:prstGeom prst="rect">
            <a:avLst/>
          </a:prstGeom>
          <a:noFill/>
        </p:spPr>
        <p:txBody>
          <a:bodyPr wrap="square" lIns="0" tIns="0" rIns="0" bIns="0" anchor="b">
            <a:spAutoFit/>
          </a:bodyPr>
          <a:lstStyle/>
          <a:p>
            <a:pPr algn="ctr">
              <a:buNone/>
            </a:pPr>
            <a:r>
              <a:rPr sz="1000" b="0" i="0">
                <a:solidFill>
                  <a:srgbClr val="1D2733"/>
                </a:solidFill>
                <a:latin typeface="Calibri"/>
              </a:rPr>
              <a:t>640 Mbit/s per tile</a:t>
            </a:r>
            <a:endParaRPr sz="1000"/>
          </a:p>
          <a:p>
            <a:pPr algn="ctr">
              <a:buNone/>
            </a:pPr>
            <a:r>
              <a:rPr sz="1000" b="0" i="0">
                <a:solidFill>
                  <a:srgbClr val="1D2733"/>
                </a:solidFill>
                <a:latin typeface="Calibri"/>
              </a:rPr>
              <a:t>on 1 GbE</a:t>
            </a:r>
            <a:endParaRPr sz="1000"/>
          </a:p>
        </p:txBody>
      </p:sp>
      <p:cxnSp>
        <p:nvCxnSpPr>
          <p:cNvPr id="13" name="Connector 12"/>
          <p:cNvCxnSpPr/>
          <p:nvPr/>
        </p:nvCxnSpPr>
        <p:spPr>
          <a:xfrm>
            <a:off x="8650224" y="2331720"/>
            <a:ext cx="1161288" cy="0"/>
          </a:xfrm>
          <a:prstGeom prst="line">
            <a:avLst/>
          </a:prstGeom>
          <a:ln w="1905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40496" y="1344167"/>
            <a:ext cx="1380743" cy="566928"/>
          </a:xfrm>
          <a:prstGeom prst="rect">
            <a:avLst/>
          </a:prstGeom>
          <a:noFill/>
        </p:spPr>
        <p:txBody>
          <a:bodyPr wrap="square" lIns="0" tIns="0" rIns="0" bIns="0" anchor="b">
            <a:spAutoFit/>
          </a:bodyPr>
          <a:lstStyle/>
          <a:p>
            <a:pPr algn="ctr">
              <a:buNone/>
            </a:pPr>
            <a:r>
              <a:rPr sz="1000" b="0" i="0">
                <a:solidFill>
                  <a:srgbClr val="1D2733"/>
                </a:solidFill>
                <a:latin typeface="Calibri"/>
              </a:rPr>
              <a:t>≈ 1.3 Gbit/s total</a:t>
            </a:r>
            <a:endParaRPr sz="1000"/>
          </a:p>
          <a:p>
            <a:pPr algn="ctr">
              <a:buNone/>
            </a:pPr>
            <a:r>
              <a:rPr sz="1000" b="0" i="0">
                <a:solidFill>
                  <a:srgbClr val="1D2733"/>
                </a:solidFill>
                <a:latin typeface="Calibri"/>
              </a:rPr>
              <a:t>into RAM</a:t>
            </a:r>
            <a:endParaRPr sz="1000"/>
          </a:p>
        </p:txBody>
      </p:sp>
      <p:sp>
        <p:nvSpPr>
          <p:cNvPr id="15" name="TextBox 14"/>
          <p:cNvSpPr txBox="1"/>
          <p:nvPr/>
        </p:nvSpPr>
        <p:spPr>
          <a:xfrm>
            <a:off x="548640" y="2880360"/>
            <a:ext cx="1828800" cy="237744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capture on common trigger</a:t>
            </a:r>
            <a:endParaRPr sz="1100"/>
          </a:p>
          <a:p>
            <a:pPr marL="201168" indent="-201168" algn="l">
              <a:spcAft>
                <a:spcPts val="400"/>
              </a:spcAft>
              <a:buFont typeface="Arial"/>
              <a:buChar char="•"/>
            </a:pPr>
            <a:r>
              <a:rPr sz="1100" b="0" i="0">
                <a:solidFill>
                  <a:srgbClr val="5B6776"/>
                </a:solidFill>
                <a:latin typeface="Calibri"/>
              </a:rPr>
              <a:t>snapshot or 4 MS/s stream</a:t>
            </a:r>
            <a:endParaRPr sz="1100"/>
          </a:p>
          <a:p>
            <a:pPr marL="201168" indent="-201168" algn="l">
              <a:spcAft>
                <a:spcPts val="400"/>
              </a:spcAft>
              <a:buFont typeface="Arial"/>
              <a:buChar char="•"/>
            </a:pPr>
            <a:r>
              <a:rPr sz="1100" b="0" i="0">
                <a:solidFill>
                  <a:srgbClr val="5B6776"/>
                </a:solidFill>
                <a:latin typeface="Calibri"/>
              </a:rPr>
              <a:t>frame: sync, ID, counters</a:t>
            </a:r>
            <a:endParaRPr sz="1100"/>
          </a:p>
          <a:p>
            <a:pPr marL="201168" indent="-201168" algn="l">
              <a:spcAft>
                <a:spcPts val="400"/>
              </a:spcAft>
              <a:buFont typeface="Arial"/>
              <a:buChar char="•"/>
            </a:pPr>
            <a:r>
              <a:rPr sz="1100" b="0" i="0">
                <a:solidFill>
                  <a:srgbClr val="5B6776"/>
                </a:solidFill>
                <a:latin typeface="Calibri"/>
              </a:rPr>
              <a:t>PARLIO TX on shared PCLK</a:t>
            </a:r>
            <a:endParaRPr sz="1100"/>
          </a:p>
        </p:txBody>
      </p:sp>
      <p:sp>
        <p:nvSpPr>
          <p:cNvPr id="16" name="TextBox 15"/>
          <p:cNvSpPr txBox="1"/>
          <p:nvPr/>
        </p:nvSpPr>
        <p:spPr>
          <a:xfrm>
            <a:off x="3685032" y="2880360"/>
            <a:ext cx="1828800" cy="237744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16-bit PARLIO RX by DMA</a:t>
            </a:r>
            <a:endParaRPr sz="1100"/>
          </a:p>
          <a:p>
            <a:pPr marL="201168" indent="-201168" algn="l">
              <a:spcAft>
                <a:spcPts val="400"/>
              </a:spcAft>
              <a:buFont typeface="Arial"/>
              <a:buChar char="•"/>
            </a:pPr>
            <a:r>
              <a:rPr sz="1100" b="0" i="0">
                <a:solidFill>
                  <a:srgbClr val="5B6776"/>
                </a:solidFill>
                <a:latin typeface="Calibri"/>
              </a:rPr>
              <a:t>sync-word alignment check</a:t>
            </a:r>
            <a:endParaRPr sz="1100"/>
          </a:p>
          <a:p>
            <a:pPr marL="201168" indent="-201168" algn="l">
              <a:spcAft>
                <a:spcPts val="400"/>
              </a:spcAft>
              <a:buFont typeface="Arial"/>
              <a:buChar char="•"/>
            </a:pPr>
            <a:r>
              <a:rPr sz="1100" b="0" i="0">
                <a:solidFill>
                  <a:srgbClr val="5B6776"/>
                </a:solidFill>
                <a:latin typeface="Calibri"/>
              </a:rPr>
              <a:t>UDP packets, timestamps</a:t>
            </a:r>
            <a:endParaRPr sz="1100"/>
          </a:p>
          <a:p>
            <a:pPr marL="201168" indent="-201168" algn="l">
              <a:spcAft>
                <a:spcPts val="400"/>
              </a:spcAft>
              <a:buFont typeface="Arial"/>
              <a:buChar char="•"/>
            </a:pPr>
            <a:r>
              <a:rPr sz="1100" b="0" i="0">
                <a:solidFill>
                  <a:srgbClr val="5B6776"/>
                </a:solidFill>
                <a:latin typeface="Calibri"/>
              </a:rPr>
              <a:t>ANT / CAL and READY / GO</a:t>
            </a:r>
            <a:endParaRPr sz="1100"/>
          </a:p>
        </p:txBody>
      </p:sp>
      <p:sp>
        <p:nvSpPr>
          <p:cNvPr id="17" name="TextBox 16"/>
          <p:cNvSpPr txBox="1"/>
          <p:nvPr/>
        </p:nvSpPr>
        <p:spPr>
          <a:xfrm>
            <a:off x="6821424" y="2880360"/>
            <a:ext cx="1828800" cy="237744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two NIC ports</a:t>
            </a:r>
            <a:endParaRPr sz="1100"/>
          </a:p>
          <a:p>
            <a:pPr marL="201168" indent="-201168" algn="l">
              <a:spcAft>
                <a:spcPts val="400"/>
              </a:spcAft>
              <a:buFont typeface="Arial"/>
              <a:buChar char="•"/>
            </a:pPr>
            <a:r>
              <a:rPr sz="1100" b="0" i="0">
                <a:solidFill>
                  <a:srgbClr val="5B6776"/>
                </a:solidFill>
                <a:latin typeface="Calibri"/>
              </a:rPr>
              <a:t>bit de-interleaving</a:t>
            </a:r>
            <a:endParaRPr sz="1100"/>
          </a:p>
          <a:p>
            <a:pPr marL="201168" indent="-201168" algn="l">
              <a:spcAft>
                <a:spcPts val="400"/>
              </a:spcAft>
              <a:buFont typeface="Arial"/>
              <a:buChar char="•"/>
            </a:pPr>
            <a:r>
              <a:rPr sz="1100" b="0" i="0">
                <a:solidFill>
                  <a:srgbClr val="5B6776"/>
                </a:solidFill>
                <a:latin typeface="Calibri"/>
              </a:rPr>
              <a:t>frame / sequence checks</a:t>
            </a:r>
            <a:endParaRPr sz="1100"/>
          </a:p>
          <a:p>
            <a:pPr marL="201168" indent="-201168" algn="l">
              <a:spcAft>
                <a:spcPts val="400"/>
              </a:spcAft>
              <a:buFont typeface="Arial"/>
              <a:buChar char="•"/>
            </a:pPr>
            <a:r>
              <a:rPr sz="1100" b="0" i="0">
                <a:solidFill>
                  <a:srgbClr val="5B6776"/>
                </a:solidFill>
                <a:latin typeface="Calibri"/>
              </a:rPr>
              <a:t>dataset recording</a:t>
            </a:r>
            <a:endParaRPr sz="1100"/>
          </a:p>
        </p:txBody>
      </p:sp>
      <p:sp>
        <p:nvSpPr>
          <p:cNvPr id="18" name="TextBox 17"/>
          <p:cNvSpPr txBox="1"/>
          <p:nvPr/>
        </p:nvSpPr>
        <p:spPr>
          <a:xfrm>
            <a:off x="9811512" y="2880360"/>
            <a:ext cx="1828800" cy="237744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(φₖ, τₖ) calibration per FFT bin</a:t>
            </a:r>
            <a:endParaRPr sz="1100"/>
          </a:p>
          <a:p>
            <a:pPr marL="201168" indent="-201168" algn="l">
              <a:spcAft>
                <a:spcPts val="400"/>
              </a:spcAft>
              <a:buFont typeface="Arial"/>
              <a:buChar char="•"/>
            </a:pPr>
            <a:r>
              <a:rPr sz="1100" b="0" i="0">
                <a:solidFill>
                  <a:srgbClr val="5B6776"/>
                </a:solidFill>
                <a:latin typeface="Calibri"/>
              </a:rPr>
              <a:t>beamforming, AoA / MUSIC</a:t>
            </a:r>
            <a:endParaRPr sz="1100"/>
          </a:p>
          <a:p>
            <a:pPr marL="201168" indent="-201168" algn="l">
              <a:spcAft>
                <a:spcPts val="400"/>
              </a:spcAft>
              <a:buFont typeface="Arial"/>
              <a:buChar char="•"/>
            </a:pPr>
            <a:r>
              <a:rPr sz="1100" b="0" i="0">
                <a:solidFill>
                  <a:srgbClr val="5B6776"/>
                </a:solidFill>
                <a:latin typeface="Calibri"/>
              </a:rPr>
              <a:t>radar and sensing</a:t>
            </a:r>
            <a:endParaRPr sz="1100"/>
          </a:p>
          <a:p>
            <a:pPr marL="201168" indent="-201168" algn="l">
              <a:spcAft>
                <a:spcPts val="400"/>
              </a:spcAft>
              <a:buFont typeface="Arial"/>
              <a:buChar char="•"/>
            </a:pPr>
            <a:r>
              <a:rPr sz="1100" b="0" i="0">
                <a:solidFill>
                  <a:srgbClr val="5B6776"/>
                </a:solidFill>
                <a:latin typeface="Calibri"/>
              </a:rPr>
              <a:t>later: move to S31 / FPGA / GPU</a:t>
            </a:r>
            <a:endParaRPr sz="1100"/>
          </a:p>
        </p:txBody>
      </p:sp>
      <p:cxnSp>
        <p:nvCxnSpPr>
          <p:cNvPr id="19" name="Connector 18"/>
          <p:cNvCxnSpPr/>
          <p:nvPr/>
        </p:nvCxnSpPr>
        <p:spPr>
          <a:xfrm>
            <a:off x="548640" y="5074920"/>
            <a:ext cx="110916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5212080"/>
            <a:ext cx="11064240" cy="1097280"/>
          </a:xfrm>
          <a:prstGeom prst="rect">
            <a:avLst/>
          </a:prstGeom>
          <a:noFill/>
        </p:spPr>
        <p:txBody>
          <a:bodyPr wrap="square" lIns="0" tIns="0" rIns="0" bIns="0" anchor="t">
            <a:spAutoFit/>
          </a:bodyPr>
          <a:lstStyle/>
          <a:p>
            <a:pPr algn="l">
              <a:buNone/>
            </a:pPr>
            <a:r>
              <a:rPr sz="1400" b="0" i="0">
                <a:solidFill>
                  <a:srgbClr val="1D2733"/>
                </a:solidFill>
                <a:latin typeface="Calibri"/>
              </a:rPr>
              <a:t>The bottleneck is still inside each C5 — capture memory and how fast the IQ reaches PARLIO. </a:t>
            </a:r>
            <a:r>
              <a:rPr sz="1400" b="0" i="0">
                <a:solidFill>
                  <a:srgbClr val="5B6776"/>
                </a:solidFill>
                <a:latin typeface="Calibri"/>
              </a:rPr>
              <a:t>Everything after the S31 is ordinary Gigabit networking; the host does the heavy DSP at first.</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Plan B: a small FPGA between the C5s and the S31</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Candidate FPGAs: Lattice ECP5 / iCE40 UltraPlus (open toolchain), Efinix Trion. Optional for Rev 1.</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20</a:t>
            </a:r>
            <a:endParaRPr sz="1000"/>
          </a:p>
        </p:txBody>
      </p:sp>
      <p:sp>
        <p:nvSpPr>
          <p:cNvPr id="5" name="Rectangle 4"/>
          <p:cNvSpPr/>
          <p:nvPr/>
        </p:nvSpPr>
        <p:spPr>
          <a:xfrm>
            <a:off x="548640" y="1554480"/>
            <a:ext cx="1097280" cy="384048"/>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#0</a:t>
            </a:r>
            <a:endParaRPr sz="1000"/>
          </a:p>
        </p:txBody>
      </p:sp>
      <p:cxnSp>
        <p:nvCxnSpPr>
          <p:cNvPr id="6" name="Connector 5"/>
          <p:cNvCxnSpPr/>
          <p:nvPr/>
        </p:nvCxnSpPr>
        <p:spPr>
          <a:xfrm>
            <a:off x="1645920" y="1746504"/>
            <a:ext cx="1097280" cy="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48640" y="2121408"/>
            <a:ext cx="1097280" cy="384048"/>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#1</a:t>
            </a:r>
            <a:endParaRPr sz="1000"/>
          </a:p>
        </p:txBody>
      </p:sp>
      <p:cxnSp>
        <p:nvCxnSpPr>
          <p:cNvPr id="8" name="Connector 7"/>
          <p:cNvCxnSpPr/>
          <p:nvPr/>
        </p:nvCxnSpPr>
        <p:spPr>
          <a:xfrm>
            <a:off x="1645920" y="2313432"/>
            <a:ext cx="1097280" cy="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48640" y="2688336"/>
            <a:ext cx="1097280" cy="384048"/>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#2</a:t>
            </a:r>
            <a:endParaRPr sz="1000"/>
          </a:p>
        </p:txBody>
      </p:sp>
      <p:cxnSp>
        <p:nvCxnSpPr>
          <p:cNvPr id="10" name="Connector 9"/>
          <p:cNvCxnSpPr/>
          <p:nvPr/>
        </p:nvCxnSpPr>
        <p:spPr>
          <a:xfrm>
            <a:off x="1645920" y="2880360"/>
            <a:ext cx="1097280" cy="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48640" y="3255263"/>
            <a:ext cx="1097280" cy="384048"/>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000" b="0" i="0">
                <a:solidFill>
                  <a:srgbClr val="1D2733"/>
                </a:solidFill>
                <a:latin typeface="Calibri"/>
              </a:rPr>
              <a:t>C5 #3</a:t>
            </a:r>
            <a:endParaRPr sz="1000"/>
          </a:p>
        </p:txBody>
      </p:sp>
      <p:cxnSp>
        <p:nvCxnSpPr>
          <p:cNvPr id="12" name="Connector 11"/>
          <p:cNvCxnSpPr/>
          <p:nvPr/>
        </p:nvCxnSpPr>
        <p:spPr>
          <a:xfrm>
            <a:off x="1645920" y="3447287"/>
            <a:ext cx="1097280" cy="0"/>
          </a:xfrm>
          <a:prstGeom prst="line">
            <a:avLst/>
          </a:prstGeom>
          <a:ln w="15875">
            <a:solidFill>
              <a:srgbClr val="6F4E9E"/>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3776472"/>
            <a:ext cx="1097280" cy="274320"/>
          </a:xfrm>
          <a:prstGeom prst="rect">
            <a:avLst/>
          </a:prstGeom>
          <a:noFill/>
        </p:spPr>
        <p:txBody>
          <a:bodyPr wrap="square" lIns="0" tIns="0" rIns="0" bIns="0" anchor="t">
            <a:spAutoFit/>
          </a:bodyPr>
          <a:lstStyle/>
          <a:p>
            <a:pPr algn="ctr">
              <a:buNone/>
            </a:pPr>
            <a:r>
              <a:rPr sz="1200" b="0" i="0">
                <a:solidFill>
                  <a:srgbClr val="5B6776"/>
                </a:solidFill>
                <a:latin typeface="Calibri"/>
              </a:rPr>
              <a:t>⋮  (×8)</a:t>
            </a:r>
            <a:endParaRPr sz="1200"/>
          </a:p>
        </p:txBody>
      </p:sp>
      <p:sp>
        <p:nvSpPr>
          <p:cNvPr id="14" name="TextBox 13"/>
          <p:cNvSpPr txBox="1"/>
          <p:nvPr/>
        </p:nvSpPr>
        <p:spPr>
          <a:xfrm>
            <a:off x="1691640" y="1261872"/>
            <a:ext cx="1188720" cy="228600"/>
          </a:xfrm>
          <a:prstGeom prst="rect">
            <a:avLst/>
          </a:prstGeom>
          <a:noFill/>
        </p:spPr>
        <p:txBody>
          <a:bodyPr wrap="square" lIns="0" tIns="0" rIns="0" bIns="0" anchor="t">
            <a:spAutoFit/>
          </a:bodyPr>
          <a:lstStyle/>
          <a:p>
            <a:pPr algn="l">
              <a:buNone/>
            </a:pPr>
            <a:r>
              <a:rPr sz="800" b="0" i="0">
                <a:solidFill>
                  <a:srgbClr val="6F4E9E"/>
                </a:solidFill>
                <a:latin typeface="Calibri"/>
              </a:rPr>
              <a:t>own clock each</a:t>
            </a:r>
            <a:endParaRPr sz="800"/>
          </a:p>
        </p:txBody>
      </p:sp>
      <p:sp>
        <p:nvSpPr>
          <p:cNvPr id="15" name="Rectangle 14"/>
          <p:cNvSpPr/>
          <p:nvPr/>
        </p:nvSpPr>
        <p:spPr>
          <a:xfrm>
            <a:off x="2743200" y="1417320"/>
            <a:ext cx="2377440" cy="260604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6" name="TextBox 15"/>
          <p:cNvSpPr txBox="1"/>
          <p:nvPr/>
        </p:nvSpPr>
        <p:spPr>
          <a:xfrm>
            <a:off x="2852928" y="1481328"/>
            <a:ext cx="2194560" cy="274320"/>
          </a:xfrm>
          <a:prstGeom prst="rect">
            <a:avLst/>
          </a:prstGeom>
          <a:noFill/>
        </p:spPr>
        <p:txBody>
          <a:bodyPr wrap="square" lIns="0" tIns="0" rIns="0" bIns="0" anchor="t">
            <a:spAutoFit/>
          </a:bodyPr>
          <a:lstStyle/>
          <a:p>
            <a:pPr algn="l">
              <a:buNone/>
            </a:pPr>
            <a:r>
              <a:rPr sz="1300" b="0" i="0">
                <a:solidFill>
                  <a:srgbClr val="1D2733"/>
                </a:solidFill>
                <a:latin typeface="Calibri"/>
              </a:rPr>
              <a:t>small FPGA</a:t>
            </a:r>
            <a:endParaRPr sz="1300"/>
          </a:p>
        </p:txBody>
      </p:sp>
      <p:sp>
        <p:nvSpPr>
          <p:cNvPr id="17" name="TextBox 16"/>
          <p:cNvSpPr txBox="1"/>
          <p:nvPr/>
        </p:nvSpPr>
        <p:spPr>
          <a:xfrm>
            <a:off x="2852928" y="1828800"/>
            <a:ext cx="2194560" cy="2194560"/>
          </a:xfrm>
          <a:prstGeom prst="rect">
            <a:avLst/>
          </a:prstGeom>
          <a:noFill/>
        </p:spPr>
        <p:txBody>
          <a:bodyPr wrap="square" lIns="0" tIns="0" rIns="0" bIns="0" anchor="t">
            <a:spAutoFit/>
          </a:bodyPr>
          <a:lstStyle/>
          <a:p>
            <a:pPr marL="201168" indent="-201168" algn="l">
              <a:spcAft>
                <a:spcPts val="200"/>
              </a:spcAft>
              <a:buFont typeface="Arial"/>
              <a:buChar char="•"/>
            </a:pPr>
            <a:r>
              <a:rPr sz="1000" b="0" i="0">
                <a:solidFill>
                  <a:srgbClr val="5B6776"/>
                </a:solidFill>
                <a:latin typeface="Calibri"/>
              </a:rPr>
              <a:t>8 independent PARLIO receivers</a:t>
            </a:r>
            <a:endParaRPr sz="1000"/>
          </a:p>
          <a:p>
            <a:pPr marL="201168" indent="-201168" algn="l">
              <a:spcAft>
                <a:spcPts val="200"/>
              </a:spcAft>
              <a:buFont typeface="Arial"/>
              <a:buChar char="•"/>
            </a:pPr>
            <a:r>
              <a:rPr sz="1000" b="0" i="0">
                <a:solidFill>
                  <a:srgbClr val="5B6776"/>
                </a:solidFill>
                <a:latin typeface="Calibri"/>
              </a:rPr>
              <a:t>elastic FIFO per channel</a:t>
            </a:r>
            <a:endParaRPr sz="1000"/>
          </a:p>
          <a:p>
            <a:pPr marL="201168" indent="-201168" algn="l">
              <a:spcAft>
                <a:spcPts val="200"/>
              </a:spcAft>
              <a:buFont typeface="Arial"/>
              <a:buChar char="•"/>
            </a:pPr>
            <a:r>
              <a:rPr sz="1000" b="0" i="0">
                <a:solidFill>
                  <a:srgbClr val="5B6776"/>
                </a:solidFill>
                <a:latin typeface="Calibri"/>
              </a:rPr>
              <a:t>frame alignment, timestamps</a:t>
            </a:r>
            <a:endParaRPr sz="1000"/>
          </a:p>
          <a:p>
            <a:pPr marL="201168" indent="-201168" algn="l">
              <a:spcAft>
                <a:spcPts val="200"/>
              </a:spcAft>
              <a:buFont typeface="Arial"/>
              <a:buChar char="•"/>
            </a:pPr>
            <a:r>
              <a:rPr sz="1000" b="0" i="0">
                <a:solidFill>
                  <a:srgbClr val="5B6776"/>
                </a:solidFill>
                <a:latin typeface="Calibri"/>
              </a:rPr>
              <a:t>trigger and switch sequencing</a:t>
            </a:r>
            <a:endParaRPr sz="1000"/>
          </a:p>
          <a:p>
            <a:pPr marL="201168" indent="-201168" algn="l">
              <a:spcAft>
                <a:spcPts val="200"/>
              </a:spcAft>
              <a:buFont typeface="Arial"/>
              <a:buChar char="•"/>
            </a:pPr>
            <a:r>
              <a:rPr sz="1000" b="0" i="0">
                <a:solidFill>
                  <a:srgbClr val="5B6776"/>
                </a:solidFill>
                <a:latin typeface="Calibri"/>
              </a:rPr>
              <a:t>calibration correction</a:t>
            </a:r>
            <a:endParaRPr sz="1000"/>
          </a:p>
          <a:p>
            <a:pPr marL="201168" indent="-201168" algn="l">
              <a:spcAft>
                <a:spcPts val="200"/>
              </a:spcAft>
              <a:buFont typeface="Arial"/>
              <a:buChar char="•"/>
            </a:pPr>
            <a:r>
              <a:rPr sz="1000" b="0" i="0">
                <a:solidFill>
                  <a:srgbClr val="5B6776"/>
                </a:solidFill>
                <a:latin typeface="Calibri"/>
              </a:rPr>
              <a:t>decimation / FFT</a:t>
            </a:r>
            <a:endParaRPr sz="1000"/>
          </a:p>
          <a:p>
            <a:pPr marL="201168" indent="-201168" algn="l">
              <a:spcAft>
                <a:spcPts val="200"/>
              </a:spcAft>
              <a:buFont typeface="Arial"/>
              <a:buChar char="•"/>
            </a:pPr>
            <a:r>
              <a:rPr sz="1000" b="0" i="0">
                <a:solidFill>
                  <a:srgbClr val="5B6776"/>
                </a:solidFill>
                <a:latin typeface="Calibri"/>
              </a:rPr>
              <a:t>later: beamforming</a:t>
            </a:r>
            <a:endParaRPr sz="1000"/>
          </a:p>
        </p:txBody>
      </p:sp>
      <p:sp>
        <p:nvSpPr>
          <p:cNvPr id="18" name="Rectangle 17"/>
          <p:cNvSpPr/>
          <p:nvPr/>
        </p:nvSpPr>
        <p:spPr>
          <a:xfrm>
            <a:off x="5577840" y="2194560"/>
            <a:ext cx="1280160" cy="86868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ESP32-S31</a:t>
            </a:r>
            <a:endParaRPr sz="1100"/>
          </a:p>
          <a:p>
            <a:pPr algn="ctr">
              <a:buNone/>
            </a:pPr>
            <a:r>
              <a:rPr sz="900" b="0" i="0">
                <a:solidFill>
                  <a:srgbClr val="5B6776"/>
                </a:solidFill>
                <a:latin typeface="Calibri"/>
              </a:rPr>
              <a:t>or GbE PHY</a:t>
            </a:r>
            <a:endParaRPr sz="1100"/>
          </a:p>
        </p:txBody>
      </p:sp>
      <p:cxnSp>
        <p:nvCxnSpPr>
          <p:cNvPr id="19" name="Connector 18"/>
          <p:cNvCxnSpPr/>
          <p:nvPr/>
        </p:nvCxnSpPr>
        <p:spPr>
          <a:xfrm>
            <a:off x="5120640" y="2624328"/>
            <a:ext cx="457200" cy="0"/>
          </a:xfrm>
          <a:prstGeom prst="line">
            <a:avLst/>
          </a:prstGeom>
          <a:ln w="2222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58000" y="2624328"/>
            <a:ext cx="548640" cy="0"/>
          </a:xfrm>
          <a:prstGeom prst="line">
            <a:avLst/>
          </a:prstGeom>
          <a:ln w="22225">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52360" y="2468880"/>
            <a:ext cx="914400" cy="274320"/>
          </a:xfrm>
          <a:prstGeom prst="rect">
            <a:avLst/>
          </a:prstGeom>
          <a:noFill/>
        </p:spPr>
        <p:txBody>
          <a:bodyPr wrap="square" lIns="0" tIns="0" rIns="0" bIns="0" anchor="t">
            <a:spAutoFit/>
          </a:bodyPr>
          <a:lstStyle/>
          <a:p>
            <a:pPr algn="l">
              <a:buNone/>
            </a:pPr>
            <a:r>
              <a:rPr sz="1200" b="0" i="0">
                <a:solidFill>
                  <a:srgbClr val="1D2733"/>
                </a:solidFill>
                <a:latin typeface="Calibri"/>
              </a:rPr>
              <a:t>1 GbE</a:t>
            </a:r>
            <a:endParaRPr sz="1200"/>
          </a:p>
        </p:txBody>
      </p:sp>
      <p:sp>
        <p:nvSpPr>
          <p:cNvPr id="22" name="TextBox 21"/>
          <p:cNvSpPr txBox="1"/>
          <p:nvPr/>
        </p:nvSpPr>
        <p:spPr>
          <a:xfrm>
            <a:off x="8229600" y="1325880"/>
            <a:ext cx="3429000" cy="274320"/>
          </a:xfrm>
          <a:prstGeom prst="rect">
            <a:avLst/>
          </a:prstGeom>
          <a:noFill/>
        </p:spPr>
        <p:txBody>
          <a:bodyPr wrap="square" lIns="0" tIns="0" rIns="0" bIns="0" anchor="t">
            <a:spAutoFit/>
          </a:bodyPr>
          <a:lstStyle/>
          <a:p>
            <a:pPr algn="l">
              <a:buNone/>
            </a:pPr>
            <a:r>
              <a:rPr sz="1400" b="0" i="0">
                <a:solidFill>
                  <a:srgbClr val="1D2733"/>
                </a:solidFill>
                <a:latin typeface="Calibri"/>
              </a:rPr>
              <a:t>Switch to Plan B if</a:t>
            </a:r>
            <a:endParaRPr sz="1400"/>
          </a:p>
        </p:txBody>
      </p:sp>
      <p:sp>
        <p:nvSpPr>
          <p:cNvPr id="23" name="TextBox 22"/>
          <p:cNvSpPr txBox="1"/>
          <p:nvPr/>
        </p:nvSpPr>
        <p:spPr>
          <a:xfrm>
            <a:off x="8229600" y="1691640"/>
            <a:ext cx="3429000" cy="219456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eight C5 lanes cannot be kept in lockstep</a:t>
            </a:r>
            <a:endParaRPr sz="1100"/>
          </a:p>
          <a:p>
            <a:pPr marL="201168" indent="-201168" algn="l">
              <a:spcAft>
                <a:spcPts val="400"/>
              </a:spcAft>
              <a:buFont typeface="Arial"/>
              <a:buChar char="•"/>
            </a:pPr>
            <a:r>
              <a:rPr sz="1100" b="0" i="0">
                <a:solidFill>
                  <a:srgbClr val="5B6776"/>
                </a:solidFill>
                <a:latin typeface="Calibri"/>
              </a:rPr>
              <a:t>the S31 cannot sustain 640 Mbit/s in and out</a:t>
            </a:r>
            <a:endParaRPr sz="1100"/>
          </a:p>
          <a:p>
            <a:pPr marL="201168" indent="-201168" algn="l">
              <a:spcAft>
                <a:spcPts val="400"/>
              </a:spcAft>
              <a:buFont typeface="Arial"/>
              <a:buChar char="•"/>
            </a:pPr>
            <a:r>
              <a:rPr sz="1100" b="0" i="0">
                <a:solidFill>
                  <a:srgbClr val="5B6776"/>
                </a:solidFill>
                <a:latin typeface="Calibri"/>
              </a:rPr>
              <a:t>real-time per-element processing (FFT, decimation) is needed</a:t>
            </a:r>
            <a:endParaRPr sz="1100"/>
          </a:p>
        </p:txBody>
      </p:sp>
      <p:cxnSp>
        <p:nvCxnSpPr>
          <p:cNvPr id="24" name="Connector 23"/>
          <p:cNvCxnSpPr/>
          <p:nvPr/>
        </p:nvCxnSpPr>
        <p:spPr>
          <a:xfrm>
            <a:off x="548640" y="4343400"/>
            <a:ext cx="110916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4480560"/>
            <a:ext cx="5486400" cy="274320"/>
          </a:xfrm>
          <a:prstGeom prst="rect">
            <a:avLst/>
          </a:prstGeom>
          <a:noFill/>
        </p:spPr>
        <p:txBody>
          <a:bodyPr wrap="square" lIns="0" tIns="0" rIns="0" bIns="0" anchor="t">
            <a:spAutoFit/>
          </a:bodyPr>
          <a:lstStyle/>
          <a:p>
            <a:pPr algn="l">
              <a:buNone/>
            </a:pPr>
            <a:r>
              <a:rPr sz="1300" b="0" i="0">
                <a:solidFill>
                  <a:srgbClr val="1D2733"/>
                </a:solidFill>
                <a:latin typeface="Calibri"/>
              </a:rPr>
              <a:t>What it costs</a:t>
            </a:r>
            <a:endParaRPr sz="1300"/>
          </a:p>
        </p:txBody>
      </p:sp>
      <p:sp>
        <p:nvSpPr>
          <p:cNvPr id="26" name="TextBox 25"/>
          <p:cNvSpPr txBox="1"/>
          <p:nvPr/>
        </p:nvSpPr>
        <p:spPr>
          <a:xfrm>
            <a:off x="548640" y="4800600"/>
            <a:ext cx="5394960" cy="1371600"/>
          </a:xfrm>
          <a:prstGeom prst="rect">
            <a:avLst/>
          </a:prstGeom>
          <a:noFill/>
        </p:spPr>
        <p:txBody>
          <a:bodyPr wrap="square" lIns="0" tIns="0" rIns="0" bIns="0" anchor="t">
            <a:spAutoFit/>
          </a:bodyPr>
          <a:lstStyle/>
          <a:p>
            <a:pPr marL="201168" indent="-201168" algn="l">
              <a:spcAft>
                <a:spcPts val="300"/>
              </a:spcAft>
              <a:buFont typeface="Arial"/>
              <a:buChar char="•"/>
            </a:pPr>
            <a:r>
              <a:rPr sz="1100" b="0" i="0">
                <a:solidFill>
                  <a:srgbClr val="5B6776"/>
                </a:solidFill>
                <a:latin typeface="Calibri"/>
              </a:rPr>
              <a:t>one more chip, toolchain and HDL work</a:t>
            </a:r>
            <a:endParaRPr sz="1100"/>
          </a:p>
          <a:p>
            <a:pPr marL="201168" indent="-201168" algn="l">
              <a:spcAft>
                <a:spcPts val="300"/>
              </a:spcAft>
              <a:buFont typeface="Arial"/>
              <a:buChar char="•"/>
            </a:pPr>
            <a:r>
              <a:rPr sz="1100" b="0" i="0">
                <a:solidFill>
                  <a:srgbClr val="5B6776"/>
                </a:solidFill>
                <a:latin typeface="Calibri"/>
              </a:rPr>
              <a:t>more power and board area</a:t>
            </a:r>
            <a:endParaRPr sz="1100"/>
          </a:p>
          <a:p>
            <a:pPr marL="201168" indent="-201168" algn="l">
              <a:spcAft>
                <a:spcPts val="300"/>
              </a:spcAft>
              <a:buFont typeface="Arial"/>
              <a:buChar char="•"/>
            </a:pPr>
            <a:r>
              <a:rPr sz="1100" b="0" i="0">
                <a:solidFill>
                  <a:srgbClr val="5B6776"/>
                </a:solidFill>
                <a:latin typeface="Calibri"/>
              </a:rPr>
              <a:t>the team needs FPGA experience</a:t>
            </a:r>
            <a:endParaRPr sz="1100"/>
          </a:p>
        </p:txBody>
      </p:sp>
      <p:sp>
        <p:nvSpPr>
          <p:cNvPr id="27" name="TextBox 26"/>
          <p:cNvSpPr txBox="1"/>
          <p:nvPr/>
        </p:nvSpPr>
        <p:spPr>
          <a:xfrm>
            <a:off x="6172200" y="4480560"/>
            <a:ext cx="5486400" cy="274320"/>
          </a:xfrm>
          <a:prstGeom prst="rect">
            <a:avLst/>
          </a:prstGeom>
          <a:noFill/>
        </p:spPr>
        <p:txBody>
          <a:bodyPr wrap="square" lIns="0" tIns="0" rIns="0" bIns="0" anchor="t">
            <a:spAutoFit/>
          </a:bodyPr>
          <a:lstStyle/>
          <a:p>
            <a:pPr algn="l">
              <a:buNone/>
            </a:pPr>
            <a:r>
              <a:rPr sz="1300" b="0" i="0">
                <a:solidFill>
                  <a:srgbClr val="1D2733"/>
                </a:solidFill>
                <a:latin typeface="Calibri"/>
              </a:rPr>
              <a:t>What it adds</a:t>
            </a:r>
            <a:endParaRPr sz="1300"/>
          </a:p>
        </p:txBody>
      </p:sp>
      <p:sp>
        <p:nvSpPr>
          <p:cNvPr id="28" name="TextBox 27"/>
          <p:cNvSpPr txBox="1"/>
          <p:nvPr/>
        </p:nvSpPr>
        <p:spPr>
          <a:xfrm>
            <a:off x="6172200" y="4800600"/>
            <a:ext cx="5440680" cy="1371600"/>
          </a:xfrm>
          <a:prstGeom prst="rect">
            <a:avLst/>
          </a:prstGeom>
          <a:noFill/>
        </p:spPr>
        <p:txBody>
          <a:bodyPr wrap="square" lIns="0" tIns="0" rIns="0" bIns="0" anchor="t">
            <a:spAutoFit/>
          </a:bodyPr>
          <a:lstStyle/>
          <a:p>
            <a:pPr marL="201168" indent="-201168" algn="l">
              <a:spcAft>
                <a:spcPts val="300"/>
              </a:spcAft>
              <a:buFont typeface="Arial"/>
              <a:buChar char="•"/>
            </a:pPr>
            <a:r>
              <a:rPr sz="1100" b="0" i="0">
                <a:solidFill>
                  <a:srgbClr val="5B6776"/>
                </a:solidFill>
                <a:latin typeface="Calibri"/>
              </a:rPr>
              <a:t>each C5 can run on its own lane clock</a:t>
            </a:r>
            <a:endParaRPr sz="1100"/>
          </a:p>
          <a:p>
            <a:pPr marL="201168" indent="-201168" algn="l">
              <a:spcAft>
                <a:spcPts val="300"/>
              </a:spcAft>
              <a:buFont typeface="Arial"/>
              <a:buChar char="•"/>
            </a:pPr>
            <a:r>
              <a:rPr sz="1100" b="0" i="0">
                <a:solidFill>
                  <a:srgbClr val="5B6776"/>
                </a:solidFill>
                <a:latin typeface="Calibri"/>
              </a:rPr>
              <a:t>deterministic, inspectable timing</a:t>
            </a:r>
            <a:endParaRPr sz="1100"/>
          </a:p>
          <a:p>
            <a:pPr marL="201168" indent="-201168" algn="l">
              <a:spcAft>
                <a:spcPts val="300"/>
              </a:spcAft>
              <a:buFont typeface="Arial"/>
              <a:buChar char="•"/>
            </a:pPr>
            <a:r>
              <a:rPr sz="1100" b="0" i="0">
                <a:solidFill>
                  <a:srgbClr val="5B6776"/>
                </a:solidFill>
                <a:latin typeface="Calibri"/>
              </a:rPr>
              <a:t>data reduction before Ethernet</a:t>
            </a:r>
            <a:endParaRPr sz="1100"/>
          </a:p>
          <a:p>
            <a:pPr marL="201168" indent="-201168" algn="l">
              <a:spcAft>
                <a:spcPts val="300"/>
              </a:spcAft>
              <a:buFont typeface="Arial"/>
              <a:buChar char="•"/>
            </a:pPr>
            <a:r>
              <a:rPr sz="1100" b="0" i="0">
                <a:solidFill>
                  <a:srgbClr val="5B6776"/>
                </a:solidFill>
                <a:latin typeface="Calibri"/>
              </a:rPr>
              <a:t>a path to real-time beamforming</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Tile PCB: geometry, seam and stack-up</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To scale for 28.8 mm pitch. Custom 4-layer stack (JLCPCB's standard one has only 0.21 mm under L1). Patch: εr 4.4, tan δ 0.02; lossless BW ≈ 3.77·(εr−1)/εr²·(W/L)·(h/λ₀); efficiency counts dielectric loss only. Prices: team estimates.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21</a:t>
            </a:r>
            <a:endParaRPr sz="1000"/>
          </a:p>
        </p:txBody>
      </p:sp>
      <p:sp>
        <p:nvSpPr>
          <p:cNvPr id="5" name="Rectangle 4"/>
          <p:cNvSpPr/>
          <p:nvPr/>
        </p:nvSpPr>
        <p:spPr>
          <a:xfrm>
            <a:off x="822960" y="1371600"/>
            <a:ext cx="2811780" cy="1874520"/>
          </a:xfrm>
          <a:prstGeom prst="rect">
            <a:avLst/>
          </a:prstGeom>
          <a:solidFill>
            <a:srgbClr val="FFFFFF"/>
          </a:solidFill>
          <a:ln w="12700">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6" name="TextBox 5"/>
          <p:cNvSpPr txBox="1"/>
          <p:nvPr/>
        </p:nvSpPr>
        <p:spPr>
          <a:xfrm>
            <a:off x="896112" y="1417320"/>
            <a:ext cx="2286000" cy="228600"/>
          </a:xfrm>
          <a:prstGeom prst="rect">
            <a:avLst/>
          </a:prstGeom>
          <a:noFill/>
        </p:spPr>
        <p:txBody>
          <a:bodyPr wrap="square" lIns="0" tIns="0" rIns="0" bIns="0" anchor="t">
            <a:spAutoFit/>
          </a:bodyPr>
          <a:lstStyle/>
          <a:p>
            <a:pPr algn="l">
              <a:buNone/>
            </a:pPr>
            <a:r>
              <a:rPr sz="900" b="0" i="0">
                <a:solidFill>
                  <a:srgbClr val="5B6776"/>
                </a:solidFill>
                <a:latin typeface="Calibri"/>
              </a:rPr>
              <a:t>Tile A (≈150 × 100 mm)</a:t>
            </a:r>
            <a:endParaRPr sz="900"/>
          </a:p>
        </p:txBody>
      </p:sp>
      <p:sp>
        <p:nvSpPr>
          <p:cNvPr id="7" name="Rectangle 6"/>
          <p:cNvSpPr/>
          <p:nvPr/>
        </p:nvSpPr>
        <p:spPr>
          <a:xfrm>
            <a:off x="1300185" y="2344887"/>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8" name="Rectangle 7"/>
          <p:cNvSpPr/>
          <p:nvPr/>
        </p:nvSpPr>
        <p:spPr>
          <a:xfrm>
            <a:off x="1840047" y="2344887"/>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9" name="Rectangle 8"/>
          <p:cNvSpPr/>
          <p:nvPr/>
        </p:nvSpPr>
        <p:spPr>
          <a:xfrm>
            <a:off x="2379908" y="2344887"/>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0" name="Rectangle 9"/>
          <p:cNvSpPr/>
          <p:nvPr/>
        </p:nvSpPr>
        <p:spPr>
          <a:xfrm>
            <a:off x="2919770" y="2344887"/>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1" name="Rectangle 10"/>
          <p:cNvSpPr/>
          <p:nvPr/>
        </p:nvSpPr>
        <p:spPr>
          <a:xfrm>
            <a:off x="1300185" y="2884749"/>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2" name="Rectangle 11"/>
          <p:cNvSpPr/>
          <p:nvPr/>
        </p:nvSpPr>
        <p:spPr>
          <a:xfrm>
            <a:off x="1840047" y="2884749"/>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3" name="Rectangle 12"/>
          <p:cNvSpPr/>
          <p:nvPr/>
        </p:nvSpPr>
        <p:spPr>
          <a:xfrm>
            <a:off x="2379908" y="2884749"/>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4" name="Rectangle 13"/>
          <p:cNvSpPr/>
          <p:nvPr/>
        </p:nvSpPr>
        <p:spPr>
          <a:xfrm>
            <a:off x="2919770" y="2884749"/>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5" name="Rectangle 14"/>
          <p:cNvSpPr/>
          <p:nvPr/>
        </p:nvSpPr>
        <p:spPr>
          <a:xfrm>
            <a:off x="960120" y="1691640"/>
            <a:ext cx="2537460" cy="337596"/>
          </a:xfrm>
          <a:prstGeom prst="rect">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5B6776"/>
                </a:solidFill>
                <a:latin typeface="Calibri"/>
              </a:rPr>
              <a:t>back: S31, PHY, clock buffers, power</a:t>
            </a:r>
            <a:endParaRPr sz="900"/>
          </a:p>
        </p:txBody>
      </p:sp>
      <p:sp>
        <p:nvSpPr>
          <p:cNvPr id="16" name="Rectangle 15"/>
          <p:cNvSpPr/>
          <p:nvPr/>
        </p:nvSpPr>
        <p:spPr>
          <a:xfrm>
            <a:off x="822960" y="3246120"/>
            <a:ext cx="2811780" cy="1874520"/>
          </a:xfrm>
          <a:prstGeom prst="rect">
            <a:avLst/>
          </a:prstGeom>
          <a:solidFill>
            <a:srgbClr val="FFFFFF"/>
          </a:solidFill>
          <a:ln w="12700">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7" name="TextBox 16"/>
          <p:cNvSpPr txBox="1"/>
          <p:nvPr/>
        </p:nvSpPr>
        <p:spPr>
          <a:xfrm>
            <a:off x="896112" y="4846320"/>
            <a:ext cx="2286000" cy="228600"/>
          </a:xfrm>
          <a:prstGeom prst="rect">
            <a:avLst/>
          </a:prstGeom>
          <a:noFill/>
        </p:spPr>
        <p:txBody>
          <a:bodyPr wrap="square" lIns="0" tIns="0" rIns="0" bIns="0" anchor="t">
            <a:spAutoFit/>
          </a:bodyPr>
          <a:lstStyle/>
          <a:p>
            <a:pPr algn="l">
              <a:buNone/>
            </a:pPr>
            <a:r>
              <a:rPr sz="900" b="0" i="0">
                <a:solidFill>
                  <a:srgbClr val="5B6776"/>
                </a:solidFill>
                <a:latin typeface="Calibri"/>
              </a:rPr>
              <a:t>Tile B (≈150 × 100 mm)</a:t>
            </a:r>
            <a:endParaRPr sz="900"/>
          </a:p>
        </p:txBody>
      </p:sp>
      <p:sp>
        <p:nvSpPr>
          <p:cNvPr id="18" name="Rectangle 17"/>
          <p:cNvSpPr/>
          <p:nvPr/>
        </p:nvSpPr>
        <p:spPr>
          <a:xfrm>
            <a:off x="1300185" y="3424610"/>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19" name="Rectangle 18"/>
          <p:cNvSpPr/>
          <p:nvPr/>
        </p:nvSpPr>
        <p:spPr>
          <a:xfrm>
            <a:off x="1840047" y="3424610"/>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0" name="Rectangle 19"/>
          <p:cNvSpPr/>
          <p:nvPr/>
        </p:nvSpPr>
        <p:spPr>
          <a:xfrm>
            <a:off x="2379908" y="3424610"/>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1" name="Rectangle 20"/>
          <p:cNvSpPr/>
          <p:nvPr/>
        </p:nvSpPr>
        <p:spPr>
          <a:xfrm>
            <a:off x="2919770" y="3424610"/>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2" name="Rectangle 21"/>
          <p:cNvSpPr/>
          <p:nvPr/>
        </p:nvSpPr>
        <p:spPr>
          <a:xfrm>
            <a:off x="1300185" y="3964472"/>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3" name="Rectangle 22"/>
          <p:cNvSpPr/>
          <p:nvPr/>
        </p:nvSpPr>
        <p:spPr>
          <a:xfrm>
            <a:off x="1840047" y="3964472"/>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4" name="Rectangle 23"/>
          <p:cNvSpPr/>
          <p:nvPr/>
        </p:nvSpPr>
        <p:spPr>
          <a:xfrm>
            <a:off x="2379908" y="3964472"/>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5" name="Rectangle 24"/>
          <p:cNvSpPr/>
          <p:nvPr/>
        </p:nvSpPr>
        <p:spPr>
          <a:xfrm>
            <a:off x="2919770" y="3964472"/>
            <a:ext cx="237744" cy="182880"/>
          </a:xfrm>
          <a:prstGeom prst="rect">
            <a:avLst/>
          </a:prstGeom>
          <a:solidFill>
            <a:srgbClr val="E4F2F1"/>
          </a:solidFill>
          <a:ln w="9525">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buNone/>
            </a:pPr>
            <a:endParaRPr sz="1200"/>
          </a:p>
        </p:txBody>
      </p:sp>
      <p:sp>
        <p:nvSpPr>
          <p:cNvPr id="26" name="Rectangle 25"/>
          <p:cNvSpPr/>
          <p:nvPr/>
        </p:nvSpPr>
        <p:spPr>
          <a:xfrm>
            <a:off x="960120" y="4417283"/>
            <a:ext cx="2537460" cy="337596"/>
          </a:xfrm>
          <a:prstGeom prst="rect">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900" b="0" i="0">
                <a:solidFill>
                  <a:srgbClr val="5B6776"/>
                </a:solidFill>
                <a:latin typeface="Calibri"/>
              </a:rPr>
              <a:t>back: S31, PHY, clock buffers, power</a:t>
            </a:r>
            <a:endParaRPr sz="900"/>
          </a:p>
        </p:txBody>
      </p:sp>
      <p:cxnSp>
        <p:nvCxnSpPr>
          <p:cNvPr id="27" name="Connector 26"/>
          <p:cNvCxnSpPr/>
          <p:nvPr/>
        </p:nvCxnSpPr>
        <p:spPr>
          <a:xfrm>
            <a:off x="685800" y="3246120"/>
            <a:ext cx="3086100" cy="0"/>
          </a:xfrm>
          <a:prstGeom prst="line">
            <a:avLst/>
          </a:prstGeom>
          <a:ln w="12700">
            <a:solidFill>
              <a:srgbClr val="A23B32"/>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17620" y="3127248"/>
            <a:ext cx="1188720" cy="237744"/>
          </a:xfrm>
          <a:prstGeom prst="rect">
            <a:avLst/>
          </a:prstGeom>
          <a:noFill/>
        </p:spPr>
        <p:txBody>
          <a:bodyPr wrap="square" lIns="0" tIns="0" rIns="0" bIns="0" anchor="t">
            <a:spAutoFit/>
          </a:bodyPr>
          <a:lstStyle/>
          <a:p>
            <a:pPr algn="l">
              <a:buNone/>
            </a:pPr>
            <a:r>
              <a:rPr sz="900" b="0" i="0">
                <a:solidFill>
                  <a:srgbClr val="A23B32"/>
                </a:solidFill>
                <a:latin typeface="Calibri"/>
              </a:rPr>
              <a:t>seam</a:t>
            </a:r>
            <a:endParaRPr sz="900"/>
          </a:p>
        </p:txBody>
      </p:sp>
      <p:cxnSp>
        <p:nvCxnSpPr>
          <p:cNvPr id="29" name="Connector 28"/>
          <p:cNvCxnSpPr/>
          <p:nvPr/>
        </p:nvCxnSpPr>
        <p:spPr>
          <a:xfrm>
            <a:off x="1099017" y="2976189"/>
            <a:ext cx="0" cy="269931"/>
          </a:xfrm>
          <a:prstGeom prst="line">
            <a:avLst/>
          </a:prstGeom>
          <a:ln w="9525">
            <a:solidFill>
              <a:srgbClr val="1D2733"/>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3177" y="2862072"/>
            <a:ext cx="960120" cy="228600"/>
          </a:xfrm>
          <a:prstGeom prst="rect">
            <a:avLst/>
          </a:prstGeom>
          <a:noFill/>
        </p:spPr>
        <p:txBody>
          <a:bodyPr wrap="square" lIns="0" tIns="0" rIns="0" bIns="0" anchor="t">
            <a:spAutoFit/>
          </a:bodyPr>
          <a:lstStyle/>
          <a:p>
            <a:pPr algn="r">
              <a:buNone/>
            </a:pPr>
            <a:r>
              <a:rPr sz="900" b="0" i="0">
                <a:solidFill>
                  <a:srgbClr val="1D2733"/>
                </a:solidFill>
                <a:latin typeface="Calibri"/>
              </a:rPr>
              <a:t>14.4 mm</a:t>
            </a:r>
            <a:endParaRPr sz="900"/>
          </a:p>
        </p:txBody>
      </p:sp>
      <p:sp>
        <p:nvSpPr>
          <p:cNvPr id="31" name="TextBox 30"/>
          <p:cNvSpPr txBox="1"/>
          <p:nvPr/>
        </p:nvSpPr>
        <p:spPr>
          <a:xfrm>
            <a:off x="548640" y="5230368"/>
            <a:ext cx="3749039" cy="822960"/>
          </a:xfrm>
          <a:prstGeom prst="rect">
            <a:avLst/>
          </a:prstGeom>
          <a:noFill/>
        </p:spPr>
        <p:txBody>
          <a:bodyPr wrap="square" lIns="0" tIns="0" rIns="0" bIns="0" anchor="t">
            <a:spAutoFit/>
          </a:bodyPr>
          <a:lstStyle/>
          <a:p>
            <a:pPr algn="l">
              <a:buNone/>
            </a:pPr>
            <a:r>
              <a:rPr sz="1000" b="0" i="0">
                <a:solidFill>
                  <a:srgbClr val="5B6776"/>
                </a:solidFill>
                <a:latin typeface="Calibri"/>
              </a:rPr>
              <a:t>To scale: the 2 × 4 antenna block sits against the seam. Front: patches only. Back: each C5 under its own patch, the rest on the outer half. Rows keep 28.8 mm pitch across the seam only if each board edge is 14.4 mm from its nearest row.</a:t>
            </a:r>
            <a:endParaRPr sz="1000"/>
          </a:p>
        </p:txBody>
      </p:sp>
      <p:sp>
        <p:nvSpPr>
          <p:cNvPr id="32" name="TextBox 31"/>
          <p:cNvSpPr txBox="1"/>
          <p:nvPr/>
        </p:nvSpPr>
        <p:spPr>
          <a:xfrm>
            <a:off x="4617720" y="1325880"/>
            <a:ext cx="3108960" cy="274320"/>
          </a:xfrm>
          <a:prstGeom prst="rect">
            <a:avLst/>
          </a:prstGeom>
          <a:noFill/>
        </p:spPr>
        <p:txBody>
          <a:bodyPr wrap="square" lIns="0" tIns="0" rIns="0" bIns="0" anchor="t">
            <a:spAutoFit/>
          </a:bodyPr>
          <a:lstStyle/>
          <a:p>
            <a:pPr algn="l">
              <a:buNone/>
            </a:pPr>
            <a:r>
              <a:rPr sz="1300" b="0" i="0">
                <a:solidFill>
                  <a:srgbClr val="1D2733"/>
                </a:solidFill>
                <a:latin typeface="Calibri"/>
              </a:rPr>
              <a:t>Rev 1 stack-up (custom 4-layer FR-4)</a:t>
            </a:r>
            <a:endParaRPr sz="1300"/>
          </a:p>
        </p:txBody>
      </p:sp>
      <p:graphicFrame>
        <p:nvGraphicFramePr>
          <p:cNvPr id="33" name="Table 32"/>
          <p:cNvGraphicFramePr>
            <a:graphicFrameLocks noGrp="1"/>
          </p:cNvGraphicFramePr>
          <p:nvPr/>
        </p:nvGraphicFramePr>
        <p:xfrm>
          <a:off x="4617720" y="1645920"/>
          <a:ext cx="3108960" cy="1097280"/>
        </p:xfrm>
        <a:graphic>
          <a:graphicData uri="http://schemas.openxmlformats.org/drawingml/2006/table">
            <a:tbl>
              <a:tblPr>
                <a:tableStyleId>{2D5ABB26-0587-4C30-8999-92F81FD0307C}</a:tableStyleId>
              </a:tblPr>
              <a:tblGrid>
                <a:gridCol w="50292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274320">
                <a:tc>
                  <a:txBody>
                    <a:bodyPr/>
                    <a:lstStyle/>
                    <a:p>
                      <a:pPr algn="l">
                        <a:buNone/>
                      </a:pPr>
                      <a:r>
                        <a:rPr sz="1000" b="0" i="0">
                          <a:solidFill>
                            <a:srgbClr val="1D2733"/>
                          </a:solidFill>
                          <a:latin typeface="Calibri"/>
                        </a:rPr>
                        <a:t>L1</a:t>
                      </a:r>
                      <a:endParaRPr sz="1000"/>
                    </a:p>
                  </a:txBody>
                  <a:tcPr marL="64008" marR="64008" marT="32004" marB="32004" anchor="ctr">
                    <a:lnL w="0">
                      <a:noFill/>
                    </a:lnL>
                    <a:lnR w="0">
                      <a:noFill/>
                    </a:lnR>
                    <a:lnT w="0">
                      <a:noFill/>
                    </a:lnT>
                    <a:lnB w="9525">
                      <a:solidFill>
                        <a:srgbClr val="D3D9DF"/>
                      </a:solidFill>
                    </a:lnB>
                    <a:noFill/>
                  </a:tcPr>
                </a:tc>
                <a:tc>
                  <a:txBody>
                    <a:bodyPr/>
                    <a:lstStyle/>
                    <a:p>
                      <a:pPr algn="l">
                        <a:buNone/>
                      </a:pPr>
                      <a:r>
                        <a:rPr sz="1000" b="0" i="0">
                          <a:solidFill>
                            <a:srgbClr val="1D2733"/>
                          </a:solidFill>
                          <a:latin typeface="Calibri"/>
                        </a:rPr>
                        <a:t>patches only (the front)</a:t>
                      </a:r>
                      <a:endParaRPr sz="1000"/>
                    </a:p>
                  </a:txBody>
                  <a:tcPr marL="64008" marR="64008" marT="32004" marB="32004" anchor="ctr">
                    <a:lnL w="0">
                      <a:noFill/>
                    </a:lnL>
                    <a:lnR w="0">
                      <a:noFill/>
                    </a:lnR>
                    <a:lnT w="0">
                      <a:noFill/>
                    </a:lnT>
                    <a:lnB w="9525">
                      <a:solidFill>
                        <a:srgbClr val="D3D9DF"/>
                      </a:solidFill>
                    </a:lnB>
                    <a:noFill/>
                  </a:tcPr>
                </a:tc>
                <a:extLst>
                  <a:ext uri="{0D108BD9-81ED-4DB2-BD59-A6C34878D82A}">
                    <a16:rowId xmlns:a16="http://schemas.microsoft.com/office/drawing/2014/main" val="10000"/>
                  </a:ext>
                </a:extLst>
              </a:tr>
              <a:tr h="274320">
                <a:tc>
                  <a:txBody>
                    <a:bodyPr/>
                    <a:lstStyle/>
                    <a:p>
                      <a:pPr algn="l">
                        <a:buNone/>
                      </a:pPr>
                      <a:r>
                        <a:rPr sz="1000" b="0" i="0">
                          <a:solidFill>
                            <a:srgbClr val="1D2733"/>
                          </a:solidFill>
                          <a:latin typeface="Calibri"/>
                        </a:rPr>
                        <a:t>L2</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solid ground (patch ground)</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74320">
                <a:tc>
                  <a:txBody>
                    <a:bodyPr/>
                    <a:lstStyle/>
                    <a:p>
                      <a:pPr algn="l">
                        <a:buNone/>
                      </a:pPr>
                      <a:r>
                        <a:rPr sz="1000" b="0" i="0">
                          <a:solidFill>
                            <a:srgbClr val="1D2733"/>
                          </a:solidFill>
                          <a:latin typeface="Calibri"/>
                        </a:rPr>
                        <a:t>L3</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ground; clock lines, 3.3 V spine</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74320">
                <a:tc>
                  <a:txBody>
                    <a:bodyPr/>
                    <a:lstStyle/>
                    <a:p>
                      <a:pPr algn="l">
                        <a:buNone/>
                      </a:pPr>
                      <a:r>
                        <a:rPr sz="1000" b="0" i="0">
                          <a:solidFill>
                            <a:srgbClr val="1D2733"/>
                          </a:solidFill>
                          <a:latin typeface="Calibri"/>
                        </a:rPr>
                        <a:t>L4</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000" b="0" i="0">
                          <a:solidFill>
                            <a:srgbClr val="1D2733"/>
                          </a:solidFill>
                          <a:latin typeface="Calibri"/>
                        </a:rPr>
                        <a:t>all parts, RF, data lines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4617720" y="2880360"/>
            <a:ext cx="3108960" cy="274320"/>
          </a:xfrm>
          <a:prstGeom prst="rect">
            <a:avLst/>
          </a:prstGeom>
          <a:noFill/>
        </p:spPr>
        <p:txBody>
          <a:bodyPr wrap="square" lIns="0" tIns="0" rIns="0" bIns="0" anchor="t">
            <a:spAutoFit/>
          </a:bodyPr>
          <a:lstStyle/>
          <a:p>
            <a:pPr algn="l">
              <a:buNone/>
            </a:pPr>
            <a:r>
              <a:rPr sz="1300" b="0" i="0">
                <a:solidFill>
                  <a:srgbClr val="1D2733"/>
                </a:solidFill>
                <a:latin typeface="Calibri"/>
              </a:rPr>
              <a:t>Fab cost (team estimate)</a:t>
            </a:r>
            <a:endParaRPr sz="1300"/>
          </a:p>
        </p:txBody>
      </p:sp>
      <p:graphicFrame>
        <p:nvGraphicFramePr>
          <p:cNvPr id="35" name="Table 34"/>
          <p:cNvGraphicFramePr>
            <a:graphicFrameLocks noGrp="1"/>
          </p:cNvGraphicFramePr>
          <p:nvPr/>
        </p:nvGraphicFramePr>
        <p:xfrm>
          <a:off x="4617720" y="3200400"/>
          <a:ext cx="3108960" cy="1536192"/>
        </p:xfrm>
        <a:graphic>
          <a:graphicData uri="http://schemas.openxmlformats.org/drawingml/2006/table">
            <a:tbl>
              <a:tblPr>
                <a:tableStyleId>{2D5ABB26-0587-4C30-8999-92F81FD0307C}</a:tableStyleId>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256032">
                <a:tc>
                  <a:txBody>
                    <a:bodyPr/>
                    <a:lstStyle/>
                    <a:p>
                      <a:pPr algn="l">
                        <a:buNone/>
                      </a:pPr>
                      <a:r>
                        <a:rPr sz="1000" b="0" i="0">
                          <a:solidFill>
                            <a:srgbClr val="1D2733"/>
                          </a:solidFill>
                          <a:latin typeface="Calibri"/>
                        </a:rPr>
                        <a:t>standard 4-layer, 5 boards</a:t>
                      </a:r>
                      <a:endParaRPr sz="1000"/>
                    </a:p>
                  </a:txBody>
                  <a:tcPr marL="64008" marR="64008" marT="32004" marB="32004" anchor="ctr">
                    <a:lnL w="0">
                      <a:noFill/>
                    </a:lnL>
                    <a:lnR w="0">
                      <a:noFill/>
                    </a:lnR>
                    <a:lnT w="0">
                      <a:noFill/>
                    </a:lnT>
                    <a:lnB w="9525">
                      <a:solidFill>
                        <a:srgbClr val="D3D9DF"/>
                      </a:solidFill>
                    </a:lnB>
                    <a:noFill/>
                  </a:tcPr>
                </a:tc>
                <a:tc>
                  <a:txBody>
                    <a:bodyPr/>
                    <a:lstStyle/>
                    <a:p>
                      <a:pPr algn="r">
                        <a:buNone/>
                      </a:pPr>
                      <a:r>
                        <a:rPr sz="1000" b="0" i="0">
                          <a:solidFill>
                            <a:srgbClr val="1D2733"/>
                          </a:solidFill>
                          <a:latin typeface="Calibri"/>
                        </a:rPr>
                        <a:t>$25–35</a:t>
                      </a:r>
                      <a:endParaRPr sz="1000"/>
                    </a:p>
                  </a:txBody>
                  <a:tcPr marL="64008" marR="64008" marT="32004" marB="32004" anchor="ctr">
                    <a:lnL w="0">
                      <a:noFill/>
                    </a:lnL>
                    <a:lnR w="0">
                      <a:noFill/>
                    </a:lnR>
                    <a:lnT w="0">
                      <a:noFill/>
                    </a:lnT>
                    <a:lnB w="9525">
                      <a:solidFill>
                        <a:srgbClr val="D3D9DF"/>
                      </a:solidFill>
                    </a:lnB>
                    <a:noFill/>
                  </a:tcPr>
                </a:tc>
                <a:extLst>
                  <a:ext uri="{0D108BD9-81ED-4DB2-BD59-A6C34878D82A}">
                    <a16:rowId xmlns:a16="http://schemas.microsoft.com/office/drawing/2014/main" val="10000"/>
                  </a:ext>
                </a:extLst>
              </a:tr>
              <a:tr h="256032">
                <a:tc>
                  <a:txBody>
                    <a:bodyPr/>
                    <a:lstStyle/>
                    <a:p>
                      <a:pPr algn="l">
                        <a:buNone/>
                      </a:pPr>
                      <a:r>
                        <a:rPr sz="1000" b="0" i="0">
                          <a:solidFill>
                            <a:srgbClr val="1D2733"/>
                          </a:solidFill>
                          <a:latin typeface="Calibri"/>
                        </a:rPr>
                        <a:t>+ ENIG, impedance control</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$35–55</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56032">
                <a:tc>
                  <a:txBody>
                    <a:bodyPr/>
                    <a:lstStyle/>
                    <a:p>
                      <a:pPr algn="l">
                        <a:buNone/>
                      </a:pPr>
                      <a:r>
                        <a:rPr sz="1000" b="0" i="0">
                          <a:solidFill>
                            <a:srgbClr val="1D2733"/>
                          </a:solidFill>
                          <a:latin typeface="Calibri"/>
                        </a:rPr>
                        <a:t>Rev 1 custom stack + blind vias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quote</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56032">
                <a:tc>
                  <a:txBody>
                    <a:bodyPr/>
                    <a:lstStyle/>
                    <a:p>
                      <a:pPr algn="l">
                        <a:buNone/>
                      </a:pPr>
                      <a:r>
                        <a:rPr sz="1000" b="0" i="0">
                          <a:solidFill>
                            <a:srgbClr val="1D2733"/>
                          </a:solidFill>
                          <a:latin typeface="Calibri"/>
                        </a:rPr>
                        <a:t>per tile (standard, 5 boards)</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$7–11</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56032">
                <a:tc>
                  <a:txBody>
                    <a:bodyPr/>
                    <a:lstStyle/>
                    <a:p>
                      <a:pPr algn="l">
                        <a:buNone/>
                      </a:pPr>
                      <a:r>
                        <a:rPr sz="1000" b="0" i="0">
                          <a:solidFill>
                            <a:srgbClr val="1D2733"/>
                          </a:solidFill>
                          <a:latin typeface="Calibri"/>
                        </a:rPr>
                        <a:t>6-layer, per board</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$10–16</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256032">
                <a:tc>
                  <a:txBody>
                    <a:bodyPr/>
                    <a:lstStyle/>
                    <a:p>
                      <a:pPr algn="l">
                        <a:buNone/>
                      </a:pPr>
                      <a:r>
                        <a:rPr sz="1000" b="0" i="0">
                          <a:solidFill>
                            <a:srgbClr val="1D2733"/>
                          </a:solidFill>
                          <a:latin typeface="Calibri"/>
                        </a:rPr>
                        <a:t>shipping to Israel</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000" b="0" i="0">
                          <a:solidFill>
                            <a:srgbClr val="1D2733"/>
                          </a:solidFill>
                          <a:latin typeface="Calibri"/>
                        </a:rPr>
                        <a:t>$20–35</a:t>
                      </a:r>
                      <a:endParaRPr sz="10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bl>
          </a:graphicData>
        </a:graphic>
      </p:graphicFrame>
      <p:sp>
        <p:nvSpPr>
          <p:cNvPr id="36" name="TextBox 35"/>
          <p:cNvSpPr txBox="1"/>
          <p:nvPr/>
        </p:nvSpPr>
        <p:spPr>
          <a:xfrm>
            <a:off x="8092440" y="1325880"/>
            <a:ext cx="3566160" cy="274320"/>
          </a:xfrm>
          <a:prstGeom prst="rect">
            <a:avLst/>
          </a:prstGeom>
          <a:noFill/>
        </p:spPr>
        <p:txBody>
          <a:bodyPr wrap="square" lIns="0" tIns="0" rIns="0" bIns="0" anchor="t">
            <a:spAutoFit/>
          </a:bodyPr>
          <a:lstStyle/>
          <a:p>
            <a:pPr algn="l">
              <a:buNone/>
            </a:pPr>
            <a:r>
              <a:rPr sz="1300" b="0" i="0">
                <a:solidFill>
                  <a:srgbClr val="1D2733"/>
                </a:solidFill>
                <a:latin typeface="Calibri"/>
              </a:rPr>
              <a:t>The patch substrate</a:t>
            </a:r>
            <a:endParaRPr sz="1300"/>
          </a:p>
        </p:txBody>
      </p:sp>
      <p:sp>
        <p:nvSpPr>
          <p:cNvPr id="37" name="TextBox 36"/>
          <p:cNvSpPr txBox="1"/>
          <p:nvPr/>
        </p:nvSpPr>
        <p:spPr>
          <a:xfrm>
            <a:off x="8092440" y="1645920"/>
            <a:ext cx="3566160" cy="4206240"/>
          </a:xfrm>
          <a:prstGeom prst="rect">
            <a:avLst/>
          </a:prstGeom>
          <a:noFill/>
        </p:spPr>
        <p:txBody>
          <a:bodyPr wrap="square" lIns="0" tIns="0" rIns="0" bIns="0" anchor="t">
            <a:spAutoFit/>
          </a:bodyPr>
          <a:lstStyle/>
          <a:p>
            <a:pPr marL="201168" indent="-201168" algn="l">
              <a:spcAft>
                <a:spcPts val="500"/>
              </a:spcAft>
              <a:buFont typeface="Arial"/>
              <a:buChar char="•"/>
            </a:pPr>
            <a:r>
              <a:rPr sz="1100" b="0" i="0">
                <a:solidFill>
                  <a:srgbClr val="5B6776"/>
                </a:solidFill>
                <a:latin typeface="Calibri"/>
              </a:rPr>
              <a:t>A standard 1.6 mm 4-layer board has only ≈ 0.21 mm between L1 and L2: a 5.2 GHz patch there radiates at most ≈ 18 % of its power on FR-4 (lossless bandwidth ≈ 0.3 %; the loss makes the S11 dip look wider than it is).</a:t>
            </a:r>
            <a:endParaRPr sz="1100"/>
          </a:p>
          <a:p>
            <a:pPr marL="201168" indent="-201168" algn="l">
              <a:spcAft>
                <a:spcPts val="500"/>
              </a:spcAft>
              <a:buFont typeface="Arial"/>
              <a:buChar char="•"/>
            </a:pPr>
            <a:r>
              <a:rPr sz="1100" b="0" i="0">
                <a:solidFill>
                  <a:srgbClr val="5B6776"/>
                </a:solidFill>
                <a:latin typeface="Calibri"/>
              </a:rPr>
              <a:t>Rev 1 uses a custom stack with a 1.065 mm core under L1: ≈ 1.6 % (≈ 85 MHz) lossless bandwidth and at most ≈ 53 % efficiency; patch ≈ 17.5 × 13.5 mm, trimmed after a test coupon (≈ 55 MHz per 0.1 of εr).</a:t>
            </a:r>
            <a:endParaRPr sz="1100"/>
          </a:p>
          <a:p>
            <a:pPr marL="201168" indent="-201168" algn="l">
              <a:spcAft>
                <a:spcPts val="500"/>
              </a:spcAft>
              <a:buFont typeface="Arial"/>
              <a:buChar char="•"/>
            </a:pPr>
            <a:r>
              <a:rPr sz="1100" b="0" i="0">
                <a:solidFill>
                  <a:srgbClr val="5B6776"/>
                </a:solidFill>
                <a:latin typeface="Calibri"/>
              </a:rPr>
              <a:t>Front: patches only (plus tented through-via pads). Each C5 sits behind its own patch: probe via, 1 mm to the SPDT, 2.5 mm to the C5, the same for all eight. All digital lines run behind the L2 ground.</a:t>
            </a:r>
            <a:endParaRPr sz="1100"/>
          </a:p>
          <a:p>
            <a:pPr marL="201168" indent="-201168" algn="l">
              <a:spcAft>
                <a:spcPts val="500"/>
              </a:spcAft>
              <a:buFont typeface="Arial"/>
              <a:buChar char="•"/>
            </a:pPr>
            <a:r>
              <a:rPr sz="1100" b="0" i="0">
                <a:solidFill>
                  <a:srgbClr val="5B6776"/>
                </a:solidFill>
                <a:latin typeface="Calibri"/>
              </a:rPr>
              <a:t>Seam: the ground is cut between tiles, so bridge it continuously and calibrate per element. Tile B is turned 180°, so elements 9–16 carry a fixed 180° term.</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First useful experiment: receive beamforming</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Array factor computed for ideal isotropic elements; real embedded patterns and coupling will differ.</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22</a:t>
            </a:r>
            <a:endParaRPr sz="1000"/>
          </a:p>
        </p:txBody>
      </p:sp>
      <p:graphicFrame>
        <p:nvGraphicFramePr>
          <p:cNvPr id="5" name="Chart: 4-element array factor"/>
          <p:cNvGraphicFramePr>
            <a:graphicFrameLocks noGrp="1"/>
          </p:cNvGraphicFramePr>
          <p:nvPr/>
        </p:nvGraphicFramePr>
        <p:xfrm>
          <a:off x="548640" y="1325880"/>
          <a:ext cx="60350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548640" y="5440680"/>
            <a:ext cx="6035040" cy="685800"/>
          </a:xfrm>
          <a:prstGeom prst="rect">
            <a:avLst/>
          </a:prstGeom>
          <a:noFill/>
        </p:spPr>
        <p:txBody>
          <a:bodyPr wrap="square" lIns="0" tIns="0" rIns="0" bIns="0" anchor="t">
            <a:spAutoFit/>
          </a:bodyPr>
          <a:lstStyle/>
          <a:p>
            <a:pPr algn="l">
              <a:buNone/>
            </a:pPr>
            <a:r>
              <a:rPr sz="1000" b="0" i="0">
                <a:solidFill>
                  <a:srgbClr val="5B6776"/>
                </a:solidFill>
                <a:latin typeface="Calibri"/>
              </a:rPr>
              <a:t>Array factor of one 4-element row at λ/2, uniform weights. Half-power beamwidth ≈ 25° at broadside, first sidelobe −11.3 dB. The full 4×4 array steers in both azimuth and elevation.</a:t>
            </a:r>
            <a:endParaRPr sz="1000"/>
          </a:p>
        </p:txBody>
      </p:sp>
      <p:sp>
        <p:nvSpPr>
          <p:cNvPr id="7" name="TextBox 6"/>
          <p:cNvSpPr txBox="1"/>
          <p:nvPr/>
        </p:nvSpPr>
        <p:spPr>
          <a:xfrm>
            <a:off x="6995160" y="1325880"/>
            <a:ext cx="4663440" cy="274320"/>
          </a:xfrm>
          <a:prstGeom prst="rect">
            <a:avLst/>
          </a:prstGeom>
          <a:noFill/>
        </p:spPr>
        <p:txBody>
          <a:bodyPr wrap="square" lIns="0" tIns="0" rIns="0" bIns="0" anchor="t">
            <a:spAutoFit/>
          </a:bodyPr>
          <a:lstStyle/>
          <a:p>
            <a:pPr algn="l">
              <a:buNone/>
            </a:pPr>
            <a:r>
              <a:rPr sz="1400" b="0" i="0">
                <a:solidFill>
                  <a:srgbClr val="1D2733"/>
                </a:solidFill>
                <a:latin typeface="Calibri"/>
              </a:rPr>
              <a:t>Experiment</a:t>
            </a:r>
            <a:endParaRPr sz="1400"/>
          </a:p>
        </p:txBody>
      </p:sp>
      <p:sp>
        <p:nvSpPr>
          <p:cNvPr id="8" name="TextBox 7"/>
          <p:cNvSpPr txBox="1"/>
          <p:nvPr/>
        </p:nvSpPr>
        <p:spPr>
          <a:xfrm>
            <a:off x="6995160" y="1691640"/>
            <a:ext cx="4663440" cy="219456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Place a 5.2 GHz CW or Wi-Fi source in the far field (2D²/λ ≈ 0.9 m for the 163 mm aperture diagonal; use ≥ 1 m).</a:t>
            </a:r>
            <a:endParaRPr sz="1200"/>
          </a:p>
          <a:p>
            <a:pPr marL="201168" indent="-201168" algn="l">
              <a:spcAft>
                <a:spcPts val="500"/>
              </a:spcAft>
              <a:buFont typeface="Arial"/>
              <a:buChar char="•"/>
            </a:pPr>
            <a:r>
              <a:rPr sz="1200" b="0" i="0">
                <a:solidFill>
                  <a:srgbClr val="5B6776"/>
                </a:solidFill>
                <a:latin typeface="Calibri"/>
              </a:rPr>
              <a:t>Calibrate with the internal tone, then capture snapshots with the source at known angles.</a:t>
            </a:r>
            <a:endParaRPr sz="1200"/>
          </a:p>
          <a:p>
            <a:pPr marL="201168" indent="-201168" algn="l">
              <a:spcAft>
                <a:spcPts val="500"/>
              </a:spcAft>
              <a:buFont typeface="Arial"/>
              <a:buChar char="•"/>
            </a:pPr>
            <a:r>
              <a:rPr sz="1200" b="0" i="0">
                <a:solidFill>
                  <a:srgbClr val="5B6776"/>
                </a:solidFill>
                <a:latin typeface="Calibri"/>
              </a:rPr>
              <a:t>Form beams digitally: y = wᴴx with w = steering vector; scan azimuth and elevation.</a:t>
            </a:r>
            <a:endParaRPr sz="1200"/>
          </a:p>
          <a:p>
            <a:pPr marL="201168" indent="-201168" algn="l">
              <a:spcAft>
                <a:spcPts val="500"/>
              </a:spcAft>
              <a:buFont typeface="Arial"/>
              <a:buChar char="•"/>
            </a:pPr>
            <a:r>
              <a:rPr sz="1200" b="0" i="0">
                <a:solidFill>
                  <a:srgbClr val="5B6776"/>
                </a:solidFill>
                <a:latin typeface="Calibri"/>
              </a:rPr>
              <a:t>Estimate angle with conventional beamforming and MUSIC; add a second source for nulling.</a:t>
            </a:r>
            <a:endParaRPr sz="1200"/>
          </a:p>
        </p:txBody>
      </p:sp>
      <p:sp>
        <p:nvSpPr>
          <p:cNvPr id="9" name="TextBox 8"/>
          <p:cNvSpPr txBox="1"/>
          <p:nvPr/>
        </p:nvSpPr>
        <p:spPr>
          <a:xfrm>
            <a:off x="6995160" y="3977639"/>
            <a:ext cx="4663440" cy="274320"/>
          </a:xfrm>
          <a:prstGeom prst="rect">
            <a:avLst/>
          </a:prstGeom>
          <a:noFill/>
        </p:spPr>
        <p:txBody>
          <a:bodyPr wrap="square" lIns="0" tIns="0" rIns="0" bIns="0" anchor="t">
            <a:spAutoFit/>
          </a:bodyPr>
          <a:lstStyle/>
          <a:p>
            <a:pPr algn="l">
              <a:buNone/>
            </a:pPr>
            <a:r>
              <a:rPr sz="1400" b="0" i="0">
                <a:solidFill>
                  <a:srgbClr val="1D2733"/>
                </a:solidFill>
                <a:latin typeface="Calibri"/>
              </a:rPr>
              <a:t>Success criterion</a:t>
            </a:r>
            <a:endParaRPr sz="1400"/>
          </a:p>
        </p:txBody>
      </p:sp>
      <p:sp>
        <p:nvSpPr>
          <p:cNvPr id="10" name="TextBox 9"/>
          <p:cNvSpPr txBox="1"/>
          <p:nvPr/>
        </p:nvSpPr>
        <p:spPr>
          <a:xfrm>
            <a:off x="6995160" y="4343400"/>
            <a:ext cx="4663440" cy="1737360"/>
          </a:xfrm>
          <a:prstGeom prst="rect">
            <a:avLst/>
          </a:prstGeom>
          <a:noFill/>
        </p:spPr>
        <p:txBody>
          <a:bodyPr wrap="square" lIns="0" tIns="0" rIns="0" bIns="0" anchor="t">
            <a:spAutoFit/>
          </a:bodyPr>
          <a:lstStyle/>
          <a:p>
            <a:pPr algn="l">
              <a:spcAft>
                <a:spcPts val="500"/>
              </a:spcAft>
              <a:buNone/>
            </a:pPr>
            <a:r>
              <a:rPr sz="1200" b="0" i="0">
                <a:solidFill>
                  <a:srgbClr val="1D2733"/>
                </a:solidFill>
                <a:latin typeface="Calibri"/>
              </a:rPr>
              <a:t>The measured beam pattern matches the predicted one to within a few dB in the main lobe.</a:t>
            </a:r>
            <a:endParaRPr sz="1200"/>
          </a:p>
          <a:p>
            <a:pPr algn="l">
              <a:spcAft>
                <a:spcPts val="500"/>
              </a:spcAft>
              <a:buNone/>
            </a:pPr>
            <a:r>
              <a:rPr sz="1200" b="0" i="0">
                <a:solidFill>
                  <a:srgbClr val="1D2733"/>
                </a:solidFill>
                <a:latin typeface="Calibri"/>
              </a:rPr>
              <a:t>The estimated angle repeats after a power cycle and retune — proving that calibration, not luck, produced coherence.</a:t>
            </a:r>
            <a:endParaRPr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Radar experiments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Status = evidence on ESP32-class hardware. Literature: Chetty 2012, Colone 2011, Yildirim 2020, Euchner 2025 (passive channel charting). f_D = 2v/λ; Δr = c/2B.</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23</a:t>
            </a:r>
            <a:endParaRPr sz="1000"/>
          </a:p>
        </p:txBody>
      </p:sp>
      <p:graphicFrame>
        <p:nvGraphicFramePr>
          <p:cNvPr id="5" name="Table 4"/>
          <p:cNvGraphicFramePr>
            <a:graphicFrameLocks noGrp="1"/>
          </p:cNvGraphicFramePr>
          <p:nvPr/>
        </p:nvGraphicFramePr>
        <p:xfrm>
          <a:off x="548640" y="1280160"/>
          <a:ext cx="11091672" cy="3456432"/>
        </p:xfrm>
        <a:graphic>
          <a:graphicData uri="http://schemas.openxmlformats.org/drawingml/2006/table">
            <a:tbl>
              <a:tblPr>
                <a:tableStyleId>{2D5ABB26-0587-4C30-8999-92F81FD0307C}</a:tableStyleId>
              </a:tblPr>
              <a:tblGrid>
                <a:gridCol w="548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4005072">
                  <a:extLst>
                    <a:ext uri="{9D8B030D-6E8A-4147-A177-3AD203B41FA5}">
                      <a16:colId xmlns:a16="http://schemas.microsoft.com/office/drawing/2014/main" val="20003"/>
                    </a:ext>
                  </a:extLst>
                </a:gridCol>
              </a:tblGrid>
              <a:tr h="384048">
                <a:tc>
                  <a:txBody>
                    <a:bodyPr/>
                    <a:lstStyle/>
                    <a:p>
                      <a:pPr algn="l">
                        <a:buNone/>
                      </a:pP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Experiment</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What we would measure</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Evidence and dependencies</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512064">
                <a:tc>
                  <a:txBody>
                    <a:bodyPr/>
                    <a:lstStyle/>
                    <a:p>
                      <a:pPr algn="l">
                        <a:buNone/>
                      </a:pP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Wi-Fi sensing from CSI</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motion, presence, gestures, breathing-scale phase</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widely shown on ESP32; C5 CSI gives 52–242 subcarriers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Passive radar / localization with AP illuminators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AoA, Doppler, multipath changes, position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ESPARGOS passive localization at 2.4 GHz; needs mode 1 or fast snapshots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Separate TX and RX elements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1–2 C5s transmit packets, 14–15 receive coherently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standard packet TX; ESPARGOS radar mode does one-TX / rest-RX</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Pulsed / switched (TDM)</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transmit a burst, switch to RX, capture echoes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is half-duplex; TX→RX switching time unknown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Active CW or stepped frequency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Doppler (CW), coarse range (stepping)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5 GHz tone from a C5 undocumented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FMCW-like on the same radio</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range–Doppler maps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needs simultaneous TX + RX and arbitrary TX — not the starting point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bl>
          </a:graphicData>
        </a:graphic>
      </p:graphicFrame>
      <p:sp>
        <p:nvSpPr>
          <p:cNvPr id="6" name="status Confirmed"/>
          <p:cNvSpPr/>
          <p:nvPr/>
        </p:nvSpPr>
        <p:spPr>
          <a:xfrm>
            <a:off x="754380" y="1851659"/>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atus Engineering inference"/>
          <p:cNvSpPr/>
          <p:nvPr/>
        </p:nvSpPr>
        <p:spPr>
          <a:xfrm>
            <a:off x="754380" y="2363724"/>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tus Engineering inference"/>
          <p:cNvSpPr/>
          <p:nvPr/>
        </p:nvSpPr>
        <p:spPr>
          <a:xfrm>
            <a:off x="754380" y="2875787"/>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atus Engineering inference"/>
          <p:cNvSpPr/>
          <p:nvPr/>
        </p:nvSpPr>
        <p:spPr>
          <a:xfrm>
            <a:off x="754380" y="3387852"/>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tus Open — needs bench test"/>
          <p:cNvSpPr/>
          <p:nvPr/>
        </p:nvSpPr>
        <p:spPr>
          <a:xfrm>
            <a:off x="754380" y="3899916"/>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atus Speculative"/>
          <p:cNvSpPr/>
          <p:nvPr/>
        </p:nvSpPr>
        <p:spPr>
          <a:xfrm>
            <a:off x="754380" y="4411980"/>
            <a:ext cx="137160" cy="137160"/>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983480"/>
            <a:ext cx="11064240" cy="1097280"/>
          </a:xfrm>
          <a:prstGeom prst="rect">
            <a:avLst/>
          </a:prstGeom>
          <a:noFill/>
        </p:spPr>
        <p:txBody>
          <a:bodyPr wrap="square" lIns="0" tIns="0" rIns="0" bIns="0" anchor="t">
            <a:spAutoFit/>
          </a:bodyPr>
          <a:lstStyle/>
          <a:p>
            <a:pPr algn="l">
              <a:buNone/>
            </a:pPr>
            <a:r>
              <a:rPr sz="1200" b="0" i="0">
                <a:solidFill>
                  <a:srgbClr val="5B6776"/>
                </a:solidFill>
                <a:latin typeface="Calibri"/>
              </a:rPr>
              <a:t>Doppler at 5.2 GHz is 34.7 Hz per m/s; 0.5 m/s resolution (walking people) needs ≈ 60 ms of coherent slow time. Mode 1 at 4 MS/s or back-to-back snapshots make this possible; USB-only snapshots do not.</a:t>
            </a:r>
            <a:endParaRPr sz="1200"/>
          </a:p>
          <a:p>
            <a:pPr algn="l">
              <a:buNone/>
            </a:pPr>
            <a:r>
              <a:rPr sz="1200" b="0" i="0">
                <a:solidFill>
                  <a:srgbClr val="5B6776"/>
                </a:solidFill>
                <a:latin typeface="Calibri"/>
              </a:rPr>
              <a:t>Range resolution is c/2B: 7.5 m at 20 MHz, ≈ 3.1 m at the C5's 48 MHz analog limit. Angle and Doppler are the strengths.</a:t>
            </a:r>
            <a:endParaRPr sz="1200"/>
          </a:p>
        </p:txBody>
      </p:sp>
      <p:sp>
        <p:nvSpPr>
          <p:cNvPr id="13" name="status Confirmed"/>
          <p:cNvSpPr/>
          <p:nvPr/>
        </p:nvSpPr>
        <p:spPr>
          <a:xfrm>
            <a:off x="562356" y="6094476"/>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6053328"/>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15" name="status Engineering inference"/>
          <p:cNvSpPr/>
          <p:nvPr/>
        </p:nvSpPr>
        <p:spPr>
          <a:xfrm>
            <a:off x="1548079" y="6094476"/>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735531" y="6053328"/>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17" name="status Open — needs bench test"/>
          <p:cNvSpPr/>
          <p:nvPr/>
        </p:nvSpPr>
        <p:spPr>
          <a:xfrm>
            <a:off x="3214116" y="6094476"/>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01568" y="6053328"/>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
        <p:nvSpPr>
          <p:cNvPr id="19" name="status Speculative"/>
          <p:cNvSpPr/>
          <p:nvPr/>
        </p:nvSpPr>
        <p:spPr>
          <a:xfrm>
            <a:off x="4993538" y="6094476"/>
            <a:ext cx="118872" cy="118872"/>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80990" y="6053328"/>
            <a:ext cx="669340" cy="201168"/>
          </a:xfrm>
          <a:prstGeom prst="rect">
            <a:avLst/>
          </a:prstGeom>
          <a:noFill/>
        </p:spPr>
        <p:txBody>
          <a:bodyPr wrap="square" lIns="0" tIns="0" rIns="0" bIns="0" anchor="ctr">
            <a:spAutoFit/>
          </a:bodyPr>
          <a:lstStyle/>
          <a:p>
            <a:pPr algn="l">
              <a:buNone/>
            </a:pPr>
            <a:r>
              <a:rPr sz="1000" b="0" i="0">
                <a:solidFill>
                  <a:srgbClr val="5B6776"/>
                </a:solidFill>
                <a:latin typeface="Calibri"/>
              </a:rPr>
              <a:t>Speculative</a:t>
            </a: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Communications experiments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Receive-side items need calibrated coherent capture or CSI; the TX item depends on the open questions on the next slide.</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24</a:t>
            </a:r>
            <a:endParaRPr sz="1000"/>
          </a:p>
        </p:txBody>
      </p:sp>
      <p:graphicFrame>
        <p:nvGraphicFramePr>
          <p:cNvPr id="5" name="Table 4"/>
          <p:cNvGraphicFramePr>
            <a:graphicFrameLocks noGrp="1"/>
          </p:cNvGraphicFramePr>
          <p:nvPr/>
        </p:nvGraphicFramePr>
        <p:xfrm>
          <a:off x="548640" y="1280160"/>
          <a:ext cx="11091672" cy="3785616"/>
        </p:xfrm>
        <a:graphic>
          <a:graphicData uri="http://schemas.openxmlformats.org/drawingml/2006/table">
            <a:tbl>
              <a:tblPr>
                <a:tableStyleId>{2D5ABB26-0587-4C30-8999-92F81FD0307C}</a:tableStyleId>
              </a:tblPr>
              <a:tblGrid>
                <a:gridCol w="548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384048">
                <a:tc>
                  <a:txBody>
                    <a:bodyPr/>
                    <a:lstStyle/>
                    <a:p>
                      <a:pPr algn="l">
                        <a:buNone/>
                      </a:pP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Experiment</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Content</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Builds on</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566928">
                <a:tc>
                  <a:txBody>
                    <a:bodyPr/>
                    <a:lstStyle/>
                    <a:p>
                      <a:pPr algn="l">
                        <a:buNone/>
                      </a:pP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Receive beamforming</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steer a digital beam to a Wi-Fi station; measure SNR gain against one element</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calibrated snapshots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566928">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Interference nulling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two transmitters; place a null on one, keep the other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covariance estimation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566928">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Wi-Fi angle of arrival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AoA of real stations from per-packet CSI — shown at 2.4 GHz by ESPARGOS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CSI mode + calibration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566928">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MIMO channel measurements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16-element channel matrices, multipath, angle–delay profiles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CSI or raw snapshots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566928">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Localization and beam tracking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follow a moving station; compare with ground truth</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repeated snapshots / CSI</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566928">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Distributed coherent TX</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beam-steered transmission from several C5s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TX phase control (open)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bl>
          </a:graphicData>
        </a:graphic>
      </p:graphicFrame>
      <p:sp>
        <p:nvSpPr>
          <p:cNvPr id="6" name="status Engineering inference"/>
          <p:cNvSpPr/>
          <p:nvPr/>
        </p:nvSpPr>
        <p:spPr>
          <a:xfrm>
            <a:off x="754380" y="1879091"/>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atus Engineering inference"/>
          <p:cNvSpPr/>
          <p:nvPr/>
        </p:nvSpPr>
        <p:spPr>
          <a:xfrm>
            <a:off x="754380" y="2446020"/>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tus Engineering inference"/>
          <p:cNvSpPr/>
          <p:nvPr/>
        </p:nvSpPr>
        <p:spPr>
          <a:xfrm>
            <a:off x="754380" y="3012948"/>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atus Engineering inference"/>
          <p:cNvSpPr/>
          <p:nvPr/>
        </p:nvSpPr>
        <p:spPr>
          <a:xfrm>
            <a:off x="754380" y="3579876"/>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tus Engineering inference"/>
          <p:cNvSpPr/>
          <p:nvPr/>
        </p:nvSpPr>
        <p:spPr>
          <a:xfrm>
            <a:off x="754380" y="4146803"/>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atus Open — needs bench test"/>
          <p:cNvSpPr/>
          <p:nvPr/>
        </p:nvSpPr>
        <p:spPr>
          <a:xfrm>
            <a:off x="754380" y="4713731"/>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atus Confirmed"/>
          <p:cNvSpPr/>
          <p:nvPr/>
        </p:nvSpPr>
        <p:spPr>
          <a:xfrm>
            <a:off x="562356" y="6094476"/>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6053328"/>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14" name="status Engineering inference"/>
          <p:cNvSpPr/>
          <p:nvPr/>
        </p:nvSpPr>
        <p:spPr>
          <a:xfrm>
            <a:off x="1548079" y="6094476"/>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35531" y="6053328"/>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16" name="status Open — needs bench test"/>
          <p:cNvSpPr/>
          <p:nvPr/>
        </p:nvSpPr>
        <p:spPr>
          <a:xfrm>
            <a:off x="3214116" y="6094476"/>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01568" y="6053328"/>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
        <p:nvSpPr>
          <p:cNvPr id="18" name="status Speculative"/>
          <p:cNvSpPr/>
          <p:nvPr/>
        </p:nvSpPr>
        <p:spPr>
          <a:xfrm>
            <a:off x="4993538" y="6094476"/>
            <a:ext cx="118872" cy="118872"/>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80990" y="6053328"/>
            <a:ext cx="669340" cy="201168"/>
          </a:xfrm>
          <a:prstGeom prst="rect">
            <a:avLst/>
          </a:prstGeom>
          <a:noFill/>
        </p:spPr>
        <p:txBody>
          <a:bodyPr wrap="square" lIns="0" tIns="0" rIns="0" bIns="0" anchor="ctr">
            <a:spAutoFit/>
          </a:bodyPr>
          <a:lstStyle/>
          <a:p>
            <a:pPr algn="l">
              <a:buNone/>
            </a:pPr>
            <a:r>
              <a:rPr sz="1000" b="0" i="0">
                <a:solidFill>
                  <a:srgbClr val="5B6776"/>
                </a:solidFill>
                <a:latin typeface="Calibri"/>
              </a:rPr>
              <a:t>Speculative</a:t>
            </a:r>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Transmit: what we know and what we don't</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C5 datasheet v1.5; ESP-SDR README, issue #3; ESP-IDF esp_phy_cert_test.h; ESPARGOS One manual §9.4; ECC/DEC/(04)08; Israeli regs 2021.</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25</a:t>
            </a:r>
            <a:endParaRPr sz="1000"/>
          </a:p>
        </p:txBody>
      </p:sp>
      <p:graphicFrame>
        <p:nvGraphicFramePr>
          <p:cNvPr id="5" name="Table 4"/>
          <p:cNvGraphicFramePr>
            <a:graphicFrameLocks noGrp="1"/>
          </p:cNvGraphicFramePr>
          <p:nvPr/>
        </p:nvGraphicFramePr>
        <p:xfrm>
          <a:off x="548640" y="1280160"/>
          <a:ext cx="11091672" cy="3675888"/>
        </p:xfrm>
        <a:graphic>
          <a:graphicData uri="http://schemas.openxmlformats.org/drawingml/2006/table">
            <a:tbl>
              <a:tblPr>
                <a:tableStyleId>{2D5ABB26-0587-4C30-8999-92F81FD0307C}</a:tableStyleId>
              </a:tblPr>
              <a:tblGrid>
                <a:gridCol w="5486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6519672">
                  <a:extLst>
                    <a:ext uri="{9D8B030D-6E8A-4147-A177-3AD203B41FA5}">
                      <a16:colId xmlns:a16="http://schemas.microsoft.com/office/drawing/2014/main" val="20002"/>
                    </a:ext>
                  </a:extLst>
                </a:gridCol>
              </a:tblGrid>
              <a:tr h="384048">
                <a:tc>
                  <a:txBody>
                    <a:bodyPr/>
                    <a:lstStyle/>
                    <a:p>
                      <a:pPr algn="l">
                        <a:buNone/>
                      </a:pP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Capability</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Evidence / comment</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411480">
                <a:tc>
                  <a:txBody>
                    <a:bodyPr/>
                    <a:lstStyle/>
                    <a:p>
                      <a:pPr algn="l">
                        <a:buNone/>
                      </a:pP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Standard Wi-Fi packet TX at 5 GHz on every C5</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datasheet: 18 dBm typ. at low rates (chip level)</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One element transmits, the others receive (TDM)</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ESPARGOS One radar mode does this at 2.4 GHz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All TX carriers on the same frequency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follows from the shared 48 MHz reference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Known, repeatable TX LO phase after each PLL lock</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unknown; RX calibration does not measure the TX path</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Simultaneous TX start on 16 chips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packet TX timing belongs to the Wi-Fi MAC, not to us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CW tone at 5 GHz on the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cert-test API esp_phy_wifi_tx_tone() is documented for channels 1–14 only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Arbitrary IQ playback on the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ESP-SDR is receive-only; its authors say arbitrary TX works but are not releasing it (misuse and certification concerns)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r h="411480">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16-element coherent transmit beamforming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needs all of the above plus over-the-air TX calibration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8"/>
                  </a:ext>
                </a:extLst>
              </a:tr>
            </a:tbl>
          </a:graphicData>
        </a:graphic>
      </p:graphicFrame>
      <p:sp>
        <p:nvSpPr>
          <p:cNvPr id="6" name="status Confirmed"/>
          <p:cNvSpPr/>
          <p:nvPr/>
        </p:nvSpPr>
        <p:spPr>
          <a:xfrm>
            <a:off x="754380" y="1801368"/>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atus Confirmed"/>
          <p:cNvSpPr/>
          <p:nvPr/>
        </p:nvSpPr>
        <p:spPr>
          <a:xfrm>
            <a:off x="754380" y="2212848"/>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tus Engineering inference"/>
          <p:cNvSpPr/>
          <p:nvPr/>
        </p:nvSpPr>
        <p:spPr>
          <a:xfrm>
            <a:off x="754380" y="2624328"/>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atus Open — needs bench test"/>
          <p:cNvSpPr/>
          <p:nvPr/>
        </p:nvSpPr>
        <p:spPr>
          <a:xfrm>
            <a:off x="754380" y="303580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tus Open — needs bench test"/>
          <p:cNvSpPr/>
          <p:nvPr/>
        </p:nvSpPr>
        <p:spPr>
          <a:xfrm>
            <a:off x="754380" y="344728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atus Open — needs bench test"/>
          <p:cNvSpPr/>
          <p:nvPr/>
        </p:nvSpPr>
        <p:spPr>
          <a:xfrm>
            <a:off x="754380" y="385876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atus Open — needs bench test"/>
          <p:cNvSpPr/>
          <p:nvPr/>
        </p:nvSpPr>
        <p:spPr>
          <a:xfrm>
            <a:off x="754380" y="427024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atus Speculative"/>
          <p:cNvSpPr/>
          <p:nvPr/>
        </p:nvSpPr>
        <p:spPr>
          <a:xfrm>
            <a:off x="754380" y="4681728"/>
            <a:ext cx="137160" cy="137160"/>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074920"/>
            <a:ext cx="11064240" cy="1005840"/>
          </a:xfrm>
          <a:prstGeom prst="rect">
            <a:avLst/>
          </a:prstGeom>
          <a:noFill/>
        </p:spPr>
        <p:txBody>
          <a:bodyPr wrap="square" lIns="0" tIns="0" rIns="0" bIns="0" anchor="t">
            <a:spAutoFit/>
          </a:bodyPr>
          <a:lstStyle/>
          <a:p>
            <a:pPr algn="l">
              <a:buNone/>
            </a:pPr>
            <a:r>
              <a:rPr sz="1200" b="0" i="0">
                <a:solidFill>
                  <a:srgbClr val="5B6776"/>
                </a:solidFill>
                <a:latin typeface="Calibri"/>
              </a:rPr>
              <a:t>Regulation: 5150–5250 MHz allows 200 mW EIRP, indoor, in both the EU and Israel, for EN 301 893 RLAN equipment. Sixteen coherent elements add up to 24 dB over one, and custom radar waveforms are probably not covered — do TX experiments cabled, shielded or at low power, on channels 36–48.</a:t>
            </a:r>
            <a:endParaRPr sz="1200"/>
          </a:p>
        </p:txBody>
      </p:sp>
      <p:sp>
        <p:nvSpPr>
          <p:cNvPr id="15" name="status Confirmed"/>
          <p:cNvSpPr/>
          <p:nvPr/>
        </p:nvSpPr>
        <p:spPr>
          <a:xfrm>
            <a:off x="562356" y="6094476"/>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6053328"/>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17" name="status Engineering inference"/>
          <p:cNvSpPr/>
          <p:nvPr/>
        </p:nvSpPr>
        <p:spPr>
          <a:xfrm>
            <a:off x="1548079" y="6094476"/>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35531" y="6053328"/>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19" name="status Open — needs bench test"/>
          <p:cNvSpPr/>
          <p:nvPr/>
        </p:nvSpPr>
        <p:spPr>
          <a:xfrm>
            <a:off x="3214116" y="6094476"/>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01568" y="6053328"/>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
        <p:nvSpPr>
          <p:cNvPr id="21" name="status Speculative"/>
          <p:cNvSpPr/>
          <p:nvPr/>
        </p:nvSpPr>
        <p:spPr>
          <a:xfrm>
            <a:off x="4993538" y="6094476"/>
            <a:ext cx="118872" cy="118872"/>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80990" y="6053328"/>
            <a:ext cx="669340" cy="201168"/>
          </a:xfrm>
          <a:prstGeom prst="rect">
            <a:avLst/>
          </a:prstGeom>
          <a:noFill/>
        </p:spPr>
        <p:txBody>
          <a:bodyPr wrap="square" lIns="0" tIns="0" rIns="0" bIns="0" anchor="ctr">
            <a:spAutoFit/>
          </a:bodyPr>
          <a:lstStyle/>
          <a:p>
            <a:pPr algn="l">
              <a:buNone/>
            </a:pPr>
            <a:r>
              <a:rPr sz="1000" b="0" i="0">
                <a:solidFill>
                  <a:srgbClr val="5B6776"/>
                </a:solidFill>
                <a:latin typeface="Calibri"/>
              </a:rPr>
              <a:t>Speculative</a:t>
            </a:r>
            <a:endParaRPr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Transmit steering: easy maths, hard hardware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Phase steps for λ/2 spacing. ESPARGOS states phase-coherent TX works on ESPARGOS One but has not released it (ESP-SDR page, issue #3).</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26</a:t>
            </a:r>
            <a:endParaRPr sz="1000"/>
          </a:p>
        </p:txBody>
      </p:sp>
      <p:sp>
        <p:nvSpPr>
          <p:cNvPr id="5" name="TextBox 4"/>
          <p:cNvSpPr txBox="1"/>
          <p:nvPr/>
        </p:nvSpPr>
        <p:spPr>
          <a:xfrm>
            <a:off x="548640" y="1280160"/>
            <a:ext cx="4754880" cy="274320"/>
          </a:xfrm>
          <a:prstGeom prst="rect">
            <a:avLst/>
          </a:prstGeom>
          <a:noFill/>
        </p:spPr>
        <p:txBody>
          <a:bodyPr wrap="square" lIns="0" tIns="0" rIns="0" bIns="0" anchor="t">
            <a:spAutoFit/>
          </a:bodyPr>
          <a:lstStyle/>
          <a:p>
            <a:pPr algn="l">
              <a:buNone/>
            </a:pPr>
            <a:r>
              <a:rPr sz="1400" b="0" i="0">
                <a:solidFill>
                  <a:srgbClr val="1D2733"/>
                </a:solidFill>
                <a:latin typeface="Calibri"/>
              </a:rPr>
              <a:t>Phase step between neighbours at λ/2</a:t>
            </a:r>
            <a:endParaRPr sz="1400"/>
          </a:p>
        </p:txBody>
      </p:sp>
      <p:sp>
        <p:nvSpPr>
          <p:cNvPr id="6" name="TextBox 5"/>
          <p:cNvSpPr txBox="1"/>
          <p:nvPr/>
        </p:nvSpPr>
        <p:spPr>
          <a:xfrm>
            <a:off x="548640" y="1645920"/>
            <a:ext cx="4754880" cy="411480"/>
          </a:xfrm>
          <a:prstGeom prst="rect">
            <a:avLst/>
          </a:prstGeom>
          <a:noFill/>
        </p:spPr>
        <p:txBody>
          <a:bodyPr wrap="square" lIns="0" tIns="0" rIns="0" bIns="0" anchor="t">
            <a:spAutoFit/>
          </a:bodyPr>
          <a:lstStyle/>
          <a:p>
            <a:pPr algn="l">
              <a:buNone/>
            </a:pPr>
            <a:r>
              <a:rPr sz="1700" b="0" i="0">
                <a:solidFill>
                  <a:srgbClr val="1D2733"/>
                </a:solidFill>
                <a:latin typeface="Cambria Math"/>
              </a:rPr>
              <a:t>Δφ = −π · sin θ,   s</a:t>
            </a:r>
            <a:r>
              <a:rPr sz="1200" b="0" i="0">
                <a:solidFill>
                  <a:srgbClr val="1D2733"/>
                </a:solidFill>
                <a:latin typeface="Cambria Math"/>
              </a:rPr>
              <a:t>k</a:t>
            </a:r>
            <a:r>
              <a:rPr sz="1700" b="0" i="0">
                <a:solidFill>
                  <a:srgbClr val="1D2733"/>
                </a:solidFill>
                <a:latin typeface="Cambria Math"/>
              </a:rPr>
              <a:t>[n] = s[n] · e</a:t>
            </a:r>
            <a:r>
              <a:rPr sz="1700" b="0" i="0" baseline="30000">
                <a:solidFill>
                  <a:srgbClr val="1D2733"/>
                </a:solidFill>
                <a:latin typeface="Cambria Math"/>
              </a:rPr>
              <a:t>jkΔφ</a:t>
            </a:r>
            <a:endParaRPr sz="1700"/>
          </a:p>
        </p:txBody>
      </p:sp>
      <p:graphicFrame>
        <p:nvGraphicFramePr>
          <p:cNvPr id="7" name="Table 6"/>
          <p:cNvGraphicFramePr>
            <a:graphicFrameLocks noGrp="1"/>
          </p:cNvGraphicFramePr>
          <p:nvPr/>
        </p:nvGraphicFramePr>
        <p:xfrm>
          <a:off x="548640" y="2240280"/>
          <a:ext cx="3657600" cy="1865376"/>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10896">
                <a:tc>
                  <a:txBody>
                    <a:bodyPr/>
                    <a:lstStyle/>
                    <a:p>
                      <a:pPr algn="r">
                        <a:buNone/>
                      </a:pPr>
                      <a:r>
                        <a:rPr sz="1200" b="0" i="0">
                          <a:solidFill>
                            <a:srgbClr val="5B6776"/>
                          </a:solidFill>
                          <a:latin typeface="Calibri"/>
                        </a:rPr>
                        <a:t>steering angle θ</a:t>
                      </a:r>
                      <a:endParaRPr sz="1200"/>
                    </a:p>
                  </a:txBody>
                  <a:tcPr marL="64008" marR="64008" marT="32004" marB="32004" anchor="ctr">
                    <a:lnL w="0">
                      <a:noFill/>
                    </a:lnL>
                    <a:lnR w="0">
                      <a:noFill/>
                    </a:lnR>
                    <a:lnT w="0">
                      <a:noFill/>
                    </a:lnT>
                    <a:lnB w="12700">
                      <a:solidFill>
                        <a:srgbClr val="7F8B97"/>
                      </a:solidFill>
                    </a:lnB>
                    <a:noFill/>
                  </a:tcPr>
                </a:tc>
                <a:tc>
                  <a:txBody>
                    <a:bodyPr/>
                    <a:lstStyle/>
                    <a:p>
                      <a:pPr algn="r">
                        <a:buNone/>
                      </a:pPr>
                      <a:r>
                        <a:rPr sz="1200" b="0" i="0">
                          <a:solidFill>
                            <a:srgbClr val="5B6776"/>
                          </a:solidFill>
                          <a:latin typeface="Calibri"/>
                        </a:rPr>
                        <a:t>Δφ per element</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310896">
                <a:tc>
                  <a:txBody>
                    <a:bodyPr/>
                    <a:lstStyle/>
                    <a:p>
                      <a:pPr algn="r">
                        <a:buNone/>
                      </a:pPr>
                      <a:r>
                        <a:rPr sz="1200" b="0" i="0">
                          <a:solidFill>
                            <a:srgbClr val="1D2733"/>
                          </a:solidFill>
                          <a:latin typeface="Calibri"/>
                        </a:rPr>
                        <a:t>0°</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0°</a:t>
                      </a:r>
                      <a:endParaRPr sz="12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310896">
                <a:tc>
                  <a:txBody>
                    <a:bodyPr/>
                    <a:lstStyle/>
                    <a:p>
                      <a:pPr algn="r">
                        <a:buNone/>
                      </a:pPr>
                      <a:r>
                        <a:rPr sz="1200" b="0" i="0">
                          <a:solidFill>
                            <a:srgbClr val="1D2733"/>
                          </a:solidFill>
                          <a:latin typeface="Calibri"/>
                        </a:rPr>
                        <a:t>15°</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−46.6°</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310896">
                <a:tc>
                  <a:txBody>
                    <a:bodyPr/>
                    <a:lstStyle/>
                    <a:p>
                      <a:pPr algn="r">
                        <a:buNone/>
                      </a:pPr>
                      <a:r>
                        <a:rPr sz="1200" b="0" i="0">
                          <a:solidFill>
                            <a:srgbClr val="1D2733"/>
                          </a:solidFill>
                          <a:latin typeface="Calibri"/>
                        </a:rPr>
                        <a:t>30°</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−90.0°</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310896">
                <a:tc>
                  <a:txBody>
                    <a:bodyPr/>
                    <a:lstStyle/>
                    <a:p>
                      <a:pPr algn="r">
                        <a:buNone/>
                      </a:pPr>
                      <a:r>
                        <a:rPr sz="1200" b="0" i="0">
                          <a:solidFill>
                            <a:srgbClr val="1D2733"/>
                          </a:solidFill>
                          <a:latin typeface="Calibri"/>
                        </a:rPr>
                        <a:t>45°</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−127.3°</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310896">
                <a:tc>
                  <a:txBody>
                    <a:bodyPr/>
                    <a:lstStyle/>
                    <a:p>
                      <a:pPr algn="r">
                        <a:buNone/>
                      </a:pPr>
                      <a:r>
                        <a:rPr sz="1200" b="0" i="0">
                          <a:solidFill>
                            <a:srgbClr val="1D2733"/>
                          </a:solidFill>
                          <a:latin typeface="Calibri"/>
                        </a:rPr>
                        <a:t>60°</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200" b="0" i="0">
                          <a:solidFill>
                            <a:srgbClr val="1D2733"/>
                          </a:solidFill>
                          <a:latin typeface="Calibri"/>
                        </a:rPr>
                        <a:t>−155.9°</a:t>
                      </a:r>
                      <a:endParaRPr sz="12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bl>
          </a:graphicData>
        </a:graphic>
      </p:graphicFrame>
      <p:sp>
        <p:nvSpPr>
          <p:cNvPr id="8" name="TextBox 7"/>
          <p:cNvSpPr txBox="1"/>
          <p:nvPr/>
        </p:nvSpPr>
        <p:spPr>
          <a:xfrm>
            <a:off x="5669280" y="1280160"/>
            <a:ext cx="5943600" cy="274320"/>
          </a:xfrm>
          <a:prstGeom prst="rect">
            <a:avLst/>
          </a:prstGeom>
          <a:noFill/>
        </p:spPr>
        <p:txBody>
          <a:bodyPr wrap="square" lIns="0" tIns="0" rIns="0" bIns="0" anchor="t">
            <a:spAutoFit/>
          </a:bodyPr>
          <a:lstStyle/>
          <a:p>
            <a:pPr algn="l">
              <a:buNone/>
            </a:pPr>
            <a:r>
              <a:rPr sz="1400" b="0" i="0">
                <a:solidFill>
                  <a:srgbClr val="1D2733"/>
                </a:solidFill>
                <a:latin typeface="Calibri"/>
              </a:rPr>
              <a:t>What is actually hard</a:t>
            </a:r>
            <a:endParaRPr sz="1400"/>
          </a:p>
        </p:txBody>
      </p:sp>
      <p:sp>
        <p:nvSpPr>
          <p:cNvPr id="9" name="TextBox 8"/>
          <p:cNvSpPr txBox="1"/>
          <p:nvPr/>
        </p:nvSpPr>
        <p:spPr>
          <a:xfrm>
            <a:off x="5669280" y="1645920"/>
            <a:ext cx="5943600" cy="228600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Phase-coherent TX LOs: a shared 48 MHz fixes frequency, not the phase after each PLL lock.</a:t>
            </a:r>
            <a:endParaRPr sz="1200"/>
          </a:p>
          <a:p>
            <a:pPr marL="201168" indent="-201168" algn="l">
              <a:spcAft>
                <a:spcPts val="500"/>
              </a:spcAft>
              <a:buFont typeface="Arial"/>
              <a:buChar char="•"/>
            </a:pPr>
            <a:r>
              <a:rPr sz="1200" b="0" i="0">
                <a:solidFill>
                  <a:srgbClr val="5B6776"/>
                </a:solidFill>
                <a:latin typeface="Calibri"/>
              </a:rPr>
              <a:t>Deterministic TX start: normal packet TX is timed by the Wi-Fi MAC, not by us.</a:t>
            </a:r>
            <a:endParaRPr sz="1200"/>
          </a:p>
          <a:p>
            <a:pPr marL="201168" indent="-201168" algn="l">
              <a:spcAft>
                <a:spcPts val="500"/>
              </a:spcAft>
              <a:buFont typeface="Arial"/>
              <a:buChar char="•"/>
            </a:pPr>
            <a:r>
              <a:rPr sz="1200" b="0" i="0">
                <a:solidFill>
                  <a:srgbClr val="5B6776"/>
                </a:solidFill>
                <a:latin typeface="Calibri"/>
              </a:rPr>
              <a:t>A raw TX waveform path on the C5 — the ESP-SDR authors say arbitrary TX works but have not released it.</a:t>
            </a:r>
            <a:endParaRPr sz="1200"/>
          </a:p>
          <a:p>
            <a:pPr marL="201168" indent="-201168" algn="l">
              <a:spcAft>
                <a:spcPts val="500"/>
              </a:spcAft>
              <a:buFont typeface="Arial"/>
              <a:buChar char="•"/>
            </a:pPr>
            <a:r>
              <a:rPr sz="1200" b="0" i="0">
                <a:solidFill>
                  <a:srgbClr val="5B6776"/>
                </a:solidFill>
                <a:latin typeface="Calibri"/>
              </a:rPr>
              <a:t>The C5 is 1T1R and half-duplex: one chain switches between TX and RX.</a:t>
            </a:r>
            <a:endParaRPr sz="1200"/>
          </a:p>
        </p:txBody>
      </p:sp>
      <p:sp>
        <p:nvSpPr>
          <p:cNvPr id="10" name="TextBox 9"/>
          <p:cNvSpPr txBox="1"/>
          <p:nvPr/>
        </p:nvSpPr>
        <p:spPr>
          <a:xfrm>
            <a:off x="5669280" y="3931920"/>
            <a:ext cx="5943600" cy="274320"/>
          </a:xfrm>
          <a:prstGeom prst="rect">
            <a:avLst/>
          </a:prstGeom>
          <a:noFill/>
        </p:spPr>
        <p:txBody>
          <a:bodyPr wrap="square" lIns="0" tIns="0" rIns="0" bIns="0" anchor="t">
            <a:spAutoFit/>
          </a:bodyPr>
          <a:lstStyle/>
          <a:p>
            <a:pPr algn="l">
              <a:buNone/>
            </a:pPr>
            <a:r>
              <a:rPr sz="1400" b="0" i="0">
                <a:solidFill>
                  <a:srgbClr val="1D2733"/>
                </a:solidFill>
                <a:latin typeface="Calibri"/>
              </a:rPr>
              <a:t>If steering is needed before that is solved</a:t>
            </a:r>
            <a:endParaRPr sz="1400"/>
          </a:p>
        </p:txBody>
      </p:sp>
      <p:sp>
        <p:nvSpPr>
          <p:cNvPr id="11" name="TextBox 10"/>
          <p:cNvSpPr txBox="1"/>
          <p:nvPr/>
        </p:nvSpPr>
        <p:spPr>
          <a:xfrm>
            <a:off x="5669280" y="4297680"/>
            <a:ext cx="5943600" cy="182880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Separate roles: 1–2 C5s transmit, the other 14–15 receive coherently.</a:t>
            </a:r>
            <a:endParaRPr sz="1200"/>
          </a:p>
          <a:p>
            <a:pPr marL="201168" indent="-201168" algn="l">
              <a:spcAft>
                <a:spcPts val="500"/>
              </a:spcAft>
              <a:buFont typeface="Arial"/>
              <a:buChar char="•"/>
            </a:pPr>
            <a:r>
              <a:rPr sz="1200" b="0" i="0">
                <a:solidFill>
                  <a:srgbClr val="5B6776"/>
                </a:solidFill>
                <a:latin typeface="Calibri"/>
              </a:rPr>
              <a:t>TDM / MIMO: one element transmits at a time, the TX aperture is synthesized afterwards (as in ESPARGOS radar mode).</a:t>
            </a:r>
            <a:endParaRPr sz="1200"/>
          </a:p>
          <a:p>
            <a:pPr marL="201168" indent="-201168" algn="l">
              <a:spcAft>
                <a:spcPts val="500"/>
              </a:spcAft>
              <a:buFont typeface="Arial"/>
              <a:buChar char="•"/>
            </a:pPr>
            <a:r>
              <a:rPr sz="1200" b="0" i="0">
                <a:solidFill>
                  <a:srgbClr val="5B6776"/>
                </a:solidFill>
                <a:latin typeface="Calibri"/>
              </a:rPr>
              <a:t>External RF phase shifters after each C5 — more BOM, loss and control lines; not for Rev 1.</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Power, heat and board constraints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C5: datasheet v1.5 Table 5-8 (peak, 3.3 V). S31, PHY and master-board figures are planning estimates — measure in steps 2 and 4.</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27</a:t>
            </a:r>
            <a:endParaRPr sz="1000"/>
          </a:p>
        </p:txBody>
      </p:sp>
      <p:sp>
        <p:nvSpPr>
          <p:cNvPr id="5" name="TextBox 4"/>
          <p:cNvSpPr txBox="1"/>
          <p:nvPr/>
        </p:nvSpPr>
        <p:spPr>
          <a:xfrm>
            <a:off x="548640" y="1280160"/>
            <a:ext cx="5486400" cy="274320"/>
          </a:xfrm>
          <a:prstGeom prst="rect">
            <a:avLst/>
          </a:prstGeom>
          <a:noFill/>
        </p:spPr>
        <p:txBody>
          <a:bodyPr wrap="square" lIns="0" tIns="0" rIns="0" bIns="0" anchor="t">
            <a:spAutoFit/>
          </a:bodyPr>
          <a:lstStyle/>
          <a:p>
            <a:pPr algn="l">
              <a:buNone/>
            </a:pPr>
            <a:r>
              <a:rPr sz="1400" b="0" i="0">
                <a:solidFill>
                  <a:srgbClr val="1D2733"/>
                </a:solidFill>
                <a:latin typeface="Calibri"/>
              </a:rPr>
              <a:t>Supply estimate (3.3 V rail)</a:t>
            </a:r>
            <a:endParaRPr sz="1400"/>
          </a:p>
        </p:txBody>
      </p:sp>
      <p:graphicFrame>
        <p:nvGraphicFramePr>
          <p:cNvPr id="6" name="Table 5"/>
          <p:cNvGraphicFramePr>
            <a:graphicFrameLocks noGrp="1"/>
          </p:cNvGraphicFramePr>
          <p:nvPr/>
        </p:nvGraphicFramePr>
        <p:xfrm>
          <a:off x="548640" y="1645920"/>
          <a:ext cx="6126480" cy="2633472"/>
        </p:xfrm>
        <a:graphic>
          <a:graphicData uri="http://schemas.openxmlformats.org/drawingml/2006/table">
            <a:tbl>
              <a:tblPr>
                <a:tableStyleId>{2D5ABB26-0587-4C30-8999-92F81FD0307C}</a:tableStyleId>
              </a:tblPr>
              <a:tblGrid>
                <a:gridCol w="26517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29184">
                <a:tc>
                  <a:txBody>
                    <a:bodyPr/>
                    <a:lstStyle/>
                    <a:p>
                      <a:pPr algn="l">
                        <a:buNone/>
                      </a:pPr>
                      <a:r>
                        <a:rPr sz="1100" b="0" i="0">
                          <a:solidFill>
                            <a:srgbClr val="5B6776"/>
                          </a:solidFill>
                          <a:latin typeface="Calibri"/>
                        </a:rPr>
                        <a:t>Load</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per unit</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count</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total</a:t>
                      </a:r>
                      <a:endParaRPr sz="11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329184">
                <a:tc>
                  <a:txBody>
                    <a:bodyPr/>
                    <a:lstStyle/>
                    <a:p>
                      <a:pPr algn="l">
                        <a:buNone/>
                      </a:pPr>
                      <a:r>
                        <a:rPr sz="1100" b="0" i="0">
                          <a:solidFill>
                            <a:srgbClr val="1D2733"/>
                          </a:solidFill>
                          <a:latin typeface="Calibri"/>
                        </a:rPr>
                        <a:t>ESP32-C5, receive (5 GHz)</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110 mA</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16</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1.76 A</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329184">
                <a:tc>
                  <a:txBody>
                    <a:bodyPr/>
                    <a:lstStyle/>
                    <a:p>
                      <a:pPr algn="l">
                        <a:buNone/>
                      </a:pPr>
                      <a:r>
                        <a:rPr sz="1100" b="0" i="0">
                          <a:solidFill>
                            <a:srgbClr val="1D2733"/>
                          </a:solidFill>
                          <a:latin typeface="Calibri"/>
                        </a:rPr>
                        <a:t>ESP32-C5, transmit peak (5 GHz)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408 mA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16</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6.53 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329184">
                <a:tc>
                  <a:txBody>
                    <a:bodyPr/>
                    <a:lstStyle/>
                    <a:p>
                      <a:pPr algn="l">
                        <a:buNone/>
                      </a:pPr>
                      <a:r>
                        <a:rPr sz="1100" b="0" i="0">
                          <a:solidFill>
                            <a:srgbClr val="1D2733"/>
                          </a:solidFill>
                          <a:latin typeface="Calibri"/>
                        </a:rPr>
                        <a:t>ESP32-S31 + RTL8211F (estimate)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400 mA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2</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0.80 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329184">
                <a:tc>
                  <a:txBody>
                    <a:bodyPr/>
                    <a:lstStyle/>
                    <a:p>
                      <a:pPr algn="l">
                        <a:buNone/>
                      </a:pPr>
                      <a:r>
                        <a:rPr sz="1100" b="0" i="0">
                          <a:solidFill>
                            <a:srgbClr val="1D2733"/>
                          </a:solidFill>
                          <a:latin typeface="Calibri"/>
                        </a:rPr>
                        <a:t>Clock buffers, oscillators, SPDTs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40 mA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6</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0.24 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329184">
                <a:tc>
                  <a:txBody>
                    <a:bodyPr/>
                    <a:lstStyle/>
                    <a:p>
                      <a:pPr algn="l">
                        <a:buNone/>
                      </a:pPr>
                      <a:r>
                        <a:rPr sz="1100" b="0" i="0">
                          <a:solidFill>
                            <a:srgbClr val="1D2733"/>
                          </a:solidFill>
                          <a:latin typeface="Calibri"/>
                        </a:rPr>
                        <a:t>Master board incl. synthesizer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 200 mA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0.20 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329184">
                <a:tc>
                  <a:txBody>
                    <a:bodyPr/>
                    <a:lstStyle/>
                    <a:p>
                      <a:pPr algn="l">
                        <a:buNone/>
                      </a:pPr>
                      <a:r>
                        <a:rPr sz="1100" b="0" i="0">
                          <a:solidFill>
                            <a:srgbClr val="1D2733"/>
                          </a:solidFill>
                          <a:latin typeface="Calibri"/>
                        </a:rPr>
                        <a:t>All receiving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3.0 A · 10 W</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329184">
                <a:tc>
                  <a:txBody>
                    <a:bodyPr/>
                    <a:lstStyle/>
                    <a:p>
                      <a:pPr algn="l">
                        <a:buNone/>
                      </a:pPr>
                      <a:r>
                        <a:rPr sz="1100" b="0" i="0">
                          <a:solidFill>
                            <a:srgbClr val="1D2733"/>
                          </a:solidFill>
                          <a:latin typeface="Calibri"/>
                        </a:rPr>
                        <a:t>All transmitting (worst case)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7.8 A · 26 W</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4572000"/>
            <a:ext cx="6126480" cy="155448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Espressif asks for ≥ 0.6 A of supply capability per C5: 4.8 A per tile. Plus 10 µF on each VDDA rail.</a:t>
            </a:r>
            <a:endParaRPr sz="1100"/>
          </a:p>
          <a:p>
            <a:pPr marL="201168" indent="-201168" algn="l">
              <a:spcAft>
                <a:spcPts val="400"/>
              </a:spcAft>
              <a:buFont typeface="Arial"/>
              <a:buChar char="•"/>
            </a:pPr>
            <a:r>
              <a:rPr sz="1100" b="0" i="0">
                <a:solidFill>
                  <a:srgbClr val="5B6776"/>
                </a:solidFill>
                <a:latin typeface="Calibri"/>
              </a:rPr>
              <a:t>TX bursts droop a shared rail and can disturb the reference — give clock buffers and oscillators their own quiet LDO.</a:t>
            </a:r>
            <a:endParaRPr sz="1100"/>
          </a:p>
          <a:p>
            <a:pPr marL="201168" indent="-201168" algn="l">
              <a:spcAft>
                <a:spcPts val="400"/>
              </a:spcAft>
              <a:buFont typeface="Arial"/>
              <a:buChar char="•"/>
            </a:pPr>
            <a:r>
              <a:rPr sz="1100" b="0" i="0">
                <a:solidFill>
                  <a:srgbClr val="5B6776"/>
                </a:solidFill>
                <a:latin typeface="Calibri"/>
              </a:rPr>
              <a:t>Heat: ≈ 10 W in receive over two tiles is easy; continuous all-TX (26 W) needs airflow.</a:t>
            </a:r>
            <a:endParaRPr sz="1100"/>
          </a:p>
        </p:txBody>
      </p:sp>
      <p:sp>
        <p:nvSpPr>
          <p:cNvPr id="8" name="TextBox 7"/>
          <p:cNvSpPr txBox="1"/>
          <p:nvPr/>
        </p:nvSpPr>
        <p:spPr>
          <a:xfrm>
            <a:off x="7086600" y="1280160"/>
            <a:ext cx="4572000" cy="274320"/>
          </a:xfrm>
          <a:prstGeom prst="rect">
            <a:avLst/>
          </a:prstGeom>
          <a:noFill/>
        </p:spPr>
        <p:txBody>
          <a:bodyPr wrap="square" lIns="0" tIns="0" rIns="0" bIns="0" anchor="t">
            <a:spAutoFit/>
          </a:bodyPr>
          <a:lstStyle/>
          <a:p>
            <a:pPr algn="l">
              <a:buNone/>
            </a:pPr>
            <a:r>
              <a:rPr sz="1400" b="0" i="0">
                <a:solidFill>
                  <a:srgbClr val="1D2733"/>
                </a:solidFill>
                <a:latin typeface="Calibri"/>
              </a:rPr>
              <a:t>Board-level points</a:t>
            </a:r>
            <a:endParaRPr sz="1400"/>
          </a:p>
        </p:txBody>
      </p:sp>
      <p:sp>
        <p:nvSpPr>
          <p:cNvPr id="9" name="TextBox 8"/>
          <p:cNvSpPr txBox="1"/>
          <p:nvPr/>
        </p:nvSpPr>
        <p:spPr>
          <a:xfrm>
            <a:off x="7086600" y="1645920"/>
            <a:ext cx="4572000" cy="4572000"/>
          </a:xfrm>
          <a:prstGeom prst="rect">
            <a:avLst/>
          </a:prstGeom>
          <a:noFill/>
        </p:spPr>
        <p:txBody>
          <a:bodyPr wrap="square" lIns="0" tIns="0" rIns="0" bIns="0" anchor="t">
            <a:spAutoFit/>
          </a:bodyPr>
          <a:lstStyle/>
          <a:p>
            <a:pPr marL="201168" indent="-201168" algn="l">
              <a:spcAft>
                <a:spcPts val="600"/>
              </a:spcAft>
              <a:buFont typeface="Arial"/>
              <a:buChar char="•"/>
            </a:pPr>
            <a:r>
              <a:rPr sz="1100" b="0" i="0">
                <a:solidFill>
                  <a:srgbClr val="5B6776"/>
                </a:solidFill>
                <a:latin typeface="Calibri"/>
              </a:rPr>
              <a:t>Two tile PCBs, custom 4-layer FR-4 with controlled impedance; one master timing / RF board.</a:t>
            </a:r>
            <a:endParaRPr sz="1100"/>
          </a:p>
          <a:p>
            <a:pPr marL="201168" indent="-201168" algn="l">
              <a:spcAft>
                <a:spcPts val="600"/>
              </a:spcAft>
              <a:buFont typeface="Arial"/>
              <a:buChar char="•"/>
            </a:pPr>
            <a:r>
              <a:rPr sz="1100" b="0" i="0">
                <a:solidFill>
                  <a:srgbClr val="5B6776"/>
                </a:solidFill>
                <a:latin typeface="Calibri"/>
              </a:rPr>
              <a:t>Front: patches only. Each chip-down ESP32-C5 sits behind its own patch, so XTAL_P can take the shared 48 MHz.</a:t>
            </a:r>
            <a:endParaRPr sz="1100"/>
          </a:p>
          <a:p>
            <a:pPr marL="201168" indent="-201168" algn="l">
              <a:spcAft>
                <a:spcPts val="600"/>
              </a:spcAft>
              <a:buFont typeface="Arial"/>
              <a:buChar char="•"/>
            </a:pPr>
            <a:r>
              <a:rPr sz="1100" b="0" i="0">
                <a:solidFill>
                  <a:srgbClr val="5B6776"/>
                </a:solidFill>
                <a:latin typeface="Calibri"/>
              </a:rPr>
              <a:t>PARLIO lines on L4, series-terminated; ≈ 1.2 ns of layout skew (data plus PCLK) and the C5 clock-to-out spread (a bench test) against the 12.5 ns half-period.</a:t>
            </a:r>
            <a:endParaRPr sz="1100"/>
          </a:p>
          <a:p>
            <a:pPr marL="201168" indent="-201168" algn="l">
              <a:spcAft>
                <a:spcPts val="600"/>
              </a:spcAft>
              <a:buFont typeface="Arial"/>
              <a:buChar char="•"/>
            </a:pPr>
            <a:r>
              <a:rPr sz="1100" b="0" i="0">
                <a:solidFill>
                  <a:srgbClr val="5B6776"/>
                </a:solidFill>
                <a:latin typeface="Calibri"/>
              </a:rPr>
              <a:t>48 and 40 MHz point-to-point from 1:8 / 1:10 buffers: on L3 from the buffers, the last few cm to each C5 on L4; series-terminated, away from RF lines.</a:t>
            </a:r>
            <a:endParaRPr sz="1100"/>
          </a:p>
          <a:p>
            <a:pPr marL="201168" indent="-201168" algn="l">
              <a:spcAft>
                <a:spcPts val="600"/>
              </a:spcAft>
              <a:buFont typeface="Arial"/>
              <a:buChar char="•"/>
            </a:pPr>
            <a:r>
              <a:rPr sz="1100" b="0" i="0">
                <a:solidFill>
                  <a:srgbClr val="5B6776"/>
                </a:solidFill>
                <a:latin typeface="Calibri"/>
              </a:rPr>
              <a:t>RF: 50 Ω lines on L4 over a solid L3 ground; each SPDT 1 mm from its probe via and 2.5 mm from its C5.</a:t>
            </a:r>
            <a:endParaRPr sz="1100"/>
          </a:p>
          <a:p>
            <a:pPr marL="201168" indent="-201168" algn="l">
              <a:spcAft>
                <a:spcPts val="600"/>
              </a:spcAft>
              <a:buFont typeface="Arial"/>
              <a:buChar char="•"/>
            </a:pPr>
            <a:r>
              <a:rPr sz="1100" b="0" i="0">
                <a:solidFill>
                  <a:srgbClr val="5B6776"/>
                </a:solidFill>
                <a:latin typeface="Calibri"/>
              </a:rPr>
              <a:t>Antenna substrate: the 1.065 mm core under L1 (see the tile PCB slide).</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a tile and the full array cost</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Team low-volume estimates (Oct 2026), not quotes. Excludes lab instruments, enclosure and engineering time.</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28</a:t>
            </a:r>
            <a:endParaRPr sz="1000"/>
          </a:p>
        </p:txBody>
      </p:sp>
      <p:sp>
        <p:nvSpPr>
          <p:cNvPr id="5" name="TextBox 4"/>
          <p:cNvSpPr txBox="1"/>
          <p:nvPr/>
        </p:nvSpPr>
        <p:spPr>
          <a:xfrm>
            <a:off x="548640" y="1280160"/>
            <a:ext cx="5760720" cy="274320"/>
          </a:xfrm>
          <a:prstGeom prst="rect">
            <a:avLst/>
          </a:prstGeom>
          <a:noFill/>
        </p:spPr>
        <p:txBody>
          <a:bodyPr wrap="square" lIns="0" tIns="0" rIns="0" bIns="0" anchor="t">
            <a:spAutoFit/>
          </a:bodyPr>
          <a:lstStyle/>
          <a:p>
            <a:pPr algn="l">
              <a:buNone/>
            </a:pPr>
            <a:r>
              <a:rPr sz="1400" b="0" i="0">
                <a:solidFill>
                  <a:srgbClr val="1D2733"/>
                </a:solidFill>
                <a:latin typeface="Calibri"/>
              </a:rPr>
              <a:t>One 8-element tile (electronics)</a:t>
            </a:r>
            <a:endParaRPr sz="1400"/>
          </a:p>
        </p:txBody>
      </p:sp>
      <p:graphicFrame>
        <p:nvGraphicFramePr>
          <p:cNvPr id="6" name="Table 5"/>
          <p:cNvGraphicFramePr>
            <a:graphicFrameLocks noGrp="1"/>
          </p:cNvGraphicFramePr>
          <p:nvPr/>
        </p:nvGraphicFramePr>
        <p:xfrm>
          <a:off x="548640" y="1600200"/>
          <a:ext cx="5669280" cy="3017520"/>
        </p:xfrm>
        <a:graphic>
          <a:graphicData uri="http://schemas.openxmlformats.org/drawingml/2006/table">
            <a:tbl>
              <a:tblPr>
                <a:tableStyleId>{2D5ABB26-0587-4C30-8999-92F81FD0307C}</a:tableStyleId>
              </a:tblPr>
              <a:tblGrid>
                <a:gridCol w="3931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274320">
                <a:tc>
                  <a:txBody>
                    <a:bodyPr/>
                    <a:lstStyle/>
                    <a:p>
                      <a:pPr algn="l">
                        <a:buNone/>
                      </a:pPr>
                      <a:r>
                        <a:rPr sz="1100" b="0" i="0">
                          <a:solidFill>
                            <a:srgbClr val="5B6776"/>
                          </a:solidFill>
                          <a:latin typeface="Calibri"/>
                        </a:rPr>
                        <a:t>Item</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 USD</a:t>
                      </a:r>
                      <a:endParaRPr sz="11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274320">
                <a:tc>
                  <a:txBody>
                    <a:bodyPr/>
                    <a:lstStyle/>
                    <a:p>
                      <a:pPr algn="l">
                        <a:buNone/>
                      </a:pPr>
                      <a:r>
                        <a:rPr sz="1100" b="0" i="0">
                          <a:solidFill>
                            <a:srgbClr val="1D2733"/>
                          </a:solidFill>
                          <a:latin typeface="Calibri"/>
                        </a:rPr>
                        <a:t>8 × ESP32-C5 (chip-down needed for a shared reference)</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40</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74320">
                <a:tc>
                  <a:txBody>
                    <a:bodyPr/>
                    <a:lstStyle/>
                    <a:p>
                      <a:pPr algn="l">
                        <a:buNone/>
                      </a:pPr>
                      <a:r>
                        <a:rPr sz="1100" b="0" i="0">
                          <a:solidFill>
                            <a:srgbClr val="1D2733"/>
                          </a:solidFill>
                          <a:latin typeface="Calibri"/>
                        </a:rPr>
                        <a:t>1 × ESP32-S31</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7.5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74320">
                <a:tc>
                  <a:txBody>
                    <a:bodyPr/>
                    <a:lstStyle/>
                    <a:p>
                      <a:pPr algn="l">
                        <a:buNone/>
                      </a:pPr>
                      <a:r>
                        <a:rPr sz="1100" b="0" i="0">
                          <a:solidFill>
                            <a:srgbClr val="1D2733"/>
                          </a:solidFill>
                          <a:latin typeface="Calibri"/>
                        </a:rPr>
                        <a:t>1 × RTL8211F Gigabit PHY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1.4</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74320">
                <a:tc>
                  <a:txBody>
                    <a:bodyPr/>
                    <a:lstStyle/>
                    <a:p>
                      <a:pPr algn="l">
                        <a:buNone/>
                      </a:pPr>
                      <a:r>
                        <a:rPr sz="1100" b="0" i="0">
                          <a:solidFill>
                            <a:srgbClr val="1D2733"/>
                          </a:solidFill>
                          <a:latin typeface="Calibri"/>
                        </a:rPr>
                        <a:t>Gigabit MagJack</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2.5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274320">
                <a:tc>
                  <a:txBody>
                    <a:bodyPr/>
                    <a:lstStyle/>
                    <a:p>
                      <a:pPr algn="l">
                        <a:buNone/>
                      </a:pPr>
                      <a:r>
                        <a:rPr sz="1100" b="0" i="0">
                          <a:solidFill>
                            <a:srgbClr val="1D2733"/>
                          </a:solidFill>
                          <a:latin typeface="Calibri"/>
                        </a:rPr>
                        <a:t>48 / 40 MHz fan-out buffers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7.5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274320">
                <a:tc>
                  <a:txBody>
                    <a:bodyPr/>
                    <a:lstStyle/>
                    <a:p>
                      <a:pPr algn="l">
                        <a:buNone/>
                      </a:pPr>
                      <a:r>
                        <a:rPr sz="1100" b="0" i="0">
                          <a:solidFill>
                            <a:srgbClr val="1D2733"/>
                          </a:solidFill>
                          <a:latin typeface="Calibri"/>
                        </a:rPr>
                        <a:t>40 MHz oscillator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274320">
                <a:tc>
                  <a:txBody>
                    <a:bodyPr/>
                    <a:lstStyle/>
                    <a:p>
                      <a:pPr algn="l">
                        <a:buNone/>
                      </a:pPr>
                      <a:r>
                        <a:rPr sz="1100" b="0" i="0">
                          <a:solidFill>
                            <a:srgbClr val="1D2733"/>
                          </a:solidFill>
                          <a:latin typeface="Calibri"/>
                        </a:rPr>
                        <a:t>8 × RF SPDT (SKY13351-class)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r h="274320">
                <a:tc>
                  <a:txBody>
                    <a:bodyPr/>
                    <a:lstStyle/>
                    <a:p>
                      <a:pPr algn="l">
                        <a:buNone/>
                      </a:pPr>
                      <a:r>
                        <a:rPr sz="1100" b="0" i="0">
                          <a:solidFill>
                            <a:srgbClr val="1D2733"/>
                          </a:solidFill>
                          <a:latin typeface="Calibri"/>
                        </a:rPr>
                        <a:t>3.3 V regulation, power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8"/>
                  </a:ext>
                </a:extLst>
              </a:tr>
              <a:tr h="274320">
                <a:tc>
                  <a:txBody>
                    <a:bodyPr/>
                    <a:lstStyle/>
                    <a:p>
                      <a:pPr algn="l">
                        <a:buNone/>
                      </a:pPr>
                      <a:r>
                        <a:rPr sz="1100" b="0" i="0">
                          <a:solidFill>
                            <a:srgbClr val="1D2733"/>
                          </a:solidFill>
                          <a:latin typeface="Calibri"/>
                        </a:rPr>
                        <a:t>Ethernet crystal, passives, misc.</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3–5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9"/>
                  </a:ext>
                </a:extLst>
              </a:tr>
              <a:tr h="274320">
                <a:tc>
                  <a:txBody>
                    <a:bodyPr/>
                    <a:lstStyle/>
                    <a:p>
                      <a:pPr algn="l">
                        <a:buNone/>
                      </a:pPr>
                      <a:r>
                        <a:rPr sz="1100" b="0" i="0">
                          <a:solidFill>
                            <a:srgbClr val="1D2733"/>
                          </a:solidFill>
                          <a:latin typeface="Calibri"/>
                        </a:rPr>
                        <a:t>Tile electronics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70–80</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0"/>
                  </a:ext>
                </a:extLst>
              </a:tr>
            </a:tbl>
          </a:graphicData>
        </a:graphic>
      </p:graphicFrame>
      <p:sp>
        <p:nvSpPr>
          <p:cNvPr id="7" name="TextBox 6"/>
          <p:cNvSpPr txBox="1"/>
          <p:nvPr/>
        </p:nvSpPr>
        <p:spPr>
          <a:xfrm>
            <a:off x="6720840" y="1280160"/>
            <a:ext cx="4937760" cy="274320"/>
          </a:xfrm>
          <a:prstGeom prst="rect">
            <a:avLst/>
          </a:prstGeom>
          <a:noFill/>
        </p:spPr>
        <p:txBody>
          <a:bodyPr wrap="square" lIns="0" tIns="0" rIns="0" bIns="0" anchor="t">
            <a:spAutoFit/>
          </a:bodyPr>
          <a:lstStyle/>
          <a:p>
            <a:pPr algn="l">
              <a:buNone/>
            </a:pPr>
            <a:r>
              <a:rPr sz="1400" b="0" i="0">
                <a:solidFill>
                  <a:srgbClr val="1D2733"/>
                </a:solidFill>
                <a:latin typeface="Calibri"/>
              </a:rPr>
              <a:t>Full 16-element system</a:t>
            </a:r>
            <a:endParaRPr sz="1400"/>
          </a:p>
        </p:txBody>
      </p:sp>
      <p:graphicFrame>
        <p:nvGraphicFramePr>
          <p:cNvPr id="8" name="Table 7"/>
          <p:cNvGraphicFramePr>
            <a:graphicFrameLocks noGrp="1"/>
          </p:cNvGraphicFramePr>
          <p:nvPr/>
        </p:nvGraphicFramePr>
        <p:xfrm>
          <a:off x="6720840" y="1600200"/>
          <a:ext cx="4919472" cy="1755648"/>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tblGrid>
              <a:tr h="292608">
                <a:tc>
                  <a:txBody>
                    <a:bodyPr/>
                    <a:lstStyle/>
                    <a:p>
                      <a:pPr algn="l">
                        <a:buNone/>
                      </a:pPr>
                      <a:r>
                        <a:rPr sz="1100" b="0" i="0">
                          <a:solidFill>
                            <a:srgbClr val="5B6776"/>
                          </a:solidFill>
                          <a:latin typeface="Calibri"/>
                        </a:rPr>
                        <a:t>Item</a:t>
                      </a:r>
                      <a:endParaRPr sz="1100"/>
                    </a:p>
                  </a:txBody>
                  <a:tcPr marL="64008" marR="64008" marT="32004" marB="32004" anchor="ctr">
                    <a:lnL w="0">
                      <a:noFill/>
                    </a:lnL>
                    <a:lnR w="0">
                      <a:noFill/>
                    </a:lnR>
                    <a:lnT w="0">
                      <a:noFill/>
                    </a:lnT>
                    <a:lnB w="12700">
                      <a:solidFill>
                        <a:srgbClr val="7F8B97"/>
                      </a:solidFill>
                    </a:lnB>
                    <a:noFill/>
                  </a:tcPr>
                </a:tc>
                <a:tc>
                  <a:txBody>
                    <a:bodyPr/>
                    <a:lstStyle/>
                    <a:p>
                      <a:pPr algn="r">
                        <a:buNone/>
                      </a:pPr>
                      <a:r>
                        <a:rPr sz="1100" b="0" i="0">
                          <a:solidFill>
                            <a:srgbClr val="5B6776"/>
                          </a:solidFill>
                          <a:latin typeface="Calibri"/>
                        </a:rPr>
                        <a:t>≈ USD</a:t>
                      </a:r>
                      <a:endParaRPr sz="11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292608">
                <a:tc>
                  <a:txBody>
                    <a:bodyPr/>
                    <a:lstStyle/>
                    <a:p>
                      <a:pPr algn="l">
                        <a:buNone/>
                      </a:pPr>
                      <a:r>
                        <a:rPr sz="1100" b="0" i="0">
                          <a:solidFill>
                            <a:srgbClr val="1D2733"/>
                          </a:solidFill>
                          <a:latin typeface="Calibri"/>
                        </a:rPr>
                        <a:t>Two tiles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140–160</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92608">
                <a:tc>
                  <a:txBody>
                    <a:bodyPr/>
                    <a:lstStyle/>
                    <a:p>
                      <a:pPr algn="l">
                        <a:buNone/>
                      </a:pPr>
                      <a:r>
                        <a:rPr sz="1100" b="0" i="0">
                          <a:solidFill>
                            <a:srgbClr val="1D2733"/>
                          </a:solidFill>
                          <a:latin typeface="Calibri"/>
                        </a:rPr>
                        <a:t>Master board: 48 MHz, trigger, 5.2 GHz source, splitters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15–20</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92608">
                <a:tc>
                  <a:txBody>
                    <a:bodyPr/>
                    <a:lstStyle/>
                    <a:p>
                      <a:pPr algn="l">
                        <a:buNone/>
                      </a:pPr>
                      <a:r>
                        <a:rPr sz="1100" b="0" i="0">
                          <a:solidFill>
                            <a:srgbClr val="1D2733"/>
                          </a:solidFill>
                          <a:latin typeface="Calibri"/>
                        </a:rPr>
                        <a:t>Electronics total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160–180</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92608">
                <a:tc>
                  <a:txBody>
                    <a:bodyPr/>
                    <a:lstStyle/>
                    <a:p>
                      <a:pPr algn="l">
                        <a:buNone/>
                      </a:pPr>
                      <a:r>
                        <a:rPr sz="1100" b="0" i="0">
                          <a:solidFill>
                            <a:srgbClr val="1D2733"/>
                          </a:solidFill>
                          <a:latin typeface="Calibri"/>
                        </a:rPr>
                        <a:t>PCBs, assembly, shipping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60–120</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292608">
                <a:tc>
                  <a:txBody>
                    <a:bodyPr/>
                    <a:lstStyle/>
                    <a:p>
                      <a:pPr algn="l">
                        <a:buNone/>
                      </a:pPr>
                      <a:r>
                        <a:rPr sz="1100" b="0" i="0">
                          <a:solidFill>
                            <a:srgbClr val="1D2733"/>
                          </a:solidFill>
                          <a:latin typeface="Calibri"/>
                        </a:rPr>
                        <a:t>Complete prototype target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r">
                        <a:buNone/>
                      </a:pPr>
                      <a:r>
                        <a:rPr sz="1100" b="0" i="0">
                          <a:solidFill>
                            <a:srgbClr val="1D2733"/>
                          </a:solidFill>
                          <a:latin typeface="Calibri"/>
                        </a:rPr>
                        <a:t>220–300</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bl>
          </a:graphicData>
        </a:graphic>
      </p:graphicFrame>
      <p:sp>
        <p:nvSpPr>
          <p:cNvPr id="9" name="TextBox 8"/>
          <p:cNvSpPr txBox="1"/>
          <p:nvPr/>
        </p:nvSpPr>
        <p:spPr>
          <a:xfrm>
            <a:off x="6720840" y="3703320"/>
            <a:ext cx="4937760" cy="2194560"/>
          </a:xfrm>
          <a:prstGeom prst="rect">
            <a:avLst/>
          </a:prstGeom>
          <a:noFill/>
        </p:spPr>
        <p:txBody>
          <a:bodyPr wrap="square" lIns="0" tIns="0" rIns="0" bIns="0" anchor="t">
            <a:spAutoFit/>
          </a:bodyPr>
          <a:lstStyle/>
          <a:p>
            <a:pPr marL="201168" indent="-201168" algn="l">
              <a:spcAft>
                <a:spcPts val="400"/>
              </a:spcAft>
              <a:buFont typeface="Arial"/>
              <a:buChar char="•"/>
            </a:pPr>
            <a:r>
              <a:rPr sz="1100" b="0" i="0">
                <a:solidFill>
                  <a:srgbClr val="5B6776"/>
                </a:solidFill>
                <a:latin typeface="Calibri"/>
              </a:rPr>
              <a:t>Chip-down C5s replace modules because modules carry their own crystal; parts cost is similar, layout work is higher.</a:t>
            </a:r>
            <a:endParaRPr sz="1100"/>
          </a:p>
          <a:p>
            <a:pPr marL="201168" indent="-201168" algn="l">
              <a:spcAft>
                <a:spcPts val="400"/>
              </a:spcAft>
              <a:buFont typeface="Arial"/>
              <a:buChar char="•"/>
            </a:pPr>
            <a:r>
              <a:rPr sz="1100" b="0" i="0">
                <a:solidFill>
                  <a:srgbClr val="5B6776"/>
                </a:solidFill>
                <a:latin typeface="Calibri"/>
              </a:rPr>
              <a:t>The custom stack-up (with blind L4–L3 vias) keeps the patches on the tile but needs a quote: the PCB line assumes standard-stack prices. Ask for a balanced build and a bow/twist limit. A separate antenna board would add a second fab order and 16 RF connections.</a:t>
            </a:r>
            <a:endParaRPr sz="1100"/>
          </a:p>
          <a:p>
            <a:pPr marL="201168" indent="-201168" algn="l">
              <a:spcAft>
                <a:spcPts val="400"/>
              </a:spcAft>
              <a:buFont typeface="Arial"/>
              <a:buChar char="•"/>
            </a:pPr>
            <a:r>
              <a:rPr sz="1100" b="0" i="0">
                <a:solidFill>
                  <a:srgbClr val="5B6776"/>
                </a:solidFill>
                <a:latin typeface="Calibri"/>
              </a:rPr>
              <a:t>A MAX2871 evaluation board alone costs more than the $15–20 line; a bare synthesizer on the master board is assumed.</a:t>
            </a:r>
            <a:endParaRPr sz="1100"/>
          </a:p>
          <a:p>
            <a:pPr marL="201168" indent="-201168" algn="l">
              <a:spcAft>
                <a:spcPts val="400"/>
              </a:spcAft>
              <a:buFont typeface="Arial"/>
              <a:buChar char="•"/>
            </a:pPr>
            <a:r>
              <a:rPr sz="1100" b="0" i="0">
                <a:solidFill>
                  <a:srgbClr val="5B6776"/>
                </a:solidFill>
                <a:latin typeface="Calibri"/>
              </a:rPr>
              <a:t>For scale: an ESPARGOS One Core Kit (8 elements, 2.4 GHz, finished product with enclosure, PoE and firmware) is €350 excl. VAT.</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Software stack</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Everything above the C5 firmware is ordinary open tooling; the C5 layer depends on ESP-SDR and ESP-IDF internals.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29</a:t>
            </a:r>
            <a:endParaRPr sz="1000"/>
          </a:p>
        </p:txBody>
      </p:sp>
      <p:sp>
        <p:nvSpPr>
          <p:cNvPr id="5" name="Rectangle 4"/>
          <p:cNvSpPr/>
          <p:nvPr/>
        </p:nvSpPr>
        <p:spPr>
          <a:xfrm>
            <a:off x="548640" y="1325880"/>
            <a:ext cx="2606040" cy="502920"/>
          </a:xfrm>
          <a:prstGeom prst="rect">
            <a:avLst/>
          </a:prstGeom>
          <a:solidFill>
            <a:srgbClr val="E4F2F1"/>
          </a:solidFill>
          <a:ln w="12700">
            <a:solidFill>
              <a:srgbClr val="0E7C7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300" b="0" i="0">
                <a:solidFill>
                  <a:srgbClr val="1D2733"/>
                </a:solidFill>
                <a:latin typeface="Calibri"/>
              </a:rPr>
              <a:t>ESP32-C5 firmware</a:t>
            </a:r>
            <a:endParaRPr sz="1300"/>
          </a:p>
        </p:txBody>
      </p:sp>
      <p:sp>
        <p:nvSpPr>
          <p:cNvPr id="6" name="TextBox 5"/>
          <p:cNvSpPr txBox="1"/>
          <p:nvPr/>
        </p:nvSpPr>
        <p:spPr>
          <a:xfrm>
            <a:off x="594360" y="1965960"/>
            <a:ext cx="2514600" cy="265176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ESP-SDR capture (pinned IDF)</a:t>
            </a:r>
            <a:endParaRPr sz="1200"/>
          </a:p>
          <a:p>
            <a:pPr marL="201168" indent="-201168" algn="l">
              <a:spcAft>
                <a:spcPts val="500"/>
              </a:spcAft>
              <a:buFont typeface="Arial"/>
              <a:buChar char="•"/>
            </a:pPr>
            <a:r>
              <a:rPr sz="1200" b="0" i="0">
                <a:solidFill>
                  <a:srgbClr val="5B6776"/>
                </a:solidFill>
                <a:latin typeface="Calibri"/>
              </a:rPr>
              <a:t>fixed gain, RF tuning</a:t>
            </a:r>
            <a:endParaRPr sz="1200"/>
          </a:p>
          <a:p>
            <a:pPr marL="201168" indent="-201168" algn="l">
              <a:spcAft>
                <a:spcPts val="500"/>
              </a:spcAft>
              <a:buFont typeface="Arial"/>
              <a:buChar char="•"/>
            </a:pPr>
            <a:r>
              <a:rPr sz="1200" b="0" i="0">
                <a:solidFill>
                  <a:srgbClr val="5B6776"/>
                </a:solidFill>
                <a:latin typeface="Calibri"/>
              </a:rPr>
              <a:t>trigger input, READY</a:t>
            </a:r>
            <a:endParaRPr sz="1200"/>
          </a:p>
          <a:p>
            <a:pPr marL="201168" indent="-201168" algn="l">
              <a:spcAft>
                <a:spcPts val="500"/>
              </a:spcAft>
              <a:buFont typeface="Arial"/>
              <a:buChar char="•"/>
            </a:pPr>
            <a:r>
              <a:rPr sz="1200" b="0" i="0">
                <a:solidFill>
                  <a:srgbClr val="5B6776"/>
                </a:solidFill>
                <a:latin typeface="Calibri"/>
              </a:rPr>
              <a:t>pack IQ8 / IQ10</a:t>
            </a:r>
            <a:endParaRPr sz="1200"/>
          </a:p>
          <a:p>
            <a:pPr marL="201168" indent="-201168" algn="l">
              <a:spcAft>
                <a:spcPts val="500"/>
              </a:spcAft>
              <a:buFont typeface="Arial"/>
              <a:buChar char="•"/>
            </a:pPr>
            <a:r>
              <a:rPr sz="1200" b="0" i="0">
                <a:solidFill>
                  <a:srgbClr val="5B6776"/>
                </a:solidFill>
                <a:latin typeface="Calibri"/>
              </a:rPr>
              <a:t>PARLIO TX by GDMA</a:t>
            </a:r>
            <a:endParaRPr sz="1200"/>
          </a:p>
          <a:p>
            <a:pPr marL="201168" indent="-201168" algn="l">
              <a:spcAft>
                <a:spcPts val="500"/>
              </a:spcAft>
              <a:buFont typeface="Arial"/>
              <a:buChar char="•"/>
            </a:pPr>
            <a:r>
              <a:rPr sz="1200" b="0" i="0">
                <a:solidFill>
                  <a:srgbClr val="5B6776"/>
                </a:solidFill>
                <a:latin typeface="Calibri"/>
              </a:rPr>
              <a:t>frame header: sync, ID, counters</a:t>
            </a:r>
            <a:endParaRPr sz="1200"/>
          </a:p>
        </p:txBody>
      </p:sp>
      <p:cxnSp>
        <p:nvCxnSpPr>
          <p:cNvPr id="7" name="Connector 6"/>
          <p:cNvCxnSpPr/>
          <p:nvPr/>
        </p:nvCxnSpPr>
        <p:spPr>
          <a:xfrm>
            <a:off x="3154680" y="1577340"/>
            <a:ext cx="219456" cy="0"/>
          </a:xfrm>
          <a:prstGeom prst="line">
            <a:avLst/>
          </a:prstGeom>
          <a:ln w="1270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374136" y="1325880"/>
            <a:ext cx="2606040" cy="502920"/>
          </a:xfrm>
          <a:prstGeom prst="rect">
            <a:avLst/>
          </a:prstGeom>
          <a:solidFill>
            <a:srgbClr val="F3F5F7"/>
          </a:solidFill>
          <a:ln w="12700">
            <a:solidFill>
              <a:srgbClr val="1D273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300" b="0" i="0">
                <a:solidFill>
                  <a:srgbClr val="1D2733"/>
                </a:solidFill>
                <a:latin typeface="Calibri"/>
              </a:rPr>
              <a:t>ESP32-S31 firmware</a:t>
            </a:r>
            <a:endParaRPr sz="1300"/>
          </a:p>
        </p:txBody>
      </p:sp>
      <p:sp>
        <p:nvSpPr>
          <p:cNvPr id="9" name="TextBox 8"/>
          <p:cNvSpPr txBox="1"/>
          <p:nvPr/>
        </p:nvSpPr>
        <p:spPr>
          <a:xfrm>
            <a:off x="3419856" y="1965960"/>
            <a:ext cx="2514600" cy="265176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16-bit PARLIO RX by DMA</a:t>
            </a:r>
            <a:endParaRPr sz="1200"/>
          </a:p>
          <a:p>
            <a:pPr marL="201168" indent="-201168" algn="l">
              <a:spcAft>
                <a:spcPts val="500"/>
              </a:spcAft>
              <a:buFont typeface="Arial"/>
              <a:buChar char="•"/>
            </a:pPr>
            <a:r>
              <a:rPr sz="1200" b="0" i="0">
                <a:solidFill>
                  <a:srgbClr val="5B6776"/>
                </a:solidFill>
                <a:latin typeface="Calibri"/>
              </a:rPr>
              <a:t>lane alignment check</a:t>
            </a:r>
            <a:endParaRPr sz="1200"/>
          </a:p>
          <a:p>
            <a:pPr marL="201168" indent="-201168" algn="l">
              <a:spcAft>
                <a:spcPts val="500"/>
              </a:spcAft>
              <a:buFont typeface="Arial"/>
              <a:buChar char="•"/>
            </a:pPr>
            <a:r>
              <a:rPr sz="1200" b="0" i="0">
                <a:solidFill>
                  <a:srgbClr val="5B6776"/>
                </a:solidFill>
                <a:latin typeface="Calibri"/>
              </a:rPr>
              <a:t>READY / GO, ANT / CAL</a:t>
            </a:r>
            <a:endParaRPr sz="1200"/>
          </a:p>
          <a:p>
            <a:pPr marL="201168" indent="-201168" algn="l">
              <a:spcAft>
                <a:spcPts val="500"/>
              </a:spcAft>
              <a:buFont typeface="Arial"/>
              <a:buChar char="•"/>
            </a:pPr>
            <a:r>
              <a:rPr sz="1200" b="0" i="0">
                <a:solidFill>
                  <a:srgbClr val="5B6776"/>
                </a:solidFill>
                <a:latin typeface="Calibri"/>
              </a:rPr>
              <a:t>UDP packetization</a:t>
            </a:r>
            <a:endParaRPr sz="1200"/>
          </a:p>
          <a:p>
            <a:pPr marL="201168" indent="-201168" algn="l">
              <a:spcAft>
                <a:spcPts val="500"/>
              </a:spcAft>
              <a:buFont typeface="Arial"/>
              <a:buChar char="•"/>
            </a:pPr>
            <a:r>
              <a:rPr sz="1200" b="0" i="0">
                <a:solidFill>
                  <a:srgbClr val="5B6776"/>
                </a:solidFill>
                <a:latin typeface="Calibri"/>
              </a:rPr>
              <a:t>PTP timestamps</a:t>
            </a:r>
            <a:endParaRPr sz="1200"/>
          </a:p>
          <a:p>
            <a:pPr marL="201168" indent="-201168" algn="l">
              <a:spcAft>
                <a:spcPts val="500"/>
              </a:spcAft>
              <a:buFont typeface="Arial"/>
              <a:buChar char="•"/>
            </a:pPr>
            <a:r>
              <a:rPr sz="1200" b="0" i="0">
                <a:solidFill>
                  <a:srgbClr val="5B6776"/>
                </a:solidFill>
                <a:latin typeface="Calibri"/>
              </a:rPr>
              <a:t>control API</a:t>
            </a:r>
            <a:endParaRPr sz="1200"/>
          </a:p>
        </p:txBody>
      </p:sp>
      <p:cxnSp>
        <p:nvCxnSpPr>
          <p:cNvPr id="10" name="Connector 9"/>
          <p:cNvCxnSpPr/>
          <p:nvPr/>
        </p:nvCxnSpPr>
        <p:spPr>
          <a:xfrm>
            <a:off x="5980176" y="1577340"/>
            <a:ext cx="219456" cy="0"/>
          </a:xfrm>
          <a:prstGeom prst="line">
            <a:avLst/>
          </a:prstGeom>
          <a:ln w="1270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199631" y="1325880"/>
            <a:ext cx="2606040" cy="502920"/>
          </a:xfrm>
          <a:prstGeom prst="rect">
            <a:avLst/>
          </a:prstGeom>
          <a:solidFill>
            <a:srgbClr val="FFFFFF"/>
          </a:solidFill>
          <a:ln w="12700">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300" b="0" i="0">
                <a:solidFill>
                  <a:srgbClr val="1D2733"/>
                </a:solidFill>
                <a:latin typeface="Calibri"/>
              </a:rPr>
              <a:t>Host</a:t>
            </a:r>
            <a:endParaRPr sz="1300"/>
          </a:p>
        </p:txBody>
      </p:sp>
      <p:sp>
        <p:nvSpPr>
          <p:cNvPr id="12" name="TextBox 11"/>
          <p:cNvSpPr txBox="1"/>
          <p:nvPr/>
        </p:nvSpPr>
        <p:spPr>
          <a:xfrm>
            <a:off x="6245351" y="1965960"/>
            <a:ext cx="2514600" cy="265176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two GbE capture threads</a:t>
            </a:r>
            <a:endParaRPr sz="1200"/>
          </a:p>
          <a:p>
            <a:pPr marL="201168" indent="-201168" algn="l">
              <a:spcAft>
                <a:spcPts val="500"/>
              </a:spcAft>
              <a:buFont typeface="Arial"/>
              <a:buChar char="•"/>
            </a:pPr>
            <a:r>
              <a:rPr sz="1200" b="0" i="0">
                <a:solidFill>
                  <a:srgbClr val="5B6776"/>
                </a:solidFill>
                <a:latin typeface="Calibri"/>
              </a:rPr>
              <a:t>bit de-interleaving (NumPy)</a:t>
            </a:r>
            <a:endParaRPr sz="1200"/>
          </a:p>
          <a:p>
            <a:pPr marL="201168" indent="-201168" algn="l">
              <a:spcAft>
                <a:spcPts val="500"/>
              </a:spcAft>
              <a:buFont typeface="Arial"/>
              <a:buChar char="•"/>
            </a:pPr>
            <a:r>
              <a:rPr sz="1200" b="0" i="0">
                <a:solidFill>
                  <a:srgbClr val="5B6776"/>
                </a:solidFill>
                <a:latin typeface="Calibri"/>
              </a:rPr>
              <a:t>frame / sequence checks</a:t>
            </a:r>
            <a:endParaRPr sz="1200"/>
          </a:p>
          <a:p>
            <a:pPr marL="201168" indent="-201168" algn="l">
              <a:spcAft>
                <a:spcPts val="500"/>
              </a:spcAft>
              <a:buFont typeface="Arial"/>
              <a:buChar char="•"/>
            </a:pPr>
            <a:r>
              <a:rPr sz="1200" b="0" i="0">
                <a:solidFill>
                  <a:srgbClr val="5B6776"/>
                </a:solidFill>
                <a:latin typeface="Calibri"/>
              </a:rPr>
              <a:t>calibration (φₖ, τₖ per bin)</a:t>
            </a:r>
            <a:endParaRPr sz="1200"/>
          </a:p>
          <a:p>
            <a:pPr marL="201168" indent="-201168" algn="l">
              <a:spcAft>
                <a:spcPts val="500"/>
              </a:spcAft>
              <a:buFont typeface="Arial"/>
              <a:buChar char="•"/>
            </a:pPr>
            <a:r>
              <a:rPr sz="1200" b="0" i="0">
                <a:solidFill>
                  <a:srgbClr val="5B6776"/>
                </a:solidFill>
                <a:latin typeface="Calibri"/>
              </a:rPr>
              <a:t>beamforming, MUSIC, radar</a:t>
            </a:r>
            <a:endParaRPr sz="1200"/>
          </a:p>
          <a:p>
            <a:pPr marL="201168" indent="-201168" algn="l">
              <a:spcAft>
                <a:spcPts val="500"/>
              </a:spcAft>
              <a:buFont typeface="Arial"/>
              <a:buChar char="•"/>
            </a:pPr>
            <a:r>
              <a:rPr sz="1200" b="0" i="0">
                <a:solidFill>
                  <a:srgbClr val="5B6776"/>
                </a:solidFill>
                <a:latin typeface="Calibri"/>
              </a:rPr>
              <a:t>Python, SciPy; MATLAB optional</a:t>
            </a:r>
            <a:endParaRPr sz="1200"/>
          </a:p>
        </p:txBody>
      </p:sp>
      <p:cxnSp>
        <p:nvCxnSpPr>
          <p:cNvPr id="13" name="Connector 12"/>
          <p:cNvCxnSpPr/>
          <p:nvPr/>
        </p:nvCxnSpPr>
        <p:spPr>
          <a:xfrm>
            <a:off x="8805672" y="1577340"/>
            <a:ext cx="219456" cy="0"/>
          </a:xfrm>
          <a:prstGeom prst="line">
            <a:avLst/>
          </a:prstGeom>
          <a:ln w="12700">
            <a:solidFill>
              <a:srgbClr val="1D2733"/>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9025128" y="1325880"/>
            <a:ext cx="2606040" cy="502920"/>
          </a:xfrm>
          <a:prstGeom prst="rect">
            <a:avLst/>
          </a:prstGeom>
          <a:solidFill>
            <a:srgbClr val="FFFFFF"/>
          </a:solidFill>
          <a:ln w="12700">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300" b="0" i="0">
                <a:solidFill>
                  <a:srgbClr val="1D2733"/>
                </a:solidFill>
                <a:latin typeface="Calibri"/>
              </a:rPr>
              <a:t>Later</a:t>
            </a:r>
            <a:endParaRPr sz="1300"/>
          </a:p>
        </p:txBody>
      </p:sp>
      <p:sp>
        <p:nvSpPr>
          <p:cNvPr id="15" name="TextBox 14"/>
          <p:cNvSpPr txBox="1"/>
          <p:nvPr/>
        </p:nvSpPr>
        <p:spPr>
          <a:xfrm>
            <a:off x="9070848" y="1965960"/>
            <a:ext cx="2514600" cy="2651760"/>
          </a:xfrm>
          <a:prstGeom prst="rect">
            <a:avLst/>
          </a:prstGeom>
          <a:noFill/>
        </p:spPr>
        <p:txBody>
          <a:bodyPr wrap="square" lIns="0" tIns="0" rIns="0" bIns="0" anchor="t">
            <a:spAutoFit/>
          </a:bodyPr>
          <a:lstStyle/>
          <a:p>
            <a:pPr marL="201168" indent="-201168" algn="l">
              <a:spcAft>
                <a:spcPts val="500"/>
              </a:spcAft>
              <a:buFont typeface="Arial"/>
              <a:buChar char="•"/>
            </a:pPr>
            <a:r>
              <a:rPr sz="1200" b="0" i="0">
                <a:solidFill>
                  <a:srgbClr val="5B6776"/>
                </a:solidFill>
                <a:latin typeface="Calibri"/>
              </a:rPr>
              <a:t>reduction on the S31</a:t>
            </a:r>
            <a:endParaRPr sz="1200"/>
          </a:p>
          <a:p>
            <a:pPr marL="201168" indent="-201168" algn="l">
              <a:spcAft>
                <a:spcPts val="500"/>
              </a:spcAft>
              <a:buFont typeface="Arial"/>
              <a:buChar char="•"/>
            </a:pPr>
            <a:r>
              <a:rPr sz="1200" b="0" i="0">
                <a:solidFill>
                  <a:srgbClr val="5B6776"/>
                </a:solidFill>
                <a:latin typeface="Calibri"/>
              </a:rPr>
              <a:t>FPGA preprocessing (Plan B)</a:t>
            </a:r>
            <a:endParaRPr sz="1200"/>
          </a:p>
          <a:p>
            <a:pPr marL="201168" indent="-201168" algn="l">
              <a:spcAft>
                <a:spcPts val="500"/>
              </a:spcAft>
              <a:buFont typeface="Arial"/>
              <a:buChar char="•"/>
            </a:pPr>
            <a:r>
              <a:rPr sz="1200" b="0" i="0">
                <a:solidFill>
                  <a:srgbClr val="5B6776"/>
                </a:solidFill>
                <a:latin typeface="Calibri"/>
              </a:rPr>
              <a:t>GPU (CuPy) for real-time</a:t>
            </a:r>
            <a:endParaRPr sz="1200"/>
          </a:p>
          <a:p>
            <a:pPr marL="201168" indent="-201168" algn="l">
              <a:spcAft>
                <a:spcPts val="500"/>
              </a:spcAft>
              <a:buFont typeface="Arial"/>
              <a:buChar char="•"/>
            </a:pPr>
            <a:r>
              <a:rPr sz="1200" b="0" i="0">
                <a:solidFill>
                  <a:srgbClr val="5B6776"/>
                </a:solidFill>
                <a:latin typeface="Calibri"/>
              </a:rPr>
              <a:t>GNU Radio blocks</a:t>
            </a:r>
            <a:endParaRPr sz="1200"/>
          </a:p>
          <a:p>
            <a:pPr marL="201168" indent="-201168" algn="l">
              <a:spcAft>
                <a:spcPts val="500"/>
              </a:spcAft>
              <a:buFont typeface="Arial"/>
              <a:buChar char="•"/>
            </a:pPr>
            <a:r>
              <a:rPr sz="1200" b="0" i="0">
                <a:solidFill>
                  <a:srgbClr val="5B6776"/>
                </a:solidFill>
                <a:latin typeface="Calibri"/>
              </a:rPr>
              <a:t>dataset publishing</a:t>
            </a:r>
            <a:endParaRPr sz="1200"/>
          </a:p>
          <a:p>
            <a:pPr marL="201168" indent="-201168" algn="l">
              <a:spcAft>
                <a:spcPts val="500"/>
              </a:spcAft>
              <a:buFont typeface="Arial"/>
              <a:buChar char="•"/>
            </a:pPr>
            <a:endParaRPr sz="1200"/>
          </a:p>
        </p:txBody>
      </p:sp>
      <p:cxnSp>
        <p:nvCxnSpPr>
          <p:cNvPr id="16" name="Connector 15"/>
          <p:cNvCxnSpPr/>
          <p:nvPr/>
        </p:nvCxnSpPr>
        <p:spPr>
          <a:xfrm>
            <a:off x="548640" y="4343400"/>
            <a:ext cx="110916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526280"/>
            <a:ext cx="2743200" cy="274320"/>
          </a:xfrm>
          <a:prstGeom prst="rect">
            <a:avLst/>
          </a:prstGeom>
          <a:noFill/>
        </p:spPr>
        <p:txBody>
          <a:bodyPr wrap="square" lIns="0" tIns="0" rIns="0" bIns="0" anchor="t">
            <a:spAutoFit/>
          </a:bodyPr>
          <a:lstStyle/>
          <a:p>
            <a:pPr algn="l">
              <a:buNone/>
            </a:pPr>
            <a:r>
              <a:rPr sz="1300" b="0" i="0">
                <a:solidFill>
                  <a:srgbClr val="1D2733"/>
                </a:solidFill>
                <a:latin typeface="Calibri"/>
              </a:rPr>
              <a:t>Visualization</a:t>
            </a:r>
            <a:endParaRPr sz="1300"/>
          </a:p>
        </p:txBody>
      </p:sp>
      <p:sp>
        <p:nvSpPr>
          <p:cNvPr id="18" name="Rectangle 17"/>
          <p:cNvSpPr/>
          <p:nvPr/>
        </p:nvSpPr>
        <p:spPr>
          <a:xfrm>
            <a:off x="548640" y="4937760"/>
            <a:ext cx="1719072" cy="50292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beam pattern</a:t>
            </a:r>
            <a:endParaRPr sz="1100"/>
          </a:p>
        </p:txBody>
      </p:sp>
      <p:sp>
        <p:nvSpPr>
          <p:cNvPr id="19" name="Rectangle 18"/>
          <p:cNvSpPr/>
          <p:nvPr/>
        </p:nvSpPr>
        <p:spPr>
          <a:xfrm>
            <a:off x="2404872" y="4937760"/>
            <a:ext cx="1719072" cy="50292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AoA / MUSIC spectrum</a:t>
            </a:r>
            <a:endParaRPr sz="1100"/>
          </a:p>
        </p:txBody>
      </p:sp>
      <p:sp>
        <p:nvSpPr>
          <p:cNvPr id="20" name="Rectangle 19"/>
          <p:cNvSpPr/>
          <p:nvPr/>
        </p:nvSpPr>
        <p:spPr>
          <a:xfrm>
            <a:off x="4261103" y="4937760"/>
            <a:ext cx="1719072" cy="50292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spectrogram</a:t>
            </a:r>
            <a:endParaRPr sz="1100"/>
          </a:p>
        </p:txBody>
      </p:sp>
      <p:sp>
        <p:nvSpPr>
          <p:cNvPr id="21" name="Rectangle 20"/>
          <p:cNvSpPr/>
          <p:nvPr/>
        </p:nvSpPr>
        <p:spPr>
          <a:xfrm>
            <a:off x="6117336" y="4937760"/>
            <a:ext cx="1719072" cy="50292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range–Doppler map</a:t>
            </a:r>
            <a:endParaRPr sz="1100"/>
          </a:p>
        </p:txBody>
      </p:sp>
      <p:sp>
        <p:nvSpPr>
          <p:cNvPr id="22" name="Rectangle 21"/>
          <p:cNvSpPr/>
          <p:nvPr/>
        </p:nvSpPr>
        <p:spPr>
          <a:xfrm>
            <a:off x="7973567" y="4937760"/>
            <a:ext cx="1719072" cy="50292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per-element phase vs time</a:t>
            </a:r>
            <a:endParaRPr sz="1100"/>
          </a:p>
        </p:txBody>
      </p:sp>
      <p:sp>
        <p:nvSpPr>
          <p:cNvPr id="23" name="Rectangle 22"/>
          <p:cNvSpPr/>
          <p:nvPr/>
        </p:nvSpPr>
        <p:spPr>
          <a:xfrm>
            <a:off x="9829799" y="4937760"/>
            <a:ext cx="1719072" cy="502920"/>
          </a:xfrm>
          <a:prstGeom prst="rect">
            <a:avLst/>
          </a:prstGeom>
          <a:solidFill>
            <a:srgbClr val="FFFFFF"/>
          </a:solidFill>
          <a:ln w="9525">
            <a:solidFill>
              <a:srgbClr val="D3D9D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buNone/>
            </a:pPr>
            <a:r>
              <a:rPr sz="1100" b="0" i="0">
                <a:solidFill>
                  <a:srgbClr val="1D2733"/>
                </a:solidFill>
                <a:latin typeface="Calibri"/>
              </a:rPr>
              <a:t>calibration health</a:t>
            </a:r>
            <a:endParaRPr sz="1100"/>
          </a:p>
        </p:txBody>
      </p:sp>
      <p:sp>
        <p:nvSpPr>
          <p:cNvPr id="24" name="TextBox 23"/>
          <p:cNvSpPr txBox="1"/>
          <p:nvPr/>
        </p:nvSpPr>
        <p:spPr>
          <a:xfrm>
            <a:off x="548640" y="5623560"/>
            <a:ext cx="10972800" cy="274320"/>
          </a:xfrm>
          <a:prstGeom prst="rect">
            <a:avLst/>
          </a:prstGeom>
          <a:noFill/>
        </p:spPr>
        <p:txBody>
          <a:bodyPr wrap="square" lIns="0" tIns="0" rIns="0" bIns="0" anchor="t">
            <a:spAutoFit/>
          </a:bodyPr>
          <a:lstStyle/>
          <a:p>
            <a:pPr algn="l">
              <a:buNone/>
            </a:pPr>
            <a:r>
              <a:rPr sz="1100" b="0" i="0">
                <a:solidFill>
                  <a:srgbClr val="5B6776"/>
                </a:solidFill>
                <a:latin typeface="Calibri"/>
              </a:rPr>
              <a:t>Every captured snapshot is stored with its calibration state, so results can be re-processed offline.</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Critical bench experiments before the tile PCB</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Status = what is already stated or shown in a primary source, not on our hardware. Evidence: ESP-SDR source and docs, ESP32-C5 / S31 datasheets, ESPARGOS papers.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30</a:t>
            </a:r>
            <a:endParaRPr sz="1000"/>
          </a:p>
        </p:txBody>
      </p:sp>
      <p:graphicFrame>
        <p:nvGraphicFramePr>
          <p:cNvPr id="5" name="Table 4"/>
          <p:cNvGraphicFramePr>
            <a:graphicFrameLocks noGrp="1"/>
          </p:cNvGraphicFramePr>
          <p:nvPr/>
        </p:nvGraphicFramePr>
        <p:xfrm>
          <a:off x="548640" y="1280160"/>
          <a:ext cx="11091672" cy="4480560"/>
        </p:xfrm>
        <a:graphic>
          <a:graphicData uri="http://schemas.openxmlformats.org/drawingml/2006/table">
            <a:tbl>
              <a:tblPr>
                <a:tableStyleId>{2D5ABB26-0587-4C30-8999-92F81FD0307C}</a:tableStyleId>
              </a:tblPr>
              <a:tblGrid>
                <a:gridCol w="502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4370832">
                  <a:extLst>
                    <a:ext uri="{9D8B030D-6E8A-4147-A177-3AD203B41FA5}">
                      <a16:colId xmlns:a16="http://schemas.microsoft.com/office/drawing/2014/main" val="20003"/>
                    </a:ext>
                  </a:extLst>
                </a:gridCol>
              </a:tblGrid>
              <a:tr h="384048">
                <a:tc>
                  <a:txBody>
                    <a:bodyPr/>
                    <a:lstStyle/>
                    <a:p>
                      <a:pPr algn="l">
                        <a:buNone/>
                      </a:pP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Test</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What it proves</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Evidence today</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512064">
                <a:tc>
                  <a:txBody>
                    <a:bodyPr/>
                    <a:lstStyle/>
                    <a:p>
                      <a:pPr algn="l">
                        <a:buNone/>
                      </a:pP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raw IQ → GDMA → PARLIO TX</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 snapshot can leave the C5 without CPU copies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GDMA can address the ESP-SDR IQ bank; ESP-SDR packs IQ8 in place on the CPU; access while the modem owns the bank is unknown</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2 bit × 40 MHz from one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80 Mbit/s per element in practice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40 MHz is PARLIO's maximum clock; receiver samples on the falling edge (≈ 12.5 ns window)</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eight C5 PARLIO transmitters in lockstep</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Rev 1 needs no FPGA</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PARLIO has no ETM start; the reference manual's gated external clock suggests a clock-held start — untested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16-bit PARLIO RX at 40 MHz into the S31</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tile ingress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ESP-SDR S31: 16-lane PARLIO → GDMA ring at 40 MS/s, but fed internally with an internal sample clock — external pins + PCLK untested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S31 → GbE at ≈ 640 Mbit/s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tile egress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ESP-SDR: raw UDP frames at ≈ 687 Mbit/s, 600 s, 0 samples lost (one board, experimental)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shared 48 MHz into C5 XTAL_P</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frequency lock across elements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no C5 guidance; ESP32-S2 oscillator note, ESPARGOS at 40 MHz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RF phase repeatability: reset, retune, temperature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how often to calibrate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ESPARGOS: phase re-rolls at 2.4 GHz; C5 unmeasured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r h="512064">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snapshot synchronization on a wideband signal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real phase, delay and jitter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ESPARGOS One: ≤ 37.5 ns timestamp scatter (2.4 GHz, closed firmware)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8"/>
                  </a:ext>
                </a:extLst>
              </a:tr>
            </a:tbl>
          </a:graphicData>
        </a:graphic>
      </p:graphicFrame>
      <p:sp>
        <p:nvSpPr>
          <p:cNvPr id="6" name="status Open — needs bench test"/>
          <p:cNvSpPr/>
          <p:nvPr/>
        </p:nvSpPr>
        <p:spPr>
          <a:xfrm>
            <a:off x="731520" y="1851659"/>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atus Open — needs bench test"/>
          <p:cNvSpPr/>
          <p:nvPr/>
        </p:nvSpPr>
        <p:spPr>
          <a:xfrm>
            <a:off x="731520" y="2363724"/>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tus Open — needs bench test"/>
          <p:cNvSpPr/>
          <p:nvPr/>
        </p:nvSpPr>
        <p:spPr>
          <a:xfrm>
            <a:off x="731520" y="2875787"/>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atus Engineering inference"/>
          <p:cNvSpPr/>
          <p:nvPr/>
        </p:nvSpPr>
        <p:spPr>
          <a:xfrm>
            <a:off x="731520" y="3387852"/>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tus Confirmed"/>
          <p:cNvSpPr/>
          <p:nvPr/>
        </p:nvSpPr>
        <p:spPr>
          <a:xfrm>
            <a:off x="731520" y="3899916"/>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atus Open — needs bench test"/>
          <p:cNvSpPr/>
          <p:nvPr/>
        </p:nvSpPr>
        <p:spPr>
          <a:xfrm>
            <a:off x="731520" y="4411980"/>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atus Open — needs bench test"/>
          <p:cNvSpPr/>
          <p:nvPr/>
        </p:nvSpPr>
        <p:spPr>
          <a:xfrm>
            <a:off x="731520" y="4924044"/>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atus Open — needs bench test"/>
          <p:cNvSpPr/>
          <p:nvPr/>
        </p:nvSpPr>
        <p:spPr>
          <a:xfrm>
            <a:off x="731520" y="543610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tatus Confirmed"/>
          <p:cNvSpPr/>
          <p:nvPr/>
        </p:nvSpPr>
        <p:spPr>
          <a:xfrm>
            <a:off x="562356" y="6094476"/>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6053328"/>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16" name="status Engineering inference"/>
          <p:cNvSpPr/>
          <p:nvPr/>
        </p:nvSpPr>
        <p:spPr>
          <a:xfrm>
            <a:off x="1548079" y="6094476"/>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35531" y="6053328"/>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18" name="status Open — needs bench test"/>
          <p:cNvSpPr/>
          <p:nvPr/>
        </p:nvSpPr>
        <p:spPr>
          <a:xfrm>
            <a:off x="3214116" y="6094476"/>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01568" y="6053328"/>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Development sequence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Each step ends with a measurable result; nothing larger is built until the previous step passes.</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31</a:t>
            </a:r>
            <a:endParaRPr sz="1000"/>
          </a:p>
        </p:txBody>
      </p:sp>
      <p:sp>
        <p:nvSpPr>
          <p:cNvPr id="5" name="Rectangle 4"/>
          <p:cNvSpPr/>
          <p:nvPr/>
        </p:nvSpPr>
        <p:spPr>
          <a:xfrm>
            <a:off x="548640" y="1325880"/>
            <a:ext cx="1719072" cy="685800"/>
          </a:xfrm>
          <a:prstGeom prst="rect">
            <a:avLst/>
          </a:prstGeom>
          <a:solidFill>
            <a:srgbClr val="E8F0F8"/>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buNone/>
            </a:pPr>
            <a:r>
              <a:rPr sz="1300" b="0" i="0">
                <a:solidFill>
                  <a:srgbClr val="1F5C99"/>
                </a:solidFill>
                <a:latin typeface="Calibri"/>
              </a:rPr>
              <a:t>1  </a:t>
            </a:r>
            <a:r>
              <a:rPr sz="1300" b="0" i="0">
                <a:solidFill>
                  <a:srgbClr val="1D2733"/>
                </a:solidFill>
                <a:latin typeface="Calibri"/>
              </a:rPr>
              <a:t>One C5</a:t>
            </a:r>
            <a:endParaRPr sz="1300"/>
          </a:p>
        </p:txBody>
      </p:sp>
      <p:sp>
        <p:nvSpPr>
          <p:cNvPr id="6" name="TextBox 5"/>
          <p:cNvSpPr txBox="1"/>
          <p:nvPr/>
        </p:nvSpPr>
        <p:spPr>
          <a:xfrm>
            <a:off x="548640" y="2121408"/>
            <a:ext cx="1719072" cy="2011680"/>
          </a:xfrm>
          <a:prstGeom prst="rect">
            <a:avLst/>
          </a:prstGeom>
          <a:noFill/>
        </p:spPr>
        <p:txBody>
          <a:bodyPr wrap="square" lIns="0" tIns="0" rIns="0" bIns="0" anchor="t">
            <a:spAutoFit/>
          </a:bodyPr>
          <a:lstStyle/>
          <a:p>
            <a:pPr marL="201168" indent="-201168" algn="l">
              <a:spcAft>
                <a:spcPts val="300"/>
              </a:spcAft>
              <a:buFont typeface="Arial"/>
              <a:buChar char="•"/>
            </a:pPr>
            <a:r>
              <a:rPr sz="1200" b="0" i="0">
                <a:solidFill>
                  <a:srgbClr val="5B6776"/>
                </a:solidFill>
                <a:latin typeface="Calibri"/>
              </a:rPr>
              <a:t>run ESP-SDR</a:t>
            </a:r>
            <a:endParaRPr sz="1200"/>
          </a:p>
          <a:p>
            <a:pPr marL="201168" indent="-201168" algn="l">
              <a:spcAft>
                <a:spcPts val="300"/>
              </a:spcAft>
              <a:buFont typeface="Arial"/>
              <a:buChar char="•"/>
            </a:pPr>
            <a:r>
              <a:rPr sz="1200" b="0" i="0">
                <a:solidFill>
                  <a:srgbClr val="5B6776"/>
                </a:solidFill>
                <a:latin typeface="Calibri"/>
              </a:rPr>
              <a:t>characterise raw IQ</a:t>
            </a:r>
            <a:endParaRPr sz="1200"/>
          </a:p>
          <a:p>
            <a:pPr marL="201168" indent="-201168" algn="l">
              <a:spcAft>
                <a:spcPts val="300"/>
              </a:spcAft>
              <a:buFont typeface="Arial"/>
              <a:buChar char="•"/>
            </a:pPr>
            <a:r>
              <a:rPr sz="1200" b="0" i="0">
                <a:solidFill>
                  <a:srgbClr val="5B6776"/>
                </a:solidFill>
                <a:latin typeface="Calibri"/>
              </a:rPr>
              <a:t>inspect memory / DMA path</a:t>
            </a:r>
            <a:endParaRPr sz="1200"/>
          </a:p>
          <a:p>
            <a:pPr marL="201168" indent="-201168" algn="l">
              <a:spcAft>
                <a:spcPts val="300"/>
              </a:spcAft>
              <a:buFont typeface="Arial"/>
              <a:buChar char="•"/>
            </a:pPr>
            <a:r>
              <a:rPr sz="1200" b="0" i="0">
                <a:solidFill>
                  <a:srgbClr val="5B6776"/>
                </a:solidFill>
                <a:latin typeface="Calibri"/>
              </a:rPr>
              <a:t>implement PARLIO export</a:t>
            </a:r>
            <a:endParaRPr sz="1200"/>
          </a:p>
        </p:txBody>
      </p:sp>
      <p:cxnSp>
        <p:nvCxnSpPr>
          <p:cNvPr id="7" name="Connector 6"/>
          <p:cNvCxnSpPr/>
          <p:nvPr/>
        </p:nvCxnSpPr>
        <p:spPr>
          <a:xfrm>
            <a:off x="548640" y="4160520"/>
            <a:ext cx="17190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4251960"/>
            <a:ext cx="1719072" cy="274320"/>
          </a:xfrm>
          <a:prstGeom prst="rect">
            <a:avLst/>
          </a:prstGeom>
          <a:noFill/>
        </p:spPr>
        <p:txBody>
          <a:bodyPr wrap="square" lIns="0" tIns="0" rIns="0" bIns="0" anchor="t">
            <a:spAutoFit/>
          </a:bodyPr>
          <a:lstStyle/>
          <a:p>
            <a:pPr algn="l">
              <a:buNone/>
            </a:pPr>
            <a:r>
              <a:rPr sz="1200" b="0" i="0">
                <a:solidFill>
                  <a:srgbClr val="A86A0B"/>
                </a:solidFill>
                <a:latin typeface="Calibri"/>
              </a:rPr>
              <a:t>Done when</a:t>
            </a:r>
            <a:endParaRPr sz="1200"/>
          </a:p>
        </p:txBody>
      </p:sp>
      <p:sp>
        <p:nvSpPr>
          <p:cNvPr id="9" name="TextBox 8"/>
          <p:cNvSpPr txBox="1"/>
          <p:nvPr/>
        </p:nvSpPr>
        <p:spPr>
          <a:xfrm>
            <a:off x="548640" y="4553712"/>
            <a:ext cx="1719072" cy="1280160"/>
          </a:xfrm>
          <a:prstGeom prst="rect">
            <a:avLst/>
          </a:prstGeom>
          <a:noFill/>
        </p:spPr>
        <p:txBody>
          <a:bodyPr wrap="square" lIns="0" tIns="0" rIns="0" bIns="0" anchor="t">
            <a:spAutoFit/>
          </a:bodyPr>
          <a:lstStyle/>
          <a:p>
            <a:pPr algn="l">
              <a:buNone/>
            </a:pPr>
            <a:r>
              <a:rPr sz="1200" b="0" i="0">
                <a:solidFill>
                  <a:srgbClr val="1D2733"/>
                </a:solidFill>
                <a:latin typeface="Calibri"/>
              </a:rPr>
              <a:t>a snapshot leaves over PARLIO, bit-exact</a:t>
            </a:r>
            <a:endParaRPr sz="1200"/>
          </a:p>
        </p:txBody>
      </p:sp>
      <p:sp>
        <p:nvSpPr>
          <p:cNvPr id="10" name="Rectangle 9"/>
          <p:cNvSpPr/>
          <p:nvPr/>
        </p:nvSpPr>
        <p:spPr>
          <a:xfrm>
            <a:off x="2386584" y="1325880"/>
            <a:ext cx="1719072" cy="685800"/>
          </a:xfrm>
          <a:prstGeom prst="rect">
            <a:avLst/>
          </a:prstGeom>
          <a:solidFill>
            <a:srgbClr val="E8F0F8"/>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buNone/>
            </a:pPr>
            <a:r>
              <a:rPr sz="1300" b="0" i="0">
                <a:solidFill>
                  <a:srgbClr val="1F5C99"/>
                </a:solidFill>
                <a:latin typeface="Calibri"/>
              </a:rPr>
              <a:t>2  </a:t>
            </a:r>
            <a:r>
              <a:rPr sz="1300" b="0" i="0">
                <a:solidFill>
                  <a:srgbClr val="1D2733"/>
                </a:solidFill>
                <a:latin typeface="Calibri"/>
              </a:rPr>
              <a:t>C5 + S31</a:t>
            </a:r>
            <a:endParaRPr sz="1300"/>
          </a:p>
        </p:txBody>
      </p:sp>
      <p:sp>
        <p:nvSpPr>
          <p:cNvPr id="11" name="TextBox 10"/>
          <p:cNvSpPr txBox="1"/>
          <p:nvPr/>
        </p:nvSpPr>
        <p:spPr>
          <a:xfrm>
            <a:off x="2386584" y="2121408"/>
            <a:ext cx="1719072" cy="2011680"/>
          </a:xfrm>
          <a:prstGeom prst="rect">
            <a:avLst/>
          </a:prstGeom>
          <a:noFill/>
        </p:spPr>
        <p:txBody>
          <a:bodyPr wrap="square" lIns="0" tIns="0" rIns="0" bIns="0" anchor="t">
            <a:spAutoFit/>
          </a:bodyPr>
          <a:lstStyle/>
          <a:p>
            <a:pPr marL="201168" indent="-201168" algn="l">
              <a:spcAft>
                <a:spcPts val="300"/>
              </a:spcAft>
              <a:buFont typeface="Arial"/>
              <a:buChar char="•"/>
            </a:pPr>
            <a:r>
              <a:rPr sz="1200" b="0" i="0">
                <a:solidFill>
                  <a:srgbClr val="5B6776"/>
                </a:solidFill>
                <a:latin typeface="Calibri"/>
              </a:rPr>
              <a:t>2-bit PARLIO, shared 40 MHz</a:t>
            </a:r>
            <a:endParaRPr sz="1200"/>
          </a:p>
          <a:p>
            <a:pPr marL="201168" indent="-201168" algn="l">
              <a:spcAft>
                <a:spcPts val="300"/>
              </a:spcAft>
              <a:buFont typeface="Arial"/>
              <a:buChar char="•"/>
            </a:pPr>
            <a:r>
              <a:rPr sz="1200" b="0" i="0">
                <a:solidFill>
                  <a:srgbClr val="5B6776"/>
                </a:solidFill>
                <a:latin typeface="Calibri"/>
              </a:rPr>
              <a:t>≈ 80 Mbit/s stream</a:t>
            </a:r>
            <a:endParaRPr sz="1200"/>
          </a:p>
          <a:p>
            <a:pPr marL="201168" indent="-201168" algn="l">
              <a:spcAft>
                <a:spcPts val="300"/>
              </a:spcAft>
              <a:buFont typeface="Arial"/>
              <a:buChar char="•"/>
            </a:pPr>
            <a:r>
              <a:rPr sz="1200" b="0" i="0">
                <a:solidFill>
                  <a:srgbClr val="5B6776"/>
                </a:solidFill>
                <a:latin typeface="Calibri"/>
              </a:rPr>
              <a:t>out over GbE</a:t>
            </a:r>
            <a:endParaRPr sz="1200"/>
          </a:p>
        </p:txBody>
      </p:sp>
      <p:cxnSp>
        <p:nvCxnSpPr>
          <p:cNvPr id="12" name="Connector 11"/>
          <p:cNvCxnSpPr/>
          <p:nvPr/>
        </p:nvCxnSpPr>
        <p:spPr>
          <a:xfrm>
            <a:off x="2386584" y="4160520"/>
            <a:ext cx="17190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86584" y="4251960"/>
            <a:ext cx="1719072" cy="274320"/>
          </a:xfrm>
          <a:prstGeom prst="rect">
            <a:avLst/>
          </a:prstGeom>
          <a:noFill/>
        </p:spPr>
        <p:txBody>
          <a:bodyPr wrap="square" lIns="0" tIns="0" rIns="0" bIns="0" anchor="t">
            <a:spAutoFit/>
          </a:bodyPr>
          <a:lstStyle/>
          <a:p>
            <a:pPr algn="l">
              <a:buNone/>
            </a:pPr>
            <a:r>
              <a:rPr sz="1200" b="0" i="0">
                <a:solidFill>
                  <a:srgbClr val="A86A0B"/>
                </a:solidFill>
                <a:latin typeface="Calibri"/>
              </a:rPr>
              <a:t>Done when</a:t>
            </a:r>
            <a:endParaRPr sz="1200"/>
          </a:p>
        </p:txBody>
      </p:sp>
      <p:sp>
        <p:nvSpPr>
          <p:cNvPr id="14" name="TextBox 13"/>
          <p:cNvSpPr txBox="1"/>
          <p:nvPr/>
        </p:nvSpPr>
        <p:spPr>
          <a:xfrm>
            <a:off x="2386584" y="4553712"/>
            <a:ext cx="1719072" cy="1280160"/>
          </a:xfrm>
          <a:prstGeom prst="rect">
            <a:avLst/>
          </a:prstGeom>
          <a:noFill/>
        </p:spPr>
        <p:txBody>
          <a:bodyPr wrap="square" lIns="0" tIns="0" rIns="0" bIns="0" anchor="t">
            <a:spAutoFit/>
          </a:bodyPr>
          <a:lstStyle/>
          <a:p>
            <a:pPr algn="l">
              <a:buNone/>
            </a:pPr>
            <a:r>
              <a:rPr sz="1200" b="0" i="0">
                <a:solidFill>
                  <a:srgbClr val="1D2733"/>
                </a:solidFill>
                <a:latin typeface="Calibri"/>
              </a:rPr>
              <a:t>80 Mbit/s to the PC for hours, no loss</a:t>
            </a:r>
            <a:endParaRPr sz="1200"/>
          </a:p>
        </p:txBody>
      </p:sp>
      <p:sp>
        <p:nvSpPr>
          <p:cNvPr id="15" name="Rectangle 14"/>
          <p:cNvSpPr/>
          <p:nvPr/>
        </p:nvSpPr>
        <p:spPr>
          <a:xfrm>
            <a:off x="4224527" y="1325880"/>
            <a:ext cx="1719072" cy="685800"/>
          </a:xfrm>
          <a:prstGeom prst="rect">
            <a:avLst/>
          </a:prstGeom>
          <a:solidFill>
            <a:srgbClr val="E8F0F8"/>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buNone/>
            </a:pPr>
            <a:r>
              <a:rPr sz="1300" b="0" i="0">
                <a:solidFill>
                  <a:srgbClr val="1F5C99"/>
                </a:solidFill>
                <a:latin typeface="Calibri"/>
              </a:rPr>
              <a:t>3  </a:t>
            </a:r>
            <a:r>
              <a:rPr sz="1300" b="0" i="0">
                <a:solidFill>
                  <a:srgbClr val="1D2733"/>
                </a:solidFill>
                <a:latin typeface="Calibri"/>
              </a:rPr>
              <a:t>Two C5s</a:t>
            </a:r>
            <a:endParaRPr sz="1300"/>
          </a:p>
        </p:txBody>
      </p:sp>
      <p:sp>
        <p:nvSpPr>
          <p:cNvPr id="16" name="TextBox 15"/>
          <p:cNvSpPr txBox="1"/>
          <p:nvPr/>
        </p:nvSpPr>
        <p:spPr>
          <a:xfrm>
            <a:off x="4224527" y="2121408"/>
            <a:ext cx="1719072" cy="2011680"/>
          </a:xfrm>
          <a:prstGeom prst="rect">
            <a:avLst/>
          </a:prstGeom>
          <a:noFill/>
        </p:spPr>
        <p:txBody>
          <a:bodyPr wrap="square" lIns="0" tIns="0" rIns="0" bIns="0" anchor="t">
            <a:spAutoFit/>
          </a:bodyPr>
          <a:lstStyle/>
          <a:p>
            <a:pPr marL="201168" indent="-201168" algn="l">
              <a:spcAft>
                <a:spcPts val="300"/>
              </a:spcAft>
              <a:buFont typeface="Arial"/>
              <a:buChar char="•"/>
            </a:pPr>
            <a:r>
              <a:rPr sz="1200" b="0" i="0">
                <a:solidFill>
                  <a:srgbClr val="5B6776"/>
                </a:solidFill>
                <a:latin typeface="Calibri"/>
              </a:rPr>
              <a:t>common 48 MHz reference</a:t>
            </a:r>
            <a:endParaRPr sz="1200"/>
          </a:p>
          <a:p>
            <a:pPr marL="201168" indent="-201168" algn="l">
              <a:spcAft>
                <a:spcPts val="300"/>
              </a:spcAft>
              <a:buFont typeface="Arial"/>
              <a:buChar char="•"/>
            </a:pPr>
            <a:r>
              <a:rPr sz="1200" b="0" i="0">
                <a:solidFill>
                  <a:srgbClr val="5B6776"/>
                </a:solidFill>
                <a:latin typeface="Calibri"/>
              </a:rPr>
              <a:t>common trigger</a:t>
            </a:r>
            <a:endParaRPr sz="1200"/>
          </a:p>
          <a:p>
            <a:pPr marL="201168" indent="-201168" algn="l">
              <a:spcAft>
                <a:spcPts val="300"/>
              </a:spcAft>
              <a:buFont typeface="Arial"/>
              <a:buChar char="•"/>
            </a:pPr>
            <a:r>
              <a:rPr sz="1200" b="0" i="0">
                <a:solidFill>
                  <a:srgbClr val="5B6776"/>
                </a:solidFill>
                <a:latin typeface="Calibri"/>
              </a:rPr>
              <a:t>phase calibration</a:t>
            </a:r>
            <a:endParaRPr sz="1200"/>
          </a:p>
          <a:p>
            <a:pPr marL="201168" indent="-201168" algn="l">
              <a:spcAft>
                <a:spcPts val="300"/>
              </a:spcAft>
              <a:buFont typeface="Arial"/>
              <a:buChar char="•"/>
            </a:pPr>
            <a:r>
              <a:rPr sz="1200" b="0" i="0">
                <a:solidFill>
                  <a:srgbClr val="5B6776"/>
                </a:solidFill>
                <a:latin typeface="Calibri"/>
              </a:rPr>
              <a:t>first AoA</a:t>
            </a:r>
            <a:endParaRPr sz="1200"/>
          </a:p>
        </p:txBody>
      </p:sp>
      <p:cxnSp>
        <p:nvCxnSpPr>
          <p:cNvPr id="17" name="Connector 16"/>
          <p:cNvCxnSpPr/>
          <p:nvPr/>
        </p:nvCxnSpPr>
        <p:spPr>
          <a:xfrm>
            <a:off x="4224527" y="4160520"/>
            <a:ext cx="17190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24527" y="4251960"/>
            <a:ext cx="1719072" cy="274320"/>
          </a:xfrm>
          <a:prstGeom prst="rect">
            <a:avLst/>
          </a:prstGeom>
          <a:noFill/>
        </p:spPr>
        <p:txBody>
          <a:bodyPr wrap="square" lIns="0" tIns="0" rIns="0" bIns="0" anchor="t">
            <a:spAutoFit/>
          </a:bodyPr>
          <a:lstStyle/>
          <a:p>
            <a:pPr algn="l">
              <a:buNone/>
            </a:pPr>
            <a:r>
              <a:rPr sz="1200" b="0" i="0">
                <a:solidFill>
                  <a:srgbClr val="A86A0B"/>
                </a:solidFill>
                <a:latin typeface="Calibri"/>
              </a:rPr>
              <a:t>Done when</a:t>
            </a:r>
            <a:endParaRPr sz="1200"/>
          </a:p>
        </p:txBody>
      </p:sp>
      <p:sp>
        <p:nvSpPr>
          <p:cNvPr id="19" name="TextBox 18"/>
          <p:cNvSpPr txBox="1"/>
          <p:nvPr/>
        </p:nvSpPr>
        <p:spPr>
          <a:xfrm>
            <a:off x="4224527" y="4553712"/>
            <a:ext cx="1719072" cy="1280160"/>
          </a:xfrm>
          <a:prstGeom prst="rect">
            <a:avLst/>
          </a:prstGeom>
          <a:noFill/>
        </p:spPr>
        <p:txBody>
          <a:bodyPr wrap="square" lIns="0" tIns="0" rIns="0" bIns="0" anchor="t">
            <a:spAutoFit/>
          </a:bodyPr>
          <a:lstStyle/>
          <a:p>
            <a:pPr algn="l">
              <a:buNone/>
            </a:pPr>
            <a:r>
              <a:rPr sz="1200" b="0" i="0">
                <a:solidFill>
                  <a:srgbClr val="1D2733"/>
                </a:solidFill>
                <a:latin typeface="Calibri"/>
              </a:rPr>
              <a:t>relative phase stable to a few degrees</a:t>
            </a:r>
            <a:endParaRPr sz="1200"/>
          </a:p>
        </p:txBody>
      </p:sp>
      <p:sp>
        <p:nvSpPr>
          <p:cNvPr id="20" name="Rectangle 19"/>
          <p:cNvSpPr/>
          <p:nvPr/>
        </p:nvSpPr>
        <p:spPr>
          <a:xfrm>
            <a:off x="6062471" y="1325880"/>
            <a:ext cx="1719072" cy="685800"/>
          </a:xfrm>
          <a:prstGeom prst="rect">
            <a:avLst/>
          </a:prstGeom>
          <a:solidFill>
            <a:srgbClr val="E8F0F8"/>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buNone/>
            </a:pPr>
            <a:r>
              <a:rPr sz="1300" b="0" i="0">
                <a:solidFill>
                  <a:srgbClr val="1F5C99"/>
                </a:solidFill>
                <a:latin typeface="Calibri"/>
              </a:rPr>
              <a:t>4  </a:t>
            </a:r>
            <a:r>
              <a:rPr sz="1300" b="0" i="0">
                <a:solidFill>
                  <a:srgbClr val="1D2733"/>
                </a:solidFill>
                <a:latin typeface="Calibri"/>
              </a:rPr>
              <a:t>Eight C5s</a:t>
            </a:r>
            <a:endParaRPr sz="1300"/>
          </a:p>
        </p:txBody>
      </p:sp>
      <p:sp>
        <p:nvSpPr>
          <p:cNvPr id="21" name="TextBox 20"/>
          <p:cNvSpPr txBox="1"/>
          <p:nvPr/>
        </p:nvSpPr>
        <p:spPr>
          <a:xfrm>
            <a:off x="6062471" y="2121408"/>
            <a:ext cx="1719072" cy="2011680"/>
          </a:xfrm>
          <a:prstGeom prst="rect">
            <a:avLst/>
          </a:prstGeom>
          <a:noFill/>
        </p:spPr>
        <p:txBody>
          <a:bodyPr wrap="square" lIns="0" tIns="0" rIns="0" bIns="0" anchor="t">
            <a:spAutoFit/>
          </a:bodyPr>
          <a:lstStyle/>
          <a:p>
            <a:pPr marL="201168" indent="-201168" algn="l">
              <a:spcAft>
                <a:spcPts val="300"/>
              </a:spcAft>
              <a:buFont typeface="Arial"/>
              <a:buChar char="•"/>
            </a:pPr>
            <a:r>
              <a:rPr sz="1200" b="0" i="0">
                <a:solidFill>
                  <a:srgbClr val="5B6776"/>
                </a:solidFill>
                <a:latin typeface="Calibri"/>
              </a:rPr>
              <a:t>full tile</a:t>
            </a:r>
            <a:endParaRPr sz="1200"/>
          </a:p>
          <a:p>
            <a:pPr marL="201168" indent="-201168" algn="l">
              <a:spcAft>
                <a:spcPts val="300"/>
              </a:spcAft>
              <a:buFont typeface="Arial"/>
              <a:buChar char="•"/>
            </a:pPr>
            <a:r>
              <a:rPr sz="1200" b="0" i="0">
                <a:solidFill>
                  <a:srgbClr val="5B6776"/>
                </a:solidFill>
                <a:latin typeface="Calibri"/>
              </a:rPr>
              <a:t>16-bit PARLIO, ≈ 640 Mbit/s</a:t>
            </a:r>
            <a:endParaRPr sz="1200"/>
          </a:p>
          <a:p>
            <a:pPr marL="201168" indent="-201168" algn="l">
              <a:spcAft>
                <a:spcPts val="300"/>
              </a:spcAft>
              <a:buFont typeface="Arial"/>
              <a:buChar char="•"/>
            </a:pPr>
            <a:r>
              <a:rPr sz="1200" b="0" i="0">
                <a:solidFill>
                  <a:srgbClr val="5B6776"/>
                </a:solidFill>
                <a:latin typeface="Calibri"/>
              </a:rPr>
              <a:t>receive beamforming</a:t>
            </a:r>
            <a:endParaRPr sz="1200"/>
          </a:p>
        </p:txBody>
      </p:sp>
      <p:cxnSp>
        <p:nvCxnSpPr>
          <p:cNvPr id="22" name="Connector 21"/>
          <p:cNvCxnSpPr/>
          <p:nvPr/>
        </p:nvCxnSpPr>
        <p:spPr>
          <a:xfrm>
            <a:off x="6062471" y="4160520"/>
            <a:ext cx="17190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62471" y="4251960"/>
            <a:ext cx="1719072" cy="274320"/>
          </a:xfrm>
          <a:prstGeom prst="rect">
            <a:avLst/>
          </a:prstGeom>
          <a:noFill/>
        </p:spPr>
        <p:txBody>
          <a:bodyPr wrap="square" lIns="0" tIns="0" rIns="0" bIns="0" anchor="t">
            <a:spAutoFit/>
          </a:bodyPr>
          <a:lstStyle/>
          <a:p>
            <a:pPr algn="l">
              <a:buNone/>
            </a:pPr>
            <a:r>
              <a:rPr sz="1200" b="0" i="0">
                <a:solidFill>
                  <a:srgbClr val="A86A0B"/>
                </a:solidFill>
                <a:latin typeface="Calibri"/>
              </a:rPr>
              <a:t>Done when</a:t>
            </a:r>
            <a:endParaRPr sz="1200"/>
          </a:p>
        </p:txBody>
      </p:sp>
      <p:sp>
        <p:nvSpPr>
          <p:cNvPr id="24" name="TextBox 23"/>
          <p:cNvSpPr txBox="1"/>
          <p:nvPr/>
        </p:nvSpPr>
        <p:spPr>
          <a:xfrm>
            <a:off x="6062471" y="4553712"/>
            <a:ext cx="1719072" cy="1280160"/>
          </a:xfrm>
          <a:prstGeom prst="rect">
            <a:avLst/>
          </a:prstGeom>
          <a:noFill/>
        </p:spPr>
        <p:txBody>
          <a:bodyPr wrap="square" lIns="0" tIns="0" rIns="0" bIns="0" anchor="t">
            <a:spAutoFit/>
          </a:bodyPr>
          <a:lstStyle/>
          <a:p>
            <a:pPr algn="l">
              <a:buNone/>
            </a:pPr>
            <a:r>
              <a:rPr sz="1200" b="0" i="0">
                <a:solidFill>
                  <a:srgbClr val="1D2733"/>
                </a:solidFill>
                <a:latin typeface="Calibri"/>
              </a:rPr>
              <a:t>8 lanes aligned for hours; beam matches prediction</a:t>
            </a:r>
            <a:endParaRPr sz="1200"/>
          </a:p>
        </p:txBody>
      </p:sp>
      <p:sp>
        <p:nvSpPr>
          <p:cNvPr id="25" name="Rectangle 24"/>
          <p:cNvSpPr/>
          <p:nvPr/>
        </p:nvSpPr>
        <p:spPr>
          <a:xfrm>
            <a:off x="7900415" y="1325880"/>
            <a:ext cx="1719072" cy="685800"/>
          </a:xfrm>
          <a:prstGeom prst="rect">
            <a:avLst/>
          </a:prstGeom>
          <a:solidFill>
            <a:srgbClr val="E8F0F8"/>
          </a:solidFill>
          <a:ln w="9525">
            <a:solidFill>
              <a:srgbClr val="1F5C99"/>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buNone/>
            </a:pPr>
            <a:r>
              <a:rPr sz="1300" b="0" i="0">
                <a:solidFill>
                  <a:srgbClr val="1F5C99"/>
                </a:solidFill>
                <a:latin typeface="Calibri"/>
              </a:rPr>
              <a:t>5  </a:t>
            </a:r>
            <a:r>
              <a:rPr sz="1300" b="0" i="0">
                <a:solidFill>
                  <a:srgbClr val="1D2733"/>
                </a:solidFill>
                <a:latin typeface="Calibri"/>
              </a:rPr>
              <a:t>Second tile</a:t>
            </a:r>
            <a:endParaRPr sz="1300"/>
          </a:p>
        </p:txBody>
      </p:sp>
      <p:sp>
        <p:nvSpPr>
          <p:cNvPr id="26" name="TextBox 25"/>
          <p:cNvSpPr txBox="1"/>
          <p:nvPr/>
        </p:nvSpPr>
        <p:spPr>
          <a:xfrm>
            <a:off x="7900415" y="2121408"/>
            <a:ext cx="1719072" cy="2011680"/>
          </a:xfrm>
          <a:prstGeom prst="rect">
            <a:avLst/>
          </a:prstGeom>
          <a:noFill/>
        </p:spPr>
        <p:txBody>
          <a:bodyPr wrap="square" lIns="0" tIns="0" rIns="0" bIns="0" anchor="t">
            <a:spAutoFit/>
          </a:bodyPr>
          <a:lstStyle/>
          <a:p>
            <a:pPr marL="201168" indent="-201168" algn="l">
              <a:spcAft>
                <a:spcPts val="300"/>
              </a:spcAft>
              <a:buFont typeface="Arial"/>
              <a:buChar char="•"/>
            </a:pPr>
            <a:r>
              <a:rPr sz="1200" b="0" i="0">
                <a:solidFill>
                  <a:srgbClr val="5B6776"/>
                </a:solidFill>
                <a:latin typeface="Calibri"/>
              </a:rPr>
              <a:t>16 elements</a:t>
            </a:r>
            <a:endParaRPr sz="1200"/>
          </a:p>
          <a:p>
            <a:pPr marL="201168" indent="-201168" algn="l">
              <a:spcAft>
                <a:spcPts val="300"/>
              </a:spcAft>
              <a:buFont typeface="Arial"/>
              <a:buChar char="•"/>
            </a:pPr>
            <a:r>
              <a:rPr sz="1200" b="0" i="0">
                <a:solidFill>
                  <a:srgbClr val="5B6776"/>
                </a:solidFill>
                <a:latin typeface="Calibri"/>
              </a:rPr>
              <a:t>common calibration</a:t>
            </a:r>
            <a:endParaRPr sz="1200"/>
          </a:p>
          <a:p>
            <a:pPr marL="201168" indent="-201168" algn="l">
              <a:spcAft>
                <a:spcPts val="300"/>
              </a:spcAft>
              <a:buFont typeface="Arial"/>
              <a:buChar char="•"/>
            </a:pPr>
            <a:r>
              <a:rPr sz="1200" b="0" i="0">
                <a:solidFill>
                  <a:srgbClr val="5B6776"/>
                </a:solidFill>
                <a:latin typeface="Calibri"/>
              </a:rPr>
              <a:t>4 × 4 AoA and beamforming</a:t>
            </a:r>
            <a:endParaRPr sz="1200"/>
          </a:p>
        </p:txBody>
      </p:sp>
      <p:cxnSp>
        <p:nvCxnSpPr>
          <p:cNvPr id="27" name="Connector 26"/>
          <p:cNvCxnSpPr/>
          <p:nvPr/>
        </p:nvCxnSpPr>
        <p:spPr>
          <a:xfrm>
            <a:off x="7900415" y="4160520"/>
            <a:ext cx="1719073"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900415" y="4251960"/>
            <a:ext cx="1719072" cy="274320"/>
          </a:xfrm>
          <a:prstGeom prst="rect">
            <a:avLst/>
          </a:prstGeom>
          <a:noFill/>
        </p:spPr>
        <p:txBody>
          <a:bodyPr wrap="square" lIns="0" tIns="0" rIns="0" bIns="0" anchor="t">
            <a:spAutoFit/>
          </a:bodyPr>
          <a:lstStyle/>
          <a:p>
            <a:pPr algn="l">
              <a:buNone/>
            </a:pPr>
            <a:r>
              <a:rPr sz="1200" b="0" i="0">
                <a:solidFill>
                  <a:srgbClr val="A86A0B"/>
                </a:solidFill>
                <a:latin typeface="Calibri"/>
              </a:rPr>
              <a:t>Done when</a:t>
            </a:r>
            <a:endParaRPr sz="1200"/>
          </a:p>
        </p:txBody>
      </p:sp>
      <p:sp>
        <p:nvSpPr>
          <p:cNvPr id="29" name="TextBox 28"/>
          <p:cNvSpPr txBox="1"/>
          <p:nvPr/>
        </p:nvSpPr>
        <p:spPr>
          <a:xfrm>
            <a:off x="7900415" y="4553712"/>
            <a:ext cx="1719072" cy="1280160"/>
          </a:xfrm>
          <a:prstGeom prst="rect">
            <a:avLst/>
          </a:prstGeom>
          <a:noFill/>
        </p:spPr>
        <p:txBody>
          <a:bodyPr wrap="square" lIns="0" tIns="0" rIns="0" bIns="0" anchor="t">
            <a:spAutoFit/>
          </a:bodyPr>
          <a:lstStyle/>
          <a:p>
            <a:pPr algn="l">
              <a:buNone/>
            </a:pPr>
            <a:r>
              <a:rPr sz="1200" b="0" i="0">
                <a:solidFill>
                  <a:srgbClr val="1D2733"/>
                </a:solidFill>
                <a:latin typeface="Calibri"/>
              </a:rPr>
              <a:t>calibrated 2D scan, repeatable after power cycle</a:t>
            </a:r>
            <a:endParaRPr sz="1200"/>
          </a:p>
        </p:txBody>
      </p:sp>
      <p:sp>
        <p:nvSpPr>
          <p:cNvPr id="30" name="Rectangle 29"/>
          <p:cNvSpPr/>
          <p:nvPr/>
        </p:nvSpPr>
        <p:spPr>
          <a:xfrm>
            <a:off x="9738359" y="1325880"/>
            <a:ext cx="1719072" cy="685800"/>
          </a:xfrm>
          <a:prstGeom prst="rect">
            <a:avLst/>
          </a:prstGeom>
          <a:solidFill>
            <a:srgbClr val="F3F5F7"/>
          </a:solidFill>
          <a:ln w="9525">
            <a:solidFill>
              <a:srgbClr val="7F8B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buNone/>
            </a:pPr>
            <a:r>
              <a:rPr sz="1300" b="0" i="0">
                <a:solidFill>
                  <a:srgbClr val="1F5C99"/>
                </a:solidFill>
                <a:latin typeface="Calibri"/>
              </a:rPr>
              <a:t>6  </a:t>
            </a:r>
            <a:r>
              <a:rPr sz="1300" b="0" i="0">
                <a:solidFill>
                  <a:srgbClr val="1D2733"/>
                </a:solidFill>
                <a:latin typeface="Calibri"/>
              </a:rPr>
              <a:t>Extensions</a:t>
            </a:r>
            <a:endParaRPr sz="1300"/>
          </a:p>
        </p:txBody>
      </p:sp>
      <p:sp>
        <p:nvSpPr>
          <p:cNvPr id="31" name="TextBox 30"/>
          <p:cNvSpPr txBox="1"/>
          <p:nvPr/>
        </p:nvSpPr>
        <p:spPr>
          <a:xfrm>
            <a:off x="9738359" y="2121408"/>
            <a:ext cx="1719072" cy="2011680"/>
          </a:xfrm>
          <a:prstGeom prst="rect">
            <a:avLst/>
          </a:prstGeom>
          <a:noFill/>
        </p:spPr>
        <p:txBody>
          <a:bodyPr wrap="square" lIns="0" tIns="0" rIns="0" bIns="0" anchor="t">
            <a:spAutoFit/>
          </a:bodyPr>
          <a:lstStyle/>
          <a:p>
            <a:pPr marL="201168" indent="-201168" algn="l">
              <a:spcAft>
                <a:spcPts val="300"/>
              </a:spcAft>
              <a:buFont typeface="Arial"/>
              <a:buChar char="•"/>
            </a:pPr>
            <a:r>
              <a:rPr sz="1200" b="0" i="0">
                <a:solidFill>
                  <a:srgbClr val="5B6776"/>
                </a:solidFill>
                <a:latin typeface="Calibri"/>
              </a:rPr>
              <a:t>radar, Wi-Fi sensing</a:t>
            </a:r>
            <a:endParaRPr sz="1200"/>
          </a:p>
          <a:p>
            <a:pPr marL="201168" indent="-201168" algn="l">
              <a:spcAft>
                <a:spcPts val="300"/>
              </a:spcAft>
              <a:buFont typeface="Arial"/>
              <a:buChar char="•"/>
            </a:pPr>
            <a:r>
              <a:rPr sz="1200" b="0" i="0">
                <a:solidFill>
                  <a:srgbClr val="5B6776"/>
                </a:solidFill>
                <a:latin typeface="Calibri"/>
              </a:rPr>
              <a:t>coherent TX research</a:t>
            </a:r>
            <a:endParaRPr sz="1200"/>
          </a:p>
          <a:p>
            <a:pPr marL="201168" indent="-201168" algn="l">
              <a:spcAft>
                <a:spcPts val="300"/>
              </a:spcAft>
              <a:buFont typeface="Arial"/>
              <a:buChar char="•"/>
            </a:pPr>
            <a:r>
              <a:rPr sz="1200" b="0" i="0">
                <a:solidFill>
                  <a:srgbClr val="5B6776"/>
                </a:solidFill>
                <a:latin typeface="Calibri"/>
              </a:rPr>
              <a:t>digital TX beamforming</a:t>
            </a:r>
            <a:endParaRPr sz="1200"/>
          </a:p>
          <a:p>
            <a:pPr marL="201168" indent="-201168" algn="l">
              <a:spcAft>
                <a:spcPts val="300"/>
              </a:spcAft>
              <a:buFont typeface="Arial"/>
              <a:buChar char="•"/>
            </a:pPr>
            <a:r>
              <a:rPr sz="1200" b="0" i="0">
                <a:solidFill>
                  <a:srgbClr val="5B6776"/>
                </a:solidFill>
                <a:latin typeface="Calibri"/>
              </a:rPr>
              <a:t>FPGA preprocessing</a:t>
            </a:r>
            <a:endParaRPr sz="1200"/>
          </a:p>
        </p:txBody>
      </p:sp>
      <p:cxnSp>
        <p:nvCxnSpPr>
          <p:cNvPr id="32" name="Connector 31"/>
          <p:cNvCxnSpPr/>
          <p:nvPr/>
        </p:nvCxnSpPr>
        <p:spPr>
          <a:xfrm>
            <a:off x="9738359" y="4160520"/>
            <a:ext cx="1719072" cy="0"/>
          </a:xfrm>
          <a:prstGeom prst="line">
            <a:avLst/>
          </a:prstGeom>
          <a:ln w="9525">
            <a:solidFill>
              <a:srgbClr val="D3D9D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738359" y="4251960"/>
            <a:ext cx="1719072" cy="274320"/>
          </a:xfrm>
          <a:prstGeom prst="rect">
            <a:avLst/>
          </a:prstGeom>
          <a:noFill/>
        </p:spPr>
        <p:txBody>
          <a:bodyPr wrap="square" lIns="0" tIns="0" rIns="0" bIns="0" anchor="t">
            <a:spAutoFit/>
          </a:bodyPr>
          <a:lstStyle/>
          <a:p>
            <a:pPr algn="l">
              <a:buNone/>
            </a:pPr>
            <a:r>
              <a:rPr sz="1200" b="0" i="0">
                <a:solidFill>
                  <a:srgbClr val="0E7C76"/>
                </a:solidFill>
                <a:latin typeface="Calibri"/>
              </a:rPr>
              <a:t>Done when</a:t>
            </a:r>
            <a:endParaRPr sz="1200"/>
          </a:p>
        </p:txBody>
      </p:sp>
      <p:sp>
        <p:nvSpPr>
          <p:cNvPr id="34" name="TextBox 33"/>
          <p:cNvSpPr txBox="1"/>
          <p:nvPr/>
        </p:nvSpPr>
        <p:spPr>
          <a:xfrm>
            <a:off x="9738359" y="4553712"/>
            <a:ext cx="1719072" cy="1280160"/>
          </a:xfrm>
          <a:prstGeom prst="rect">
            <a:avLst/>
          </a:prstGeom>
          <a:noFill/>
        </p:spPr>
        <p:txBody>
          <a:bodyPr wrap="square" lIns="0" tIns="0" rIns="0" bIns="0" anchor="t">
            <a:spAutoFit/>
          </a:bodyPr>
          <a:lstStyle/>
          <a:p>
            <a:pPr algn="l">
              <a:buNone/>
            </a:pPr>
            <a:r>
              <a:rPr sz="1200" b="0" i="0">
                <a:solidFill>
                  <a:srgbClr val="1D2733"/>
                </a:solidFill>
                <a:latin typeface="Calibri"/>
              </a:rPr>
              <a:t>research results</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Main technical risks</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The first eight are the team's list; the last two came out of the research. Each except coherent TX (step 6) has a bench test in steps 1–4.</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32</a:t>
            </a:r>
            <a:endParaRPr sz="1000"/>
          </a:p>
        </p:txBody>
      </p:sp>
      <p:graphicFrame>
        <p:nvGraphicFramePr>
          <p:cNvPr id="5" name="Table 4"/>
          <p:cNvGraphicFramePr>
            <a:graphicFrameLocks noGrp="1"/>
          </p:cNvGraphicFramePr>
          <p:nvPr/>
        </p:nvGraphicFramePr>
        <p:xfrm>
          <a:off x="548640" y="1280160"/>
          <a:ext cx="11091672" cy="4956048"/>
        </p:xfrm>
        <a:graphic>
          <a:graphicData uri="http://schemas.openxmlformats.org/drawingml/2006/table">
            <a:tbl>
              <a:tblPr>
                <a:tableStyleId>{2D5ABB26-0587-4C30-8999-92F81FD0307C}</a:tableStyleId>
              </a:tblPr>
              <a:tblGrid>
                <a:gridCol w="44805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227832">
                  <a:extLst>
                    <a:ext uri="{9D8B030D-6E8A-4147-A177-3AD203B41FA5}">
                      <a16:colId xmlns:a16="http://schemas.microsoft.com/office/drawing/2014/main" val="20002"/>
                    </a:ext>
                  </a:extLst>
                </a:gridCol>
              </a:tblGrid>
              <a:tr h="384048">
                <a:tc>
                  <a:txBody>
                    <a:bodyPr/>
                    <a:lstStyle/>
                    <a:p>
                      <a:pPr algn="l">
                        <a:buNone/>
                      </a:pPr>
                      <a:r>
                        <a:rPr sz="1200" b="0" i="0">
                          <a:solidFill>
                            <a:srgbClr val="5B6776"/>
                          </a:solidFill>
                          <a:latin typeface="Calibri"/>
                        </a:rPr>
                        <a:t>Risk</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Early test</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Fallback</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457200">
                <a:tc>
                  <a:txBody>
                    <a:bodyPr/>
                    <a:lstStyle/>
                    <a:p>
                      <a:pPr algn="l">
                        <a:buNone/>
                      </a:pPr>
                      <a:r>
                        <a:rPr sz="1100" b="0" i="0">
                          <a:solidFill>
                            <a:srgbClr val="1D2733"/>
                          </a:solidFill>
                          <a:latin typeface="Calibri"/>
                        </a:rPr>
                        <a:t>C5 raw IQ cannot reach PARLIO by DMA at the needed rate</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 1: snapshot → PARLIO, bit-exact</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CPU copy at lower rate; snapshots only</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457200">
                <a:tc>
                  <a:txBody>
                    <a:bodyPr/>
                    <a:lstStyle/>
                    <a:p>
                      <a:pPr algn="l">
                        <a:buNone/>
                      </a:pPr>
                      <a:r>
                        <a:rPr sz="1100" b="0" i="0">
                          <a:solidFill>
                            <a:srgbClr val="1D2733"/>
                          </a:solidFill>
                          <a:latin typeface="Calibri"/>
                        </a:rPr>
                        <a:t>Eight lanes not cycle-aligned (40 MHz is PARLIO's limit)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steps 2 and 4: sync-word checks, eye margin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Plan B: FPGA with per-lane FIFOs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457200">
                <a:tc>
                  <a:txBody>
                    <a:bodyPr/>
                    <a:lstStyle/>
                    <a:p>
                      <a:pPr algn="l">
                        <a:buNone/>
                      </a:pPr>
                      <a:r>
                        <a:rPr sz="1100" b="0" i="0">
                          <a:solidFill>
                            <a:srgbClr val="1D2733"/>
                          </a:solidFill>
                          <a:latin typeface="Calibri"/>
                        </a:rPr>
                        <a:t>S31 cannot ingest and send 640 Mbit/s at once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 2 → 4: 80 → 640 Mbit/s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lower lane rate, or FPGA → GbE PHY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457200">
                <a:tc>
                  <a:txBody>
                    <a:bodyPr/>
                    <a:lstStyle/>
                    <a:p>
                      <a:pPr algn="l">
                        <a:buNone/>
                      </a:pPr>
                      <a:r>
                        <a:rPr sz="1100" b="0" i="0">
                          <a:solidFill>
                            <a:srgbClr val="1D2733"/>
                          </a:solidFill>
                          <a:latin typeface="Calibri"/>
                        </a:rPr>
                        <a:t>Shared 48 MHz gives poor phase stability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 3: phase vs time and temperature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per-snapshot calibration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457200">
                <a:tc>
                  <a:txBody>
                    <a:bodyPr/>
                    <a:lstStyle/>
                    <a:p>
                      <a:pPr algn="l">
                        <a:buNone/>
                      </a:pPr>
                      <a:r>
                        <a:rPr sz="1100" b="0" i="0">
                          <a:solidFill>
                            <a:srgbClr val="1D2733"/>
                          </a:solidFill>
                          <a:latin typeface="Calibri"/>
                        </a:rPr>
                        <a:t>C5 LO phase not repeatable across resets / retunes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 3: repeated resets and retunes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calibrate every epoch (as ESPARGOS)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457200">
                <a:tc>
                  <a:txBody>
                    <a:bodyPr/>
                    <a:lstStyle/>
                    <a:p>
                      <a:pPr algn="l">
                        <a:buNone/>
                      </a:pPr>
                      <a:r>
                        <a:rPr sz="1100" b="0" i="0">
                          <a:solidFill>
                            <a:srgbClr val="1D2733"/>
                          </a:solidFill>
                          <a:latin typeface="Calibri"/>
                        </a:rPr>
                        <a:t>Coherent TX method not reproducible on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 6, research only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RX-only results stand alone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457200">
                <a:tc>
                  <a:txBody>
                    <a:bodyPr/>
                    <a:lstStyle/>
                    <a:p>
                      <a:pPr algn="l">
                        <a:buNone/>
                      </a:pPr>
                      <a:r>
                        <a:rPr sz="1100" b="0" i="0">
                          <a:solidFill>
                            <a:srgbClr val="1D2733"/>
                          </a:solidFill>
                          <a:latin typeface="Calibri"/>
                        </a:rPr>
                        <a:t>FR-4 antenna / array consistency insufficient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VNA on the first tile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separate aperture board (ours) or better laminate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r h="457200">
                <a:tc>
                  <a:txBody>
                    <a:bodyPr/>
                    <a:lstStyle/>
                    <a:p>
                      <a:pPr algn="l">
                        <a:buNone/>
                      </a:pPr>
                      <a:r>
                        <a:rPr sz="1100" b="0" i="0">
                          <a:solidFill>
                            <a:srgbClr val="1D2733"/>
                          </a:solidFill>
                          <a:latin typeface="Calibri"/>
                        </a:rPr>
                        <a:t>Power and heat with 16 active C5s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current and temperature on one tile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duty-cycle TX, airflow</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8"/>
                  </a:ext>
                </a:extLst>
              </a:tr>
              <a:tr h="457200">
                <a:tc>
                  <a:txBody>
                    <a:bodyPr/>
                    <a:lstStyle/>
                    <a:p>
                      <a:pPr algn="l">
                        <a:buNone/>
                      </a:pPr>
                      <a:r>
                        <a:rPr sz="1100" b="0" i="0">
                          <a:solidFill>
                            <a:srgbClr val="1D2733"/>
                          </a:solidFill>
                          <a:latin typeface="Calibri"/>
                        </a:rPr>
                        <a:t>No continuous capture on the C5 (mode 1)</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step 1: back-to-back snapshot timing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mode 2 only; quasi-continuous snapshots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9"/>
                  </a:ext>
                </a:extLst>
              </a:tr>
              <a:tr h="457200">
                <a:tc>
                  <a:txBody>
                    <a:bodyPr/>
                    <a:lstStyle/>
                    <a:p>
                      <a:pPr algn="l">
                        <a:buNone/>
                      </a:pPr>
                      <a:r>
                        <a:rPr sz="1100" b="0" i="0">
                          <a:solidFill>
                            <a:srgbClr val="1D2733"/>
                          </a:solidFill>
                          <a:latin typeface="Calibri"/>
                        </a:rPr>
                        <a:t>Custom stack: cost, warpage; patches lossy (≤ 53 %)</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quote; simulate + VNA one tile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standard stack + our aperture board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we know, what we infer, what we must test</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Checked 12–13 Oct 2026 against the references; open items become bench tests in phases 1–2.</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33</a:t>
            </a:r>
            <a:endParaRPr sz="1000"/>
          </a:p>
        </p:txBody>
      </p:sp>
      <p:graphicFrame>
        <p:nvGraphicFramePr>
          <p:cNvPr id="5" name="Table 4"/>
          <p:cNvGraphicFramePr>
            <a:graphicFrameLocks noGrp="1"/>
          </p:cNvGraphicFramePr>
          <p:nvPr/>
        </p:nvGraphicFramePr>
        <p:xfrm>
          <a:off x="548640" y="1280160"/>
          <a:ext cx="11091672" cy="4462272"/>
        </p:xfrm>
        <a:graphic>
          <a:graphicData uri="http://schemas.openxmlformats.org/drawingml/2006/table">
            <a:tbl>
              <a:tblPr>
                <a:tableStyleId>{2D5ABB26-0587-4C30-8999-92F81FD0307C}</a:tableStyleId>
              </a:tblPr>
              <a:tblGrid>
                <a:gridCol w="54864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278892">
                <a:tc>
                  <a:txBody>
                    <a:bodyPr/>
                    <a:lstStyle/>
                    <a:p>
                      <a:pPr algn="l">
                        <a:buNone/>
                      </a:pP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Claim</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Basis</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278892">
                <a:tc>
                  <a:txBody>
                    <a:bodyPr/>
                    <a:lstStyle/>
                    <a:p>
                      <a:pPr algn="l">
                        <a:buNone/>
                      </a:pP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ESP32-C5 receives 5180–5885 MHz; 1T1R; 18 dBm TX, −94 dBm sensitivity (low rates)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Espressif datasheet v1.5</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ESP-SDR raw IQ on C5: 80/40/20/10/8/4 MS/s, ≤ 16,380 samples, USB / UART out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ESP-SDR source and README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PARLIO TX: 1/2/4/8 bit, ≤ 40 MHz, external clock pad, GDMA; not an ETM peripheral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TRM v1.1, ESP-IDF source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S31 streams 16-lane PARLIO capture to GbE at ≈ 687 Mbit/s (experimental)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ESP-SDR S31 docs; 600 s, 0 lost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S31 EMAC: 10/100/1000, MII / RMII / RGMII, IEEE 1588 timestamps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S31 datasheet v0.5 (pre-release)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ESP32-C5 modules integrate their own 48 MHz crystal</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module datasheet v1.3</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ESP32 PLL phase changes after reset and retune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ESPARGOS hardware paper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7"/>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2-bit lanes from eight C5s can be packed into one 16-bit S31 bus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PARLIO widths and clocks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8"/>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 2-bit lane carries 4 MS/s IQ8 continuously (64 of 80 Mbit/s)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arithmetic</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9"/>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IQ buffer → GDMA → PARLIO without CPU copies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untested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0"/>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Eight C5 PARLIO transmitters stay in lockstep</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untested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1"/>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XTAL_P can be driven cleanly from a shared 48 MHz buffer</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not documented for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2"/>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Continuous IQ capture on the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no C5 continuous mode today</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3"/>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Coherent TX on C5</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ESPARGOS: works on ESPARGOS One, unpublished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4"/>
                  </a:ext>
                </a:extLst>
              </a:tr>
              <a:tr h="278892">
                <a:tc>
                  <a:txBody>
                    <a:bodyPr/>
                    <a:lstStyle/>
                    <a:p>
                      <a:pPr algn="l">
                        <a:buNone/>
                      </a:pP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16-element coherent TX beamforming</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no evidence yet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15"/>
                  </a:ext>
                </a:extLst>
              </a:tr>
            </a:tbl>
          </a:graphicData>
        </a:graphic>
      </p:graphicFrame>
      <p:sp>
        <p:nvSpPr>
          <p:cNvPr id="6" name="status Confirmed"/>
          <p:cNvSpPr/>
          <p:nvPr/>
        </p:nvSpPr>
        <p:spPr>
          <a:xfrm>
            <a:off x="754380" y="1629918"/>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atus Confirmed"/>
          <p:cNvSpPr/>
          <p:nvPr/>
        </p:nvSpPr>
        <p:spPr>
          <a:xfrm>
            <a:off x="754380" y="1908809"/>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tus Confirmed"/>
          <p:cNvSpPr/>
          <p:nvPr/>
        </p:nvSpPr>
        <p:spPr>
          <a:xfrm>
            <a:off x="754380" y="2187701"/>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atus Confirmed"/>
          <p:cNvSpPr/>
          <p:nvPr/>
        </p:nvSpPr>
        <p:spPr>
          <a:xfrm>
            <a:off x="754380" y="2466594"/>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tus Confirmed"/>
          <p:cNvSpPr/>
          <p:nvPr/>
        </p:nvSpPr>
        <p:spPr>
          <a:xfrm>
            <a:off x="754380" y="2745486"/>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atus Confirmed"/>
          <p:cNvSpPr/>
          <p:nvPr/>
        </p:nvSpPr>
        <p:spPr>
          <a:xfrm>
            <a:off x="754380" y="3024378"/>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atus Confirmed"/>
          <p:cNvSpPr/>
          <p:nvPr/>
        </p:nvSpPr>
        <p:spPr>
          <a:xfrm>
            <a:off x="754380" y="3303270"/>
            <a:ext cx="137160" cy="137160"/>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atus Engineering inference"/>
          <p:cNvSpPr/>
          <p:nvPr/>
        </p:nvSpPr>
        <p:spPr>
          <a:xfrm>
            <a:off x="754380" y="3582162"/>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tatus Engineering inference"/>
          <p:cNvSpPr/>
          <p:nvPr/>
        </p:nvSpPr>
        <p:spPr>
          <a:xfrm>
            <a:off x="754380" y="3861054"/>
            <a:ext cx="137160" cy="137160"/>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tatus Open — needs bench test"/>
          <p:cNvSpPr/>
          <p:nvPr/>
        </p:nvSpPr>
        <p:spPr>
          <a:xfrm>
            <a:off x="754380" y="4139946"/>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tatus Open — needs bench test"/>
          <p:cNvSpPr/>
          <p:nvPr/>
        </p:nvSpPr>
        <p:spPr>
          <a:xfrm>
            <a:off x="754380" y="4418838"/>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tatus Open — needs bench test"/>
          <p:cNvSpPr/>
          <p:nvPr/>
        </p:nvSpPr>
        <p:spPr>
          <a:xfrm>
            <a:off x="754380" y="4697729"/>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tatus Open — needs bench test"/>
          <p:cNvSpPr/>
          <p:nvPr/>
        </p:nvSpPr>
        <p:spPr>
          <a:xfrm>
            <a:off x="754380" y="4976621"/>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atus Open — needs bench test"/>
          <p:cNvSpPr/>
          <p:nvPr/>
        </p:nvSpPr>
        <p:spPr>
          <a:xfrm>
            <a:off x="754380" y="5255513"/>
            <a:ext cx="137160" cy="137160"/>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tatus Speculative"/>
          <p:cNvSpPr/>
          <p:nvPr/>
        </p:nvSpPr>
        <p:spPr>
          <a:xfrm>
            <a:off x="754380" y="5534405"/>
            <a:ext cx="137160" cy="137160"/>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tatus Confirmed"/>
          <p:cNvSpPr/>
          <p:nvPr/>
        </p:nvSpPr>
        <p:spPr>
          <a:xfrm>
            <a:off x="562356" y="6094476"/>
            <a:ext cx="118872" cy="118872"/>
          </a:xfrm>
          <a:prstGeom prst="ellipse">
            <a:avLst/>
          </a:prstGeom>
          <a:solidFill>
            <a:srgbClr val="0E7C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6053328"/>
            <a:ext cx="555955" cy="201168"/>
          </a:xfrm>
          <a:prstGeom prst="rect">
            <a:avLst/>
          </a:prstGeom>
          <a:noFill/>
        </p:spPr>
        <p:txBody>
          <a:bodyPr wrap="square" lIns="0" tIns="0" rIns="0" bIns="0" anchor="ctr">
            <a:spAutoFit/>
          </a:bodyPr>
          <a:lstStyle/>
          <a:p>
            <a:pPr algn="l">
              <a:buNone/>
            </a:pPr>
            <a:r>
              <a:rPr sz="1000" b="0" i="0">
                <a:solidFill>
                  <a:srgbClr val="5B6776"/>
                </a:solidFill>
                <a:latin typeface="Calibri"/>
              </a:rPr>
              <a:t>Confirmed</a:t>
            </a:r>
            <a:endParaRPr sz="1000"/>
          </a:p>
        </p:txBody>
      </p:sp>
      <p:sp>
        <p:nvSpPr>
          <p:cNvPr id="23" name="status Engineering inference"/>
          <p:cNvSpPr/>
          <p:nvPr/>
        </p:nvSpPr>
        <p:spPr>
          <a:xfrm>
            <a:off x="1548079" y="6094476"/>
            <a:ext cx="118872" cy="118872"/>
          </a:xfrm>
          <a:prstGeom prst="ellipse">
            <a:avLst/>
          </a:prstGeom>
          <a:solidFill>
            <a:srgbClr val="FFFFFF"/>
          </a:solidFill>
          <a:ln w="2222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35531" y="6053328"/>
            <a:ext cx="1236268" cy="201168"/>
          </a:xfrm>
          <a:prstGeom prst="rect">
            <a:avLst/>
          </a:prstGeom>
          <a:noFill/>
        </p:spPr>
        <p:txBody>
          <a:bodyPr wrap="square" lIns="0" tIns="0" rIns="0" bIns="0" anchor="ctr">
            <a:spAutoFit/>
          </a:bodyPr>
          <a:lstStyle/>
          <a:p>
            <a:pPr algn="l">
              <a:buNone/>
            </a:pPr>
            <a:r>
              <a:rPr sz="1000" b="0" i="0">
                <a:solidFill>
                  <a:srgbClr val="5B6776"/>
                </a:solidFill>
                <a:latin typeface="Calibri"/>
              </a:rPr>
              <a:t>Engineering inference</a:t>
            </a:r>
            <a:endParaRPr sz="1000"/>
          </a:p>
        </p:txBody>
      </p:sp>
      <p:sp>
        <p:nvSpPr>
          <p:cNvPr id="25" name="status Open — needs bench test"/>
          <p:cNvSpPr/>
          <p:nvPr/>
        </p:nvSpPr>
        <p:spPr>
          <a:xfrm>
            <a:off x="3214116" y="6094476"/>
            <a:ext cx="118872" cy="118872"/>
          </a:xfrm>
          <a:prstGeom prst="ellipse">
            <a:avLst/>
          </a:prstGeom>
          <a:solidFill>
            <a:srgbClr val="FFFFFF"/>
          </a:solidFill>
          <a:ln w="15875">
            <a:solidFill>
              <a:srgbClr val="A86A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01568" y="6053328"/>
            <a:ext cx="1349654" cy="201168"/>
          </a:xfrm>
          <a:prstGeom prst="rect">
            <a:avLst/>
          </a:prstGeom>
          <a:noFill/>
        </p:spPr>
        <p:txBody>
          <a:bodyPr wrap="square" lIns="0" tIns="0" rIns="0" bIns="0" anchor="ctr">
            <a:spAutoFit/>
          </a:bodyPr>
          <a:lstStyle/>
          <a:p>
            <a:pPr algn="l">
              <a:buNone/>
            </a:pPr>
            <a:r>
              <a:rPr sz="1000" b="0" i="0">
                <a:solidFill>
                  <a:srgbClr val="5B6776"/>
                </a:solidFill>
                <a:latin typeface="Calibri"/>
              </a:rPr>
              <a:t>Open — needs bench test</a:t>
            </a:r>
            <a:endParaRPr sz="1000"/>
          </a:p>
        </p:txBody>
      </p:sp>
      <p:sp>
        <p:nvSpPr>
          <p:cNvPr id="27" name="status Speculative"/>
          <p:cNvSpPr/>
          <p:nvPr/>
        </p:nvSpPr>
        <p:spPr>
          <a:xfrm>
            <a:off x="4993538" y="6094476"/>
            <a:ext cx="118872" cy="118872"/>
          </a:xfrm>
          <a:prstGeom prst="ellipse">
            <a:avLst/>
          </a:prstGeom>
          <a:solidFill>
            <a:srgbClr val="FFFFFF"/>
          </a:solidFill>
          <a:ln w="15875">
            <a:solidFill>
              <a:srgbClr val="8C97A3"/>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80990" y="6053328"/>
            <a:ext cx="669340" cy="201168"/>
          </a:xfrm>
          <a:prstGeom prst="rect">
            <a:avLst/>
          </a:prstGeom>
          <a:noFill/>
        </p:spPr>
        <p:txBody>
          <a:bodyPr wrap="square" lIns="0" tIns="0" rIns="0" bIns="0" anchor="ctr">
            <a:spAutoFit/>
          </a:bodyPr>
          <a:lstStyle/>
          <a:p>
            <a:pPr algn="l">
              <a:buNone/>
            </a:pPr>
            <a:r>
              <a:rPr sz="1000" b="0" i="0">
                <a:solidFill>
                  <a:srgbClr val="5B6776"/>
                </a:solidFill>
                <a:latin typeface="Calibri"/>
              </a:rPr>
              <a:t>Speculative</a:t>
            </a:r>
            <a:endParaRPr sz="1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Alternatives we considered</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Design-decision record. BCM53202M product brief (Broadcom 53202M-PB00-R): 8 × 10/100 PHYs, two GMII/RGMII/TBI ports, 384 KB buffer.</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34</a:t>
            </a:r>
            <a:endParaRPr sz="1000"/>
          </a:p>
        </p:txBody>
      </p:sp>
      <p:graphicFrame>
        <p:nvGraphicFramePr>
          <p:cNvPr id="5" name="Table 4"/>
          <p:cNvGraphicFramePr>
            <a:graphicFrameLocks noGrp="1"/>
          </p:cNvGraphicFramePr>
          <p:nvPr/>
        </p:nvGraphicFramePr>
        <p:xfrm>
          <a:off x="548640" y="1280160"/>
          <a:ext cx="11091672" cy="4005072"/>
        </p:xfrm>
        <a:graphic>
          <a:graphicData uri="http://schemas.openxmlformats.org/drawingml/2006/table">
            <a:tbl>
              <a:tblPr>
                <a:tableStyleId>{2D5ABB26-0587-4C30-8999-92F81FD0307C}</a:tableStyleId>
              </a:tblPr>
              <a:tblGrid>
                <a:gridCol w="265176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187952">
                  <a:extLst>
                    <a:ext uri="{9D8B030D-6E8A-4147-A177-3AD203B41FA5}">
                      <a16:colId xmlns:a16="http://schemas.microsoft.com/office/drawing/2014/main" val="20002"/>
                    </a:ext>
                  </a:extLst>
                </a:gridCol>
              </a:tblGrid>
              <a:tr h="384048">
                <a:tc>
                  <a:txBody>
                    <a:bodyPr/>
                    <a:lstStyle/>
                    <a:p>
                      <a:pPr algn="l">
                        <a:buNone/>
                      </a:pPr>
                      <a:r>
                        <a:rPr sz="1200" b="0" i="0">
                          <a:solidFill>
                            <a:srgbClr val="5B6776"/>
                          </a:solidFill>
                          <a:latin typeface="Calibri"/>
                        </a:rPr>
                        <a:t>Alternative</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Why not for Rev 1</a:t>
                      </a:r>
                      <a:endParaRPr sz="1200"/>
                    </a:p>
                  </a:txBody>
                  <a:tcPr marL="64008" marR="64008" marT="32004" marB="32004" anchor="ctr">
                    <a:lnL w="0">
                      <a:noFill/>
                    </a:lnL>
                    <a:lnR w="0">
                      <a:noFill/>
                    </a:lnR>
                    <a:lnT w="0">
                      <a:noFill/>
                    </a:lnT>
                    <a:lnB w="12700">
                      <a:solidFill>
                        <a:srgbClr val="7F8B97"/>
                      </a:solidFill>
                    </a:lnB>
                    <a:noFill/>
                  </a:tcPr>
                </a:tc>
                <a:tc>
                  <a:txBody>
                    <a:bodyPr/>
                    <a:lstStyle/>
                    <a:p>
                      <a:pPr algn="l">
                        <a:buNone/>
                      </a:pPr>
                      <a:r>
                        <a:rPr sz="1200" b="0" i="0">
                          <a:solidFill>
                            <a:srgbClr val="5B6776"/>
                          </a:solidFill>
                          <a:latin typeface="Calibri"/>
                        </a:rPr>
                        <a:t>Reconsider when</a:t>
                      </a:r>
                      <a:endParaRPr sz="1200"/>
                    </a:p>
                  </a:txBody>
                  <a:tcPr marL="64008" marR="64008" marT="32004" marB="32004" anchor="ctr">
                    <a:lnL w="0">
                      <a:noFill/>
                    </a:lnL>
                    <a:lnR w="0">
                      <a:noFill/>
                    </a:lnR>
                    <a:lnT w="0">
                      <a:noFill/>
                    </a:lnT>
                    <a:lnB w="12700">
                      <a:solidFill>
                        <a:srgbClr val="7F8B97"/>
                      </a:solidFill>
                    </a:lnB>
                    <a:noFill/>
                  </a:tcPr>
                </a:tc>
                <a:extLst>
                  <a:ext uri="{0D108BD9-81ED-4DB2-BD59-A6C34878D82A}">
                    <a16:rowId xmlns:a16="http://schemas.microsoft.com/office/drawing/2014/main" val="10000"/>
                  </a:ext>
                </a:extLst>
              </a:tr>
              <a:tr h="603504">
                <a:tc>
                  <a:txBody>
                    <a:bodyPr/>
                    <a:lstStyle/>
                    <a:p>
                      <a:pPr algn="l">
                        <a:buNone/>
                      </a:pPr>
                      <a:r>
                        <a:rPr sz="1100" b="0" i="0">
                          <a:solidFill>
                            <a:srgbClr val="1D2733"/>
                          </a:solidFill>
                          <a:latin typeface="Calibri"/>
                        </a:rPr>
                        <a:t>W5500 SPI-Ethernet per C5</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C5 has no MAC; adds 8 bridges, PHYs, magnetics and a switch; 100 Mbit ceiling per element</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single-node experiments, elements on separate boards</a:t>
                      </a:r>
                      <a:endParaRPr sz="1100"/>
                    </a:p>
                  </a:txBody>
                  <a:tcPr marL="64008" marR="64008" marT="32004" marB="32004" anchor="ctr">
                    <a:lnL w="0">
                      <a:noFill/>
                    </a:lnL>
                    <a:lnR w="0">
                      <a:noFill/>
                    </a:lnR>
                    <a:lnT w="12700" cap="flat" cmpd="sng" algn="ctr">
                      <a:solidFill>
                        <a:srgbClr val="7F8B97"/>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1"/>
                  </a:ext>
                </a:extLst>
              </a:tr>
              <a:tr h="603504">
                <a:tc>
                  <a:txBody>
                    <a:bodyPr/>
                    <a:lstStyle/>
                    <a:p>
                      <a:pPr algn="l">
                        <a:buNone/>
                      </a:pPr>
                      <a:r>
                        <a:rPr sz="1100" b="0" i="0">
                          <a:solidFill>
                            <a:srgbClr val="1D2733"/>
                          </a:solidFill>
                          <a:latin typeface="Calibri"/>
                        </a:rPr>
                        <a:t>Ethernet switch per tile (BCM53202M: 8 × 10/100 + 2 × GbE)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needs Ethernet on every C5 first; solves aggregation, not sample synchronization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elements become separate networked boards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2"/>
                  </a:ext>
                </a:extLst>
              </a:tr>
              <a:tr h="603504">
                <a:tc>
                  <a:txBody>
                    <a:bodyPr/>
                    <a:lstStyle/>
                    <a:p>
                      <a:pPr algn="l">
                        <a:buNone/>
                      </a:pPr>
                      <a:r>
                        <a:rPr sz="1100" b="0" i="0">
                          <a:solidFill>
                            <a:srgbClr val="1D2733"/>
                          </a:solidFill>
                          <a:latin typeface="Calibri"/>
                        </a:rPr>
                        <a:t>ESP32-S31 as the RF element (2.4 GHz)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continuous IQ works today, but 2.4 GHz only: new aperture, crowded band</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if C5 PARLIO export fails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3"/>
                  </a:ext>
                </a:extLst>
              </a:tr>
              <a:tr h="603504">
                <a:tc>
                  <a:txBody>
                    <a:bodyPr/>
                    <a:lstStyle/>
                    <a:p>
                      <a:pPr algn="l">
                        <a:buNone/>
                      </a:pPr>
                      <a:r>
                        <a:rPr sz="1100" b="0" i="0">
                          <a:solidFill>
                            <a:srgbClr val="1D2733"/>
                          </a:solidFill>
                          <a:latin typeface="Calibri"/>
                        </a:rPr>
                        <a:t>4 × 2×2 tiles, one FPGA each</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more boards, FPGA mandatory, four uplinks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Plan B, or more processing per tile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4"/>
                  </a:ext>
                </a:extLst>
              </a:tr>
              <a:tr h="603504">
                <a:tc>
                  <a:txBody>
                    <a:bodyPr/>
                    <a:lstStyle/>
                    <a:p>
                      <a:pPr algn="l">
                        <a:buNone/>
                      </a:pPr>
                      <a:r>
                        <a:rPr sz="1100" b="0" i="0">
                          <a:solidFill>
                            <a:srgbClr val="1D2733"/>
                          </a:solidFill>
                          <a:latin typeface="Calibri"/>
                        </a:rPr>
                        <a:t>Analog phase shifter per element</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receive steering is exact and wideband in software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deterministic TX steering before raw TX exists</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5"/>
                  </a:ext>
                </a:extLst>
              </a:tr>
              <a:tr h="603504">
                <a:tc>
                  <a:txBody>
                    <a:bodyPr/>
                    <a:lstStyle/>
                    <a:p>
                      <a:pPr algn="l">
                        <a:buNone/>
                      </a:pPr>
                      <a:r>
                        <a:rPr sz="1100" b="0" i="0">
                          <a:solidFill>
                            <a:srgbClr val="1D2733"/>
                          </a:solidFill>
                          <a:latin typeface="Calibri"/>
                        </a:rPr>
                        <a:t>Buy 2 × ESPARGOS One (2.4 GHz)</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closed IQ firmware, 2.4 GHz, not our design</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tc>
                  <a:txBody>
                    <a:bodyPr/>
                    <a:lstStyle/>
                    <a:p>
                      <a:pPr algn="l">
                        <a:buNone/>
                      </a:pPr>
                      <a:r>
                        <a:rPr sz="1100" b="0" i="0">
                          <a:solidFill>
                            <a:srgbClr val="1D2733"/>
                          </a:solidFill>
                          <a:latin typeface="Calibri"/>
                        </a:rPr>
                        <a:t>as a reference instrument and baseline</a:t>
                      </a:r>
                      <a:endParaRPr sz="1100"/>
                    </a:p>
                  </a:txBody>
                  <a:tcPr marL="64008" marR="64008" marT="32004" marB="32004" anchor="ctr">
                    <a:lnL w="0">
                      <a:noFill/>
                    </a:lnL>
                    <a:lnR w="0">
                      <a:noFill/>
                    </a:lnR>
                    <a:lnT w="9525" cap="flat" cmpd="sng" algn="ctr">
                      <a:solidFill>
                        <a:srgbClr val="D3D9DF"/>
                      </a:solidFill>
                      <a:prstDash val="solid"/>
                      <a:round/>
                      <a:headEnd type="none" w="med" len="med"/>
                      <a:tailEnd type="none" w="med" len="med"/>
                    </a:lnT>
                    <a:lnB w="9525">
                      <a:solidFill>
                        <a:srgbClr val="D3D9DF"/>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What a successful student project looks like</a:t>
            </a:r>
          </a:p>
        </p:txBody>
      </p:sp>
      <p:sp>
        <p:nvSpPr>
          <p:cNvPr id="3" name="TextBox 2"/>
          <p:cNvSpPr txBox="1"/>
          <p:nvPr/>
        </p:nvSpPr>
        <p:spPr>
          <a:xfrm>
            <a:off x="548640" y="6419088"/>
            <a:ext cx="9692640" cy="274320"/>
          </a:xfrm>
          <a:prstGeom prst="rect">
            <a:avLst/>
          </a:prstGeom>
          <a:noFill/>
        </p:spPr>
        <p:txBody>
          <a:bodyPr wrap="square" lIns="0" tIns="0" rIns="0" bIns="0" anchor="b">
            <a:spAutoFit/>
          </a:bodyPr>
          <a:lstStyle/>
          <a:p>
            <a:pPr algn="l">
              <a:buNone/>
            </a:pPr>
            <a:r>
              <a:rPr sz="1000" b="0" i="0">
                <a:solidFill>
                  <a:srgbClr val="8C97A3"/>
                </a:solidFill>
                <a:latin typeface="Calibri"/>
              </a:rPr>
              <a:t>Each tier is a complete project outcome on its own.</a:t>
            </a:r>
            <a:endParaRPr sz="1000"/>
          </a:p>
        </p:txBody>
      </p:sp>
      <p:sp>
        <p:nvSpPr>
          <p:cNvPr id="4" name="TextBox 3"/>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35</a:t>
            </a:r>
            <a:endParaRPr sz="1000"/>
          </a:p>
        </p:txBody>
      </p:sp>
      <p:sp>
        <p:nvSpPr>
          <p:cNvPr id="5" name="TextBox 4"/>
          <p:cNvSpPr txBox="1"/>
          <p:nvPr/>
        </p:nvSpPr>
        <p:spPr>
          <a:xfrm>
            <a:off x="548640" y="1325880"/>
            <a:ext cx="3566160" cy="365760"/>
          </a:xfrm>
          <a:prstGeom prst="rect">
            <a:avLst/>
          </a:prstGeom>
          <a:noFill/>
        </p:spPr>
        <p:txBody>
          <a:bodyPr wrap="square" lIns="0" tIns="0" rIns="0" bIns="0" anchor="t">
            <a:spAutoFit/>
          </a:bodyPr>
          <a:lstStyle/>
          <a:p>
            <a:pPr algn="l">
              <a:buNone/>
            </a:pPr>
            <a:r>
              <a:rPr sz="2000" b="0" i="0">
                <a:solidFill>
                  <a:srgbClr val="1D2733"/>
                </a:solidFill>
                <a:latin typeface="Calibri Light"/>
              </a:rPr>
              <a:t>Minimum</a:t>
            </a:r>
            <a:endParaRPr sz="2000"/>
          </a:p>
        </p:txBody>
      </p:sp>
      <p:sp>
        <p:nvSpPr>
          <p:cNvPr id="6" name="TextBox 5"/>
          <p:cNvSpPr txBox="1"/>
          <p:nvPr/>
        </p:nvSpPr>
        <p:spPr>
          <a:xfrm>
            <a:off x="548640" y="1783080"/>
            <a:ext cx="3566160" cy="274320"/>
          </a:xfrm>
          <a:prstGeom prst="rect">
            <a:avLst/>
          </a:prstGeom>
          <a:noFill/>
        </p:spPr>
        <p:txBody>
          <a:bodyPr wrap="square" lIns="0" tIns="0" rIns="0" bIns="0" anchor="t">
            <a:spAutoFit/>
          </a:bodyPr>
          <a:lstStyle/>
          <a:p>
            <a:pPr algn="l">
              <a:buNone/>
            </a:pPr>
            <a:r>
              <a:rPr sz="1100" b="0" i="0">
                <a:solidFill>
                  <a:srgbClr val="5B6776"/>
                </a:solidFill>
                <a:latin typeface="Calibri"/>
              </a:rPr>
              <a:t>a solid result even if the tile PCB is late</a:t>
            </a:r>
            <a:endParaRPr sz="1100"/>
          </a:p>
        </p:txBody>
      </p:sp>
      <p:cxnSp>
        <p:nvCxnSpPr>
          <p:cNvPr id="7" name="Connector 6"/>
          <p:cNvCxnSpPr/>
          <p:nvPr/>
        </p:nvCxnSpPr>
        <p:spPr>
          <a:xfrm>
            <a:off x="548640" y="2148840"/>
            <a:ext cx="3566160" cy="0"/>
          </a:xfrm>
          <a:prstGeom prst="line">
            <a:avLst/>
          </a:prstGeom>
          <a:ln w="12700">
            <a:solidFill>
              <a:srgbClr val="1D273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2286000"/>
            <a:ext cx="3566160" cy="3291840"/>
          </a:xfrm>
          <a:prstGeom prst="rect">
            <a:avLst/>
          </a:prstGeom>
          <a:noFill/>
        </p:spPr>
        <p:txBody>
          <a:bodyPr wrap="square" lIns="0" tIns="0" rIns="0" bIns="0" anchor="t">
            <a:spAutoFit/>
          </a:bodyPr>
          <a:lstStyle/>
          <a:p>
            <a:pPr marL="201168" indent="-201168" algn="l">
              <a:spcAft>
                <a:spcPts val="800"/>
              </a:spcAft>
              <a:buFont typeface="Arial"/>
              <a:buChar char="•"/>
            </a:pPr>
            <a:r>
              <a:rPr sz="1400" b="0" i="0">
                <a:solidFill>
                  <a:srgbClr val="1D2733"/>
                </a:solidFill>
                <a:latin typeface="Calibri"/>
              </a:rPr>
              <a:t>C5 raw IQ exported over PARLIO, measured</a:t>
            </a:r>
            <a:endParaRPr sz="1400"/>
          </a:p>
          <a:p>
            <a:pPr marL="201168" indent="-201168" algn="l">
              <a:spcAft>
                <a:spcPts val="800"/>
              </a:spcAft>
              <a:buFont typeface="Arial"/>
              <a:buChar char="•"/>
            </a:pPr>
            <a:r>
              <a:rPr sz="1400" b="0" i="0">
                <a:solidFill>
                  <a:srgbClr val="1D2733"/>
                </a:solidFill>
                <a:latin typeface="Calibri"/>
              </a:rPr>
              <a:t>C5 + S31 streaming to a PC over GbE</a:t>
            </a:r>
            <a:endParaRPr sz="1400"/>
          </a:p>
          <a:p>
            <a:pPr marL="201168" indent="-201168" algn="l">
              <a:spcAft>
                <a:spcPts val="800"/>
              </a:spcAft>
              <a:buFont typeface="Arial"/>
              <a:buChar char="•"/>
            </a:pPr>
            <a:r>
              <a:rPr sz="1400" b="0" i="0">
                <a:solidFill>
                  <a:srgbClr val="1D2733"/>
                </a:solidFill>
                <a:latin typeface="Calibri"/>
              </a:rPr>
              <a:t>two C5s on one reference, phase-calibrated</a:t>
            </a:r>
            <a:endParaRPr sz="1400"/>
          </a:p>
          <a:p>
            <a:pPr marL="201168" indent="-201168" algn="l">
              <a:spcAft>
                <a:spcPts val="800"/>
              </a:spcAft>
              <a:buFont typeface="Arial"/>
              <a:buChar char="•"/>
            </a:pPr>
            <a:r>
              <a:rPr sz="1400" b="0" i="0">
                <a:solidFill>
                  <a:srgbClr val="1D2733"/>
                </a:solidFill>
                <a:latin typeface="Calibri"/>
              </a:rPr>
              <a:t>open-source code + measurement report</a:t>
            </a:r>
            <a:endParaRPr sz="1400"/>
          </a:p>
        </p:txBody>
      </p:sp>
      <p:sp>
        <p:nvSpPr>
          <p:cNvPr id="9" name="TextBox 8"/>
          <p:cNvSpPr txBox="1"/>
          <p:nvPr/>
        </p:nvSpPr>
        <p:spPr>
          <a:xfrm>
            <a:off x="4297679" y="1325880"/>
            <a:ext cx="3566160" cy="365760"/>
          </a:xfrm>
          <a:prstGeom prst="rect">
            <a:avLst/>
          </a:prstGeom>
          <a:noFill/>
        </p:spPr>
        <p:txBody>
          <a:bodyPr wrap="square" lIns="0" tIns="0" rIns="0" bIns="0" anchor="t">
            <a:spAutoFit/>
          </a:bodyPr>
          <a:lstStyle/>
          <a:p>
            <a:pPr algn="l">
              <a:buNone/>
            </a:pPr>
            <a:r>
              <a:rPr sz="2000" b="0" i="0">
                <a:solidFill>
                  <a:srgbClr val="1F5C99"/>
                </a:solidFill>
                <a:latin typeface="Calibri Light"/>
              </a:rPr>
              <a:t>Target</a:t>
            </a:r>
            <a:endParaRPr sz="2000"/>
          </a:p>
        </p:txBody>
      </p:sp>
      <p:sp>
        <p:nvSpPr>
          <p:cNvPr id="10" name="TextBox 9"/>
          <p:cNvSpPr txBox="1"/>
          <p:nvPr/>
        </p:nvSpPr>
        <p:spPr>
          <a:xfrm>
            <a:off x="4297679" y="1783080"/>
            <a:ext cx="3566160" cy="274320"/>
          </a:xfrm>
          <a:prstGeom prst="rect">
            <a:avLst/>
          </a:prstGeom>
          <a:noFill/>
        </p:spPr>
        <p:txBody>
          <a:bodyPr wrap="square" lIns="0" tIns="0" rIns="0" bIns="0" anchor="t">
            <a:spAutoFit/>
          </a:bodyPr>
          <a:lstStyle/>
          <a:p>
            <a:pPr algn="l">
              <a:buNone/>
            </a:pPr>
            <a:r>
              <a:rPr sz="1100" b="0" i="0">
                <a:solidFill>
                  <a:srgbClr val="5B6776"/>
                </a:solidFill>
                <a:latin typeface="Calibri"/>
              </a:rPr>
              <a:t>the proposal as planned</a:t>
            </a:r>
            <a:endParaRPr sz="1100"/>
          </a:p>
        </p:txBody>
      </p:sp>
      <p:cxnSp>
        <p:nvCxnSpPr>
          <p:cNvPr id="11" name="Connector 10"/>
          <p:cNvCxnSpPr/>
          <p:nvPr/>
        </p:nvCxnSpPr>
        <p:spPr>
          <a:xfrm>
            <a:off x="4297679" y="2148840"/>
            <a:ext cx="3566161" cy="0"/>
          </a:xfrm>
          <a:prstGeom prst="line">
            <a:avLst/>
          </a:prstGeom>
          <a:ln w="12700">
            <a:solidFill>
              <a:srgbClr val="1F5C9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97679" y="2286000"/>
            <a:ext cx="3566160" cy="3291840"/>
          </a:xfrm>
          <a:prstGeom prst="rect">
            <a:avLst/>
          </a:prstGeom>
          <a:noFill/>
        </p:spPr>
        <p:txBody>
          <a:bodyPr wrap="square" lIns="0" tIns="0" rIns="0" bIns="0" anchor="t">
            <a:spAutoFit/>
          </a:bodyPr>
          <a:lstStyle/>
          <a:p>
            <a:pPr marL="201168" indent="-201168" algn="l">
              <a:spcAft>
                <a:spcPts val="800"/>
              </a:spcAft>
              <a:buFont typeface="Arial"/>
              <a:buChar char="•"/>
            </a:pPr>
            <a:r>
              <a:rPr sz="1400" b="0" i="0">
                <a:solidFill>
                  <a:srgbClr val="1D2733"/>
                </a:solidFill>
                <a:latin typeface="Calibri"/>
              </a:rPr>
              <a:t>one 8-element tile at 640 Mbit/s</a:t>
            </a:r>
            <a:endParaRPr sz="1400"/>
          </a:p>
          <a:p>
            <a:pPr marL="201168" indent="-201168" algn="l">
              <a:spcAft>
                <a:spcPts val="800"/>
              </a:spcAft>
              <a:buFont typeface="Arial"/>
              <a:buChar char="•"/>
            </a:pPr>
            <a:r>
              <a:rPr sz="1400" b="0" i="0">
                <a:solidFill>
                  <a:srgbClr val="1D2733"/>
                </a:solidFill>
                <a:latin typeface="Calibri"/>
              </a:rPr>
              <a:t>two tiles: calibrated 4 × 4 beamforming and AoA</a:t>
            </a:r>
            <a:endParaRPr sz="1400"/>
          </a:p>
          <a:p>
            <a:pPr marL="201168" indent="-201168" algn="l">
              <a:spcAft>
                <a:spcPts val="800"/>
              </a:spcAft>
              <a:buFont typeface="Arial"/>
              <a:buChar char="•"/>
            </a:pPr>
            <a:r>
              <a:rPr sz="1400" b="0" i="0">
                <a:solidFill>
                  <a:srgbClr val="1D2733"/>
                </a:solidFill>
                <a:latin typeface="Calibri"/>
              </a:rPr>
              <a:t>both data modes working</a:t>
            </a:r>
            <a:endParaRPr sz="1400"/>
          </a:p>
          <a:p>
            <a:pPr marL="201168" indent="-201168" algn="l">
              <a:spcAft>
                <a:spcPts val="800"/>
              </a:spcAft>
              <a:buFont typeface="Arial"/>
              <a:buChar char="•"/>
            </a:pPr>
            <a:r>
              <a:rPr sz="1400" b="0" i="0">
                <a:solidFill>
                  <a:srgbClr val="1D2733"/>
                </a:solidFill>
                <a:latin typeface="Calibri"/>
              </a:rPr>
              <a:t>a published dataset of synchronized captures</a:t>
            </a:r>
            <a:endParaRPr sz="1400"/>
          </a:p>
        </p:txBody>
      </p:sp>
      <p:sp>
        <p:nvSpPr>
          <p:cNvPr id="13" name="TextBox 12"/>
          <p:cNvSpPr txBox="1"/>
          <p:nvPr/>
        </p:nvSpPr>
        <p:spPr>
          <a:xfrm>
            <a:off x="8046719" y="1325880"/>
            <a:ext cx="3566160" cy="365760"/>
          </a:xfrm>
          <a:prstGeom prst="rect">
            <a:avLst/>
          </a:prstGeom>
          <a:noFill/>
        </p:spPr>
        <p:txBody>
          <a:bodyPr wrap="square" lIns="0" tIns="0" rIns="0" bIns="0" anchor="t">
            <a:spAutoFit/>
          </a:bodyPr>
          <a:lstStyle/>
          <a:p>
            <a:pPr algn="l">
              <a:buNone/>
            </a:pPr>
            <a:r>
              <a:rPr sz="2000" b="0" i="0">
                <a:solidFill>
                  <a:srgbClr val="5B6776"/>
                </a:solidFill>
                <a:latin typeface="Calibri Light"/>
              </a:rPr>
              <a:t>Stretch</a:t>
            </a:r>
            <a:endParaRPr sz="2000"/>
          </a:p>
        </p:txBody>
      </p:sp>
      <p:sp>
        <p:nvSpPr>
          <p:cNvPr id="14" name="TextBox 13"/>
          <p:cNvSpPr txBox="1"/>
          <p:nvPr/>
        </p:nvSpPr>
        <p:spPr>
          <a:xfrm>
            <a:off x="8046719" y="1783080"/>
            <a:ext cx="3566160" cy="274320"/>
          </a:xfrm>
          <a:prstGeom prst="rect">
            <a:avLst/>
          </a:prstGeom>
          <a:noFill/>
        </p:spPr>
        <p:txBody>
          <a:bodyPr wrap="square" lIns="0" tIns="0" rIns="0" bIns="0" anchor="t">
            <a:spAutoFit/>
          </a:bodyPr>
          <a:lstStyle/>
          <a:p>
            <a:pPr algn="l">
              <a:buNone/>
            </a:pPr>
            <a:r>
              <a:rPr sz="1100" b="0" i="0">
                <a:solidFill>
                  <a:srgbClr val="5B6776"/>
                </a:solidFill>
                <a:latin typeface="Calibri"/>
              </a:rPr>
              <a:t>only after the target is met</a:t>
            </a:r>
            <a:endParaRPr sz="1100"/>
          </a:p>
        </p:txBody>
      </p:sp>
      <p:cxnSp>
        <p:nvCxnSpPr>
          <p:cNvPr id="15" name="Connector 14"/>
          <p:cNvCxnSpPr/>
          <p:nvPr/>
        </p:nvCxnSpPr>
        <p:spPr>
          <a:xfrm>
            <a:off x="8046719" y="2148840"/>
            <a:ext cx="3566161" cy="0"/>
          </a:xfrm>
          <a:prstGeom prst="line">
            <a:avLst/>
          </a:prstGeom>
          <a:ln w="12700">
            <a:solidFill>
              <a:srgbClr val="D3D9D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46719" y="2286000"/>
            <a:ext cx="3566160" cy="3291840"/>
          </a:xfrm>
          <a:prstGeom prst="rect">
            <a:avLst/>
          </a:prstGeom>
          <a:noFill/>
        </p:spPr>
        <p:txBody>
          <a:bodyPr wrap="square" lIns="0" tIns="0" rIns="0" bIns="0" anchor="t">
            <a:spAutoFit/>
          </a:bodyPr>
          <a:lstStyle/>
          <a:p>
            <a:pPr marL="201168" indent="-201168" algn="l">
              <a:spcAft>
                <a:spcPts val="800"/>
              </a:spcAft>
              <a:buFont typeface="Arial"/>
              <a:buChar char="•"/>
            </a:pPr>
            <a:r>
              <a:rPr sz="1400" b="0" i="0">
                <a:solidFill>
                  <a:srgbClr val="5B6776"/>
                </a:solidFill>
                <a:latin typeface="Calibri"/>
              </a:rPr>
              <a:t>Doppler / passive radar demo</a:t>
            </a:r>
            <a:endParaRPr sz="1400"/>
          </a:p>
          <a:p>
            <a:pPr marL="201168" indent="-201168" algn="l">
              <a:spcAft>
                <a:spcPts val="800"/>
              </a:spcAft>
              <a:buFont typeface="Arial"/>
              <a:buChar char="•"/>
            </a:pPr>
            <a:r>
              <a:rPr sz="1400" b="0" i="0">
                <a:solidFill>
                  <a:srgbClr val="5B6776"/>
                </a:solidFill>
                <a:latin typeface="Calibri"/>
              </a:rPr>
              <a:t>separate-TX bistatic experiments</a:t>
            </a:r>
            <a:endParaRPr sz="1400"/>
          </a:p>
          <a:p>
            <a:pPr marL="201168" indent="-201168" algn="l">
              <a:spcAft>
                <a:spcPts val="800"/>
              </a:spcAft>
              <a:buFont typeface="Arial"/>
              <a:buChar char="•"/>
            </a:pPr>
            <a:r>
              <a:rPr sz="1400" b="0" i="0">
                <a:solidFill>
                  <a:srgbClr val="5B6776"/>
                </a:solidFill>
                <a:latin typeface="Calibri"/>
              </a:rPr>
              <a:t>first coherent-TX experiments</a:t>
            </a:r>
            <a:endParaRPr sz="1400"/>
          </a:p>
          <a:p>
            <a:pPr marL="201168" indent="-201168" algn="l">
              <a:spcAft>
                <a:spcPts val="800"/>
              </a:spcAft>
              <a:buFont typeface="Arial"/>
              <a:buChar char="•"/>
            </a:pPr>
            <a:r>
              <a:rPr sz="1400" b="0" i="0">
                <a:solidFill>
                  <a:srgbClr val="5B6776"/>
                </a:solidFill>
                <a:latin typeface="Calibri"/>
              </a:rPr>
              <a:t>FPGA or S31 preprocessing</a:t>
            </a:r>
            <a:endParaRPr sz="1400"/>
          </a:p>
        </p:txBody>
      </p:sp>
      <p:sp>
        <p:nvSpPr>
          <p:cNvPr id="17" name="TextBox 16"/>
          <p:cNvSpPr txBox="1"/>
          <p:nvPr/>
        </p:nvSpPr>
        <p:spPr>
          <a:xfrm>
            <a:off x="548640" y="5623560"/>
            <a:ext cx="11064240" cy="548640"/>
          </a:xfrm>
          <a:prstGeom prst="rect">
            <a:avLst/>
          </a:prstGeom>
          <a:noFill/>
        </p:spPr>
        <p:txBody>
          <a:bodyPr wrap="square" lIns="0" tIns="0" rIns="0" bIns="0" anchor="t">
            <a:spAutoFit/>
          </a:bodyPr>
          <a:lstStyle/>
          <a:p>
            <a:pPr algn="l">
              <a:buNone/>
            </a:pPr>
            <a:r>
              <a:rPr sz="1300" b="0" i="0">
                <a:solidFill>
                  <a:srgbClr val="1D2733"/>
                </a:solidFill>
                <a:latin typeface="Calibri"/>
              </a:rPr>
              <a:t>A good outcome is measured coherence and a reusable platform — not a single beam plot. Every result should survive a power cycle.</a:t>
            </a:r>
            <a:endParaRPr sz="13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References</a:t>
            </a:r>
          </a:p>
        </p:txBody>
      </p:sp>
      <p:sp>
        <p:nvSpPr>
          <p:cNvPr id="3" name="TextBox 2"/>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36</a:t>
            </a:r>
            <a:endParaRPr sz="1000"/>
          </a:p>
        </p:txBody>
      </p:sp>
      <p:sp>
        <p:nvSpPr>
          <p:cNvPr id="4" name="TextBox 3"/>
          <p:cNvSpPr txBox="1"/>
          <p:nvPr/>
        </p:nvSpPr>
        <p:spPr>
          <a:xfrm>
            <a:off x="548640" y="1280160"/>
            <a:ext cx="11064240" cy="4937760"/>
          </a:xfrm>
          <a:prstGeom prst="rect">
            <a:avLst/>
          </a:prstGeom>
          <a:noFill/>
        </p:spPr>
        <p:txBody>
          <a:bodyPr wrap="square" lIns="0" tIns="0" rIns="0" bIns="0" anchor="t">
            <a:spAutoFit/>
          </a:bodyPr>
          <a:lstStyle/>
          <a:p>
            <a:pPr algn="l">
              <a:spcAft>
                <a:spcPts val="600"/>
              </a:spcAft>
              <a:buNone/>
            </a:pPr>
            <a:r>
              <a:rPr sz="1100" b="0" i="0">
                <a:solidFill>
                  <a:srgbClr val="8C97A3"/>
                </a:solidFill>
                <a:latin typeface="Calibri"/>
              </a:rPr>
              <a:t>[1]  </a:t>
            </a:r>
            <a:r>
              <a:rPr sz="1100" b="0" i="0">
                <a:solidFill>
                  <a:srgbClr val="1D2733"/>
                </a:solidFill>
                <a:latin typeface="Calibri"/>
              </a:rPr>
              <a:t>F. Euchner, T. Schneider, M. Gauger, S. ten Brink, “ESPARGOS: An ultra low-cost, realtime-capable multi-antenna WiFi channel sounder,” WSA &amp; SCC 2023.</a:t>
            </a:r>
            <a:r>
              <a:rPr sz="1000" b="0" i="0">
                <a:solidFill>
                  <a:srgbClr val="1F5C99"/>
                </a:solidFill>
                <a:latin typeface="Calibri"/>
              </a:rPr>
              <a:t>  arxiv.org/abs/2502.09405</a:t>
            </a:r>
            <a:endParaRPr sz="1100"/>
          </a:p>
          <a:p>
            <a:pPr algn="l">
              <a:spcAft>
                <a:spcPts val="600"/>
              </a:spcAft>
              <a:buNone/>
            </a:pPr>
            <a:r>
              <a:rPr sz="1100" b="0" i="0">
                <a:solidFill>
                  <a:srgbClr val="8C97A3"/>
                </a:solidFill>
                <a:latin typeface="Calibri"/>
              </a:rPr>
              <a:t>[2]  </a:t>
            </a:r>
            <a:r>
              <a:rPr sz="1100" b="0" i="0">
                <a:solidFill>
                  <a:srgbClr val="1D2733"/>
                </a:solidFill>
                <a:latin typeface="Calibri"/>
              </a:rPr>
              <a:t>F. Euchner, S. ten Brink, “ESPARGOS: Phase-coherent WiFi CSI datasets for wireless sensing research,” 2024.</a:t>
            </a:r>
            <a:r>
              <a:rPr sz="1000" b="0" i="0">
                <a:solidFill>
                  <a:srgbClr val="1F5C99"/>
                </a:solidFill>
                <a:latin typeface="Calibri"/>
              </a:rPr>
              <a:t>  arxiv.org/abs/2408.16377</a:t>
            </a:r>
            <a:endParaRPr sz="1100"/>
          </a:p>
          <a:p>
            <a:pPr algn="l">
              <a:spcAft>
                <a:spcPts val="600"/>
              </a:spcAft>
              <a:buNone/>
            </a:pPr>
            <a:r>
              <a:rPr sz="1100" b="0" i="0">
                <a:solidFill>
                  <a:srgbClr val="8C97A3"/>
                </a:solidFill>
                <a:latin typeface="Calibri"/>
              </a:rPr>
              <a:t>[3]  </a:t>
            </a:r>
            <a:r>
              <a:rPr sz="1100" b="0" i="0">
                <a:solidFill>
                  <a:srgbClr val="1D2733"/>
                </a:solidFill>
                <a:latin typeface="Calibri"/>
              </a:rPr>
              <a:t>F. Euchner, D. Kellner, P. Stephan, S. ten Brink, “Passive channel charting: Locating passive targets using Wi-Fi CSI,” 2025.</a:t>
            </a:r>
            <a:r>
              <a:rPr sz="1000" b="0" i="0">
                <a:solidFill>
                  <a:srgbClr val="1F5C99"/>
                </a:solidFill>
                <a:latin typeface="Calibri"/>
              </a:rPr>
              <a:t>  arxiv.org/abs/2504.09924</a:t>
            </a:r>
            <a:endParaRPr sz="1100"/>
          </a:p>
          <a:p>
            <a:pPr algn="l">
              <a:spcAft>
                <a:spcPts val="600"/>
              </a:spcAft>
              <a:buNone/>
            </a:pPr>
            <a:r>
              <a:rPr sz="1100" b="0" i="0">
                <a:solidFill>
                  <a:srgbClr val="8C97A3"/>
                </a:solidFill>
                <a:latin typeface="Calibri"/>
              </a:rPr>
              <a:t>[4]  </a:t>
            </a:r>
            <a:r>
              <a:rPr sz="1100" b="0" i="0">
                <a:solidFill>
                  <a:srgbClr val="1D2733"/>
                </a:solidFill>
                <a:latin typeface="Calibri"/>
              </a:rPr>
              <a:t>ESPARGOS One datasheet and Quick Start Manual Rev 1.0, June 2026.</a:t>
            </a:r>
            <a:r>
              <a:rPr sz="1000" b="0" i="0">
                <a:solidFill>
                  <a:srgbClr val="1F5C99"/>
                </a:solidFill>
                <a:latin typeface="Calibri"/>
              </a:rPr>
              <a:t>  espargos.net/espargos-one/</a:t>
            </a:r>
            <a:endParaRPr sz="1100"/>
          </a:p>
          <a:p>
            <a:pPr algn="l">
              <a:spcAft>
                <a:spcPts val="600"/>
              </a:spcAft>
              <a:buNone/>
            </a:pPr>
            <a:r>
              <a:rPr sz="1100" b="0" i="0">
                <a:solidFill>
                  <a:srgbClr val="8C97A3"/>
                </a:solidFill>
                <a:latin typeface="Calibri"/>
              </a:rPr>
              <a:t>[5]  </a:t>
            </a:r>
            <a:r>
              <a:rPr sz="1100" b="0" i="0">
                <a:solidFill>
                  <a:srgbClr val="1D2733"/>
                </a:solidFill>
                <a:latin typeface="Calibri"/>
              </a:rPr>
              <a:t>ESPARGOS documentation: phase-coherent multi-array systems; IQ sampling.</a:t>
            </a:r>
            <a:r>
              <a:rPr sz="1000" b="0" i="0">
                <a:solidFill>
                  <a:srgbClr val="1F5C99"/>
                </a:solidFill>
                <a:latin typeface="Calibri"/>
              </a:rPr>
              <a:t>  espargos.net/docs/combined-arrays.html</a:t>
            </a:r>
            <a:endParaRPr sz="1100"/>
          </a:p>
          <a:p>
            <a:pPr algn="l">
              <a:spcAft>
                <a:spcPts val="600"/>
              </a:spcAft>
              <a:buNone/>
            </a:pPr>
            <a:r>
              <a:rPr sz="1100" b="0" i="0">
                <a:solidFill>
                  <a:srgbClr val="8C97A3"/>
                </a:solidFill>
                <a:latin typeface="Calibri"/>
              </a:rPr>
              <a:t>[6]  </a:t>
            </a:r>
            <a:r>
              <a:rPr sz="1100" b="0" i="0">
                <a:solidFill>
                  <a:srgbClr val="1D2733"/>
                </a:solidFill>
                <a:latin typeface="Calibri"/>
              </a:rPr>
              <a:t>pyespargos library (LGPL-3.0): iq_sync, iq_pool, iq_tone, csi_calibration.</a:t>
            </a:r>
            <a:r>
              <a:rPr sz="1000" b="0" i="0">
                <a:solidFill>
                  <a:srgbClr val="1F5C99"/>
                </a:solidFill>
                <a:latin typeface="Calibri"/>
              </a:rPr>
              <a:t>  github.com/ESPARGOS/pyespargos</a:t>
            </a:r>
            <a:endParaRPr sz="1100"/>
          </a:p>
          <a:p>
            <a:pPr algn="l">
              <a:spcAft>
                <a:spcPts val="600"/>
              </a:spcAft>
              <a:buNone/>
            </a:pPr>
            <a:r>
              <a:rPr sz="1100" b="0" i="0">
                <a:solidFill>
                  <a:srgbClr val="8C97A3"/>
                </a:solidFill>
                <a:latin typeface="Calibri"/>
              </a:rPr>
              <a:t>[7]  </a:t>
            </a:r>
            <a:r>
              <a:rPr sz="1100" b="0" i="0">
                <a:solidFill>
                  <a:srgbClr val="1D2733"/>
                </a:solidFill>
                <a:latin typeface="Calibri"/>
              </a:rPr>
              <a:t>ESP-SDR: raw IQ capture with Espressif’s ESP32 chips (project page).</a:t>
            </a:r>
            <a:r>
              <a:rPr sz="1000" b="0" i="0">
                <a:solidFill>
                  <a:srgbClr val="1F5C99"/>
                </a:solidFill>
                <a:latin typeface="Calibri"/>
              </a:rPr>
              <a:t>  espargos.net/espsdr/</a:t>
            </a:r>
            <a:endParaRPr sz="1100"/>
          </a:p>
          <a:p>
            <a:pPr algn="l">
              <a:spcAft>
                <a:spcPts val="600"/>
              </a:spcAft>
              <a:buNone/>
            </a:pPr>
            <a:r>
              <a:rPr sz="1100" b="0" i="0">
                <a:solidFill>
                  <a:srgbClr val="8C97A3"/>
                </a:solidFill>
                <a:latin typeface="Calibri"/>
              </a:rPr>
              <a:t>[8]  </a:t>
            </a:r>
            <a:r>
              <a:rPr sz="1100" b="0" i="0">
                <a:solidFill>
                  <a:srgbClr val="1D2733"/>
                </a:solidFill>
                <a:latin typeface="Calibri"/>
              </a:rPr>
              <a:t>ESPARGOS/esp-sdr (GPL-3.0), HEAD e74f2a4, 8 Oct 2026: README, targets/esp32c5/chip.h, docs/rx-controls.md, issues #3 #5, PRs #6 #9.</a:t>
            </a:r>
            <a:r>
              <a:rPr sz="1000" b="0" i="0">
                <a:solidFill>
                  <a:srgbClr val="1F5C99"/>
                </a:solidFill>
                <a:latin typeface="Calibri"/>
              </a:rPr>
              <a:t>  github.com/ESPARGOS/esp-sdr</a:t>
            </a:r>
            <a:endParaRPr sz="1100"/>
          </a:p>
          <a:p>
            <a:pPr algn="l">
              <a:spcAft>
                <a:spcPts val="600"/>
              </a:spcAft>
              <a:buNone/>
            </a:pPr>
            <a:r>
              <a:rPr sz="1100" b="0" i="0">
                <a:solidFill>
                  <a:srgbClr val="8C97A3"/>
                </a:solidFill>
                <a:latin typeface="Calibri"/>
              </a:rPr>
              <a:t>[9]  </a:t>
            </a:r>
            <a:r>
              <a:rPr sz="1100" b="0" i="0">
                <a:solidFill>
                  <a:srgbClr val="1D2733"/>
                </a:solidFill>
                <a:latin typeface="Calibri"/>
              </a:rPr>
              <a:t>Espressif, ESP32-C5 Series Datasheet v1.5, Sept 2026.</a:t>
            </a:r>
            <a:r>
              <a:rPr sz="1000" b="0" i="0">
                <a:solidFill>
                  <a:srgbClr val="1F5C99"/>
                </a:solidFill>
                <a:latin typeface="Calibri"/>
              </a:rPr>
              <a:t>  espressif.com/sites/default/files/documentation/esp32-c5_datasheet_en.pdf</a:t>
            </a:r>
            <a:endParaRPr sz="1100"/>
          </a:p>
          <a:p>
            <a:pPr algn="l">
              <a:spcAft>
                <a:spcPts val="600"/>
              </a:spcAft>
              <a:buNone/>
            </a:pPr>
            <a:r>
              <a:rPr sz="1100" b="0" i="0">
                <a:solidFill>
                  <a:srgbClr val="8C97A3"/>
                </a:solidFill>
                <a:latin typeface="Calibri"/>
              </a:rPr>
              <a:t>[10]  </a:t>
            </a:r>
            <a:r>
              <a:rPr sz="1100" b="0" i="0">
                <a:solidFill>
                  <a:srgbClr val="1D2733"/>
                </a:solidFill>
                <a:latin typeface="Calibri"/>
              </a:rPr>
              <a:t>Espressif, ESP32-C5 Hardware Design Guidelines: schematic checklist, PCB layout.</a:t>
            </a:r>
            <a:r>
              <a:rPr sz="1000" b="0" i="0">
                <a:solidFill>
                  <a:srgbClr val="1F5C99"/>
                </a:solidFill>
                <a:latin typeface="Calibri"/>
              </a:rPr>
              <a:t>  docs.espressif.com/projects/esp-hardware-design-guidelines/en/latest/esp32c5/</a:t>
            </a:r>
            <a:endParaRPr sz="1100"/>
          </a:p>
          <a:p>
            <a:pPr algn="l">
              <a:spcAft>
                <a:spcPts val="600"/>
              </a:spcAft>
              <a:buNone/>
            </a:pPr>
            <a:r>
              <a:rPr sz="1100" b="0" i="0">
                <a:solidFill>
                  <a:srgbClr val="8C97A3"/>
                </a:solidFill>
                <a:latin typeface="Calibri"/>
              </a:rPr>
              <a:t>[11]  </a:t>
            </a:r>
            <a:r>
              <a:rPr sz="1100" b="0" i="0">
                <a:solidFill>
                  <a:srgbClr val="1D2733"/>
                </a:solidFill>
                <a:latin typeface="Calibri"/>
              </a:rPr>
              <a:t>Espressif, ESP32-C5-WROOM-1/1U Datasheet v1.3; ESP32-S31 Datasheet v0.5 (pre-release).</a:t>
            </a:r>
            <a:r>
              <a:rPr sz="1000" b="0" i="0">
                <a:solidFill>
                  <a:srgbClr val="1F5C99"/>
                </a:solidFill>
                <a:latin typeface="Calibri"/>
              </a:rPr>
              <a:t>  espressif.com/en/support/documents/technical-documents</a:t>
            </a:r>
            <a:endParaRPr sz="1100"/>
          </a:p>
          <a:p>
            <a:pPr algn="l">
              <a:spcAft>
                <a:spcPts val="600"/>
              </a:spcAft>
              <a:buNone/>
            </a:pPr>
            <a:r>
              <a:rPr sz="1100" b="0" i="0">
                <a:solidFill>
                  <a:srgbClr val="8C97A3"/>
                </a:solidFill>
                <a:latin typeface="Calibri"/>
              </a:rPr>
              <a:t>[12]  </a:t>
            </a:r>
            <a:r>
              <a:rPr sz="1100" b="0" i="0">
                <a:solidFill>
                  <a:srgbClr val="1D2733"/>
                </a:solidFill>
                <a:latin typeface="Calibri"/>
              </a:rPr>
              <a:t>Espressif, ESP32-S2 Hardware Design Guidelines — oscillator input on XTAL_P.</a:t>
            </a:r>
            <a:r>
              <a:rPr sz="1000" b="0" i="0">
                <a:solidFill>
                  <a:srgbClr val="1F5C99"/>
                </a:solidFill>
                <a:latin typeface="Calibri"/>
              </a:rPr>
              <a:t>  docs.espressif.com/projects/esp-hardware-design-guidelines/en/latest/esp32s2/</a:t>
            </a:r>
            <a:endParaRPr sz="1100"/>
          </a:p>
          <a:p>
            <a:pPr algn="l">
              <a:spcAft>
                <a:spcPts val="600"/>
              </a:spcAft>
              <a:buNone/>
            </a:pPr>
            <a:r>
              <a:rPr sz="1100" b="0" i="0">
                <a:solidFill>
                  <a:srgbClr val="8C97A3"/>
                </a:solidFill>
                <a:latin typeface="Calibri"/>
              </a:rPr>
              <a:t>[13]  </a:t>
            </a:r>
            <a:r>
              <a:rPr sz="1100" b="0" i="0">
                <a:solidFill>
                  <a:srgbClr val="1D2733"/>
                </a:solidFill>
                <a:latin typeface="Calibri"/>
              </a:rPr>
              <a:t>Espressif, ESP-Hosted-MCU performance (C5 SDIO throughput).</a:t>
            </a:r>
            <a:r>
              <a:rPr sz="1000" b="0" i="0">
                <a:solidFill>
                  <a:srgbClr val="1F5C99"/>
                </a:solidFill>
                <a:latin typeface="Calibri"/>
              </a:rPr>
              <a:t>  github.com/espressif/esp-hosted-mcu/blob/main/docs/design/performance.md</a:t>
            </a:r>
            <a:endParaRPr sz="1100"/>
          </a:p>
          <a:p>
            <a:pPr algn="l">
              <a:spcAft>
                <a:spcPts val="600"/>
              </a:spcAft>
              <a:buNone/>
            </a:pPr>
            <a:r>
              <a:rPr sz="1100" b="0" i="0">
                <a:solidFill>
                  <a:srgbClr val="8C97A3"/>
                </a:solidFill>
                <a:latin typeface="Calibri"/>
              </a:rPr>
              <a:t>[14]  </a:t>
            </a:r>
            <a:r>
              <a:rPr sz="1100" b="0" i="0">
                <a:solidFill>
                  <a:srgbClr val="1D2733"/>
                </a:solidFill>
                <a:latin typeface="Calibri"/>
              </a:rPr>
              <a:t>Espressif, ESP32-C5 Technical Reference Manual v1.1 — Parallel IO (ch. 43), GDMA, ETM.</a:t>
            </a:r>
            <a:r>
              <a:rPr sz="1000" b="0" i="0">
                <a:solidFill>
                  <a:srgbClr val="1F5C99"/>
                </a:solidFill>
                <a:latin typeface="Calibri"/>
              </a:rPr>
              <a:t>  documentation.espressif.com/esp32-c5_technical_reference_manual_en.pdf</a:t>
            </a:r>
            <a:endParaRPr sz="1100"/>
          </a:p>
          <a:p>
            <a:pPr algn="l">
              <a:spcAft>
                <a:spcPts val="600"/>
              </a:spcAft>
              <a:buNone/>
            </a:pPr>
            <a:r>
              <a:rPr sz="1100" b="0" i="0">
                <a:solidFill>
                  <a:srgbClr val="8C97A3"/>
                </a:solidFill>
                <a:latin typeface="Calibri"/>
              </a:rPr>
              <a:t>[15]  </a:t>
            </a:r>
            <a:r>
              <a:rPr sz="1100" b="0" i="0">
                <a:solidFill>
                  <a:srgbClr val="1D2733"/>
                </a:solidFill>
                <a:latin typeface="Calibri"/>
              </a:rPr>
              <a:t>Espressif, ESP32-S31 Series Datasheet v0.5 (pre-release), 2026 — PARLIO, Gigabit EMAC with IEEE 1588.</a:t>
            </a:r>
            <a:r>
              <a:rPr sz="1000" b="0" i="0">
                <a:solidFill>
                  <a:srgbClr val="1F5C99"/>
                </a:solidFill>
                <a:latin typeface="Calibri"/>
              </a:rPr>
              <a:t>  documentation.espressif.com/esp32-s31_datasheet_en.html</a:t>
            </a:r>
            <a:endParaRPr sz="1100"/>
          </a:p>
          <a:p>
            <a:pPr algn="l">
              <a:spcAft>
                <a:spcPts val="600"/>
              </a:spcAft>
              <a:buNone/>
            </a:pPr>
            <a:r>
              <a:rPr sz="1100" b="0" i="0">
                <a:solidFill>
                  <a:srgbClr val="8C97A3"/>
                </a:solidFill>
                <a:latin typeface="Calibri"/>
              </a:rPr>
              <a:t>[16]  </a:t>
            </a:r>
            <a:r>
              <a:rPr sz="1100" b="0" i="0">
                <a:solidFill>
                  <a:srgbClr val="1D2733"/>
                </a:solidFill>
                <a:latin typeface="Calibri"/>
              </a:rPr>
              <a:t>ESP-SDR, ESP32-S31 streaming notes and test reports (16-lane PARLIO, ESR2 over GbE).</a:t>
            </a:r>
            <a:r>
              <a:rPr sz="1000" b="0" i="0">
                <a:solidFill>
                  <a:srgbClr val="1F5C99"/>
                </a:solidFill>
                <a:latin typeface="Calibri"/>
              </a:rPr>
              <a:t>  github.com/ESPARGOS/esp-sdr/blob/main/docs/s31-streaming.md</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11064240" cy="685800"/>
          </a:xfrm>
        </p:spPr>
        <p:txBody>
          <a:bodyPr wrap="square" lIns="0" tIns="0" rIns="0" bIns="0" anchor="ctr"/>
          <a:lstStyle/>
          <a:p>
            <a:pPr algn="l"/>
            <a:r>
              <a:rPr sz="3000" b="0">
                <a:solidFill>
                  <a:srgbClr val="1D2733"/>
                </a:solidFill>
                <a:latin typeface="Calibri Light"/>
              </a:rPr>
              <a:t>References (continued)</a:t>
            </a:r>
          </a:p>
        </p:txBody>
      </p:sp>
      <p:sp>
        <p:nvSpPr>
          <p:cNvPr id="3" name="TextBox 2"/>
          <p:cNvSpPr txBox="1"/>
          <p:nvPr/>
        </p:nvSpPr>
        <p:spPr>
          <a:xfrm>
            <a:off x="10881360" y="6419088"/>
            <a:ext cx="731520" cy="274320"/>
          </a:xfrm>
          <a:prstGeom prst="rect">
            <a:avLst/>
          </a:prstGeom>
          <a:noFill/>
        </p:spPr>
        <p:txBody>
          <a:bodyPr wrap="square" lIns="0" tIns="0" rIns="0" bIns="0" anchor="b">
            <a:spAutoFit/>
          </a:bodyPr>
          <a:lstStyle/>
          <a:p>
            <a:pPr algn="r">
              <a:buNone/>
            </a:pPr>
            <a:r>
              <a:rPr sz="1000" b="0" i="0">
                <a:solidFill>
                  <a:srgbClr val="8C97A3"/>
                </a:solidFill>
                <a:latin typeface="Calibri"/>
              </a:rPr>
              <a:t>37</a:t>
            </a:r>
            <a:endParaRPr sz="1000"/>
          </a:p>
        </p:txBody>
      </p:sp>
      <p:sp>
        <p:nvSpPr>
          <p:cNvPr id="4" name="TextBox 3"/>
          <p:cNvSpPr txBox="1"/>
          <p:nvPr/>
        </p:nvSpPr>
        <p:spPr>
          <a:xfrm>
            <a:off x="548640" y="1280160"/>
            <a:ext cx="11064240" cy="4937760"/>
          </a:xfrm>
          <a:prstGeom prst="rect">
            <a:avLst/>
          </a:prstGeom>
          <a:noFill/>
        </p:spPr>
        <p:txBody>
          <a:bodyPr wrap="square" lIns="0" tIns="0" rIns="0" bIns="0" anchor="t">
            <a:spAutoFit/>
          </a:bodyPr>
          <a:lstStyle/>
          <a:p>
            <a:pPr algn="l">
              <a:spcAft>
                <a:spcPts val="600"/>
              </a:spcAft>
              <a:buNone/>
            </a:pPr>
            <a:r>
              <a:rPr sz="1100" b="0" i="0">
                <a:solidFill>
                  <a:srgbClr val="8C97A3"/>
                </a:solidFill>
                <a:latin typeface="Calibri"/>
              </a:rPr>
              <a:t>[17]  </a:t>
            </a:r>
            <a:r>
              <a:rPr sz="1100" b="0" i="0">
                <a:solidFill>
                  <a:srgbClr val="1D2733"/>
                </a:solidFill>
                <a:latin typeface="Calibri"/>
              </a:rPr>
              <a:t>Espressif, ESP-IDF Parallel IO (PARLIO) TX driver, ESP32-C5.</a:t>
            </a:r>
            <a:r>
              <a:rPr sz="1000" b="0" i="0">
                <a:solidFill>
                  <a:srgbClr val="1F5C99"/>
                </a:solidFill>
                <a:latin typeface="Calibri"/>
              </a:rPr>
              <a:t>  docs.espressif.com/projects/esp-idf/en/latest/esp32c5/api-reference/peripherals/parlio/parlio_tx.html</a:t>
            </a:r>
            <a:endParaRPr sz="1100"/>
          </a:p>
          <a:p>
            <a:pPr algn="l">
              <a:spcAft>
                <a:spcPts val="600"/>
              </a:spcAft>
              <a:buNone/>
            </a:pPr>
            <a:r>
              <a:rPr sz="1100" b="0" i="0">
                <a:solidFill>
                  <a:srgbClr val="8C97A3"/>
                </a:solidFill>
                <a:latin typeface="Calibri"/>
              </a:rPr>
              <a:t>[18]  </a:t>
            </a:r>
            <a:r>
              <a:rPr sz="1100" b="0" i="0">
                <a:solidFill>
                  <a:srgbClr val="1D2733"/>
                </a:solidFill>
                <a:latin typeface="Calibri"/>
              </a:rPr>
              <a:t>Analog Devices, MAX2871 23.5–6000 MHz synthesizer with integrated VCO, datasheet.</a:t>
            </a:r>
            <a:r>
              <a:rPr sz="1000" b="0" i="0">
                <a:solidFill>
                  <a:srgbClr val="1F5C99"/>
                </a:solidFill>
                <a:latin typeface="Calibri"/>
              </a:rPr>
              <a:t>  analog.com/en/products/max2871.html</a:t>
            </a:r>
            <a:endParaRPr sz="1100"/>
          </a:p>
          <a:p>
            <a:pPr algn="l">
              <a:spcAft>
                <a:spcPts val="600"/>
              </a:spcAft>
              <a:buNone/>
            </a:pPr>
            <a:r>
              <a:rPr sz="1100" b="0" i="0">
                <a:solidFill>
                  <a:srgbClr val="8C97A3"/>
                </a:solidFill>
                <a:latin typeface="Calibri"/>
              </a:rPr>
              <a:t>[19]  </a:t>
            </a:r>
            <a:r>
              <a:rPr sz="1100" b="0" i="0">
                <a:solidFill>
                  <a:srgbClr val="1D2733"/>
                </a:solidFill>
                <a:latin typeface="Calibri"/>
              </a:rPr>
              <a:t>Skyworks, SKY13351-378LF 0.02–6 GHz SPDT switch, datasheet.</a:t>
            </a:r>
            <a:r>
              <a:rPr sz="1000" b="0" i="0">
                <a:solidFill>
                  <a:srgbClr val="1F5C99"/>
                </a:solidFill>
                <a:latin typeface="Calibri"/>
              </a:rPr>
              <a:t>  skyworksinc.com</a:t>
            </a:r>
            <a:endParaRPr sz="1100"/>
          </a:p>
          <a:p>
            <a:pPr algn="l">
              <a:spcAft>
                <a:spcPts val="600"/>
              </a:spcAft>
              <a:buNone/>
            </a:pPr>
            <a:r>
              <a:rPr sz="1100" b="0" i="0">
                <a:solidFill>
                  <a:srgbClr val="8C97A3"/>
                </a:solidFill>
                <a:latin typeface="Calibri"/>
              </a:rPr>
              <a:t>[20]  </a:t>
            </a:r>
            <a:r>
              <a:rPr sz="1100" b="0" i="0">
                <a:solidFill>
                  <a:srgbClr val="1D2733"/>
                </a:solidFill>
                <a:latin typeface="Calibri"/>
              </a:rPr>
              <a:t>Broadcom, BCM53202M product brief (53202M-PB00-R).</a:t>
            </a:r>
            <a:r>
              <a:rPr sz="1000" b="0" i="0">
                <a:solidFill>
                  <a:srgbClr val="1F5C99"/>
                </a:solidFill>
                <a:latin typeface="Calibri"/>
              </a:rPr>
              <a:t>  docs.broadcom.com/doc/53202M-PB00-R</a:t>
            </a:r>
            <a:endParaRPr sz="1100"/>
          </a:p>
          <a:p>
            <a:pPr algn="l">
              <a:spcAft>
                <a:spcPts val="600"/>
              </a:spcAft>
              <a:buNone/>
            </a:pPr>
            <a:r>
              <a:rPr sz="1100" b="0" i="0">
                <a:solidFill>
                  <a:srgbClr val="8C97A3"/>
                </a:solidFill>
                <a:latin typeface="Calibri"/>
              </a:rPr>
              <a:t>[21]  </a:t>
            </a:r>
            <a:r>
              <a:rPr sz="1100" b="0" i="0">
                <a:solidFill>
                  <a:srgbClr val="1D2733"/>
                </a:solidFill>
                <a:latin typeface="Calibri"/>
              </a:rPr>
              <a:t>Realtek, RTL8211F(I)-CG integrated 10/100/1000 Ethernet transceiver, datasheet.</a:t>
            </a:r>
            <a:r>
              <a:rPr sz="1000" b="0" i="0">
                <a:solidFill>
                  <a:srgbClr val="1F5C99"/>
                </a:solidFill>
                <a:latin typeface="Calibri"/>
              </a:rPr>
              <a:t>  realtek.com</a:t>
            </a:r>
            <a:endParaRPr sz="1100"/>
          </a:p>
          <a:p>
            <a:pPr algn="l">
              <a:spcAft>
                <a:spcPts val="600"/>
              </a:spcAft>
              <a:buNone/>
            </a:pPr>
            <a:r>
              <a:rPr sz="1100" b="0" i="0">
                <a:solidFill>
                  <a:srgbClr val="8C97A3"/>
                </a:solidFill>
                <a:latin typeface="Calibri"/>
              </a:rPr>
              <a:t>[22]  </a:t>
            </a:r>
            <a:r>
              <a:rPr sz="1100" b="0" i="0">
                <a:solidFill>
                  <a:srgbClr val="1D2733"/>
                </a:solidFill>
                <a:latin typeface="Calibri"/>
              </a:rPr>
              <a:t>Espressif, esp-csi and the esp-crab two-ESP32-C5 example.</a:t>
            </a:r>
            <a:r>
              <a:rPr sz="1000" b="0" i="0">
                <a:solidFill>
                  <a:srgbClr val="1F5C99"/>
                </a:solidFill>
                <a:latin typeface="Calibri"/>
              </a:rPr>
              <a:t>  github.com/espressif/esp-csi/tree/master/examples/esp-crab</a:t>
            </a:r>
            <a:endParaRPr sz="1100"/>
          </a:p>
          <a:p>
            <a:pPr algn="l">
              <a:spcAft>
                <a:spcPts val="600"/>
              </a:spcAft>
              <a:buNone/>
            </a:pPr>
            <a:r>
              <a:rPr sz="1100" b="0" i="0">
                <a:solidFill>
                  <a:srgbClr val="8C97A3"/>
                </a:solidFill>
                <a:latin typeface="Calibri"/>
              </a:rPr>
              <a:t>[23]  </a:t>
            </a:r>
            <a:r>
              <a:rPr sz="1100" b="0" i="0">
                <a:solidFill>
                  <a:srgbClr val="1D2733"/>
                </a:solidFill>
                <a:latin typeface="Calibri"/>
              </a:rPr>
              <a:t>Espressif, ESP-IDF: ESP32-C5 Wi-Fi CSI; esp_phy_cert_test.h (TX tone API).</a:t>
            </a:r>
            <a:r>
              <a:rPr sz="1000" b="0" i="0">
                <a:solidFill>
                  <a:srgbClr val="1F5C99"/>
                </a:solidFill>
                <a:latin typeface="Calibri"/>
              </a:rPr>
              <a:t>  docs.espressif.com/projects/esp-idf/en/latest/esp32c5/</a:t>
            </a:r>
            <a:endParaRPr sz="1100"/>
          </a:p>
          <a:p>
            <a:pPr algn="l">
              <a:spcAft>
                <a:spcPts val="600"/>
              </a:spcAft>
              <a:buNone/>
            </a:pPr>
            <a:r>
              <a:rPr sz="1100" b="0" i="0">
                <a:solidFill>
                  <a:srgbClr val="8C97A3"/>
                </a:solidFill>
                <a:latin typeface="Calibri"/>
              </a:rPr>
              <a:t>[24]  </a:t>
            </a:r>
            <a:r>
              <a:rPr sz="1100" b="0" i="0">
                <a:solidFill>
                  <a:srgbClr val="1D2733"/>
                </a:solidFill>
                <a:latin typeface="Calibri"/>
              </a:rPr>
              <a:t>C. Barrett (ed.), “Fractional/Integer-N PLL basics,” Texas Instruments SWRA029, 1999.</a:t>
            </a:r>
            <a:r>
              <a:rPr sz="1000" b="0" i="0">
                <a:solidFill>
                  <a:srgbClr val="1F5C99"/>
                </a:solidFill>
                <a:latin typeface="Calibri"/>
              </a:rPr>
              <a:t>  ti.com/lit/an/swra029/swra029.pdf</a:t>
            </a:r>
            <a:endParaRPr sz="1100"/>
          </a:p>
          <a:p>
            <a:pPr algn="l">
              <a:spcAft>
                <a:spcPts val="600"/>
              </a:spcAft>
              <a:buNone/>
            </a:pPr>
            <a:r>
              <a:rPr sz="1100" b="0" i="0">
                <a:solidFill>
                  <a:srgbClr val="8C97A3"/>
                </a:solidFill>
                <a:latin typeface="Calibri"/>
              </a:rPr>
              <a:t>[25]  </a:t>
            </a:r>
            <a:r>
              <a:rPr sz="1100" b="0" i="0">
                <a:solidFill>
                  <a:srgbClr val="1D2733"/>
                </a:solidFill>
                <a:latin typeface="Calibri"/>
              </a:rPr>
              <a:t>Datasheets: TI LMK1C1104 (SNAS791D), Epson TG2016SMN, SiTime SiT5356.</a:t>
            </a:r>
            <a:r>
              <a:rPr sz="1000" b="0" i="0">
                <a:solidFill>
                  <a:srgbClr val="1F5C99"/>
                </a:solidFill>
                <a:latin typeface="Calibri"/>
              </a:rPr>
              <a:t>  ti.com/lit/ds/symlink/lmk1c1104.pdf</a:t>
            </a:r>
            <a:endParaRPr sz="1100"/>
          </a:p>
          <a:p>
            <a:pPr algn="l">
              <a:spcAft>
                <a:spcPts val="600"/>
              </a:spcAft>
              <a:buNone/>
            </a:pPr>
            <a:r>
              <a:rPr sz="1100" b="0" i="0">
                <a:solidFill>
                  <a:srgbClr val="8C97A3"/>
                </a:solidFill>
                <a:latin typeface="Calibri"/>
              </a:rPr>
              <a:t>[26]  </a:t>
            </a:r>
            <a:r>
              <a:rPr sz="1100" b="0" i="0">
                <a:solidFill>
                  <a:srgbClr val="1D2733"/>
                </a:solidFill>
                <a:latin typeface="Calibri"/>
              </a:rPr>
              <a:t>K. Chetty, G. E. Smith, K. Woodbridge, “Through-the-wall sensing of personnel using passive bistatic WiFi radar at standoff distances,” IEEE TGRS 50(4), 2012.</a:t>
            </a:r>
            <a:r>
              <a:rPr sz="1000" b="0" i="0">
                <a:solidFill>
                  <a:srgbClr val="1F5C99"/>
                </a:solidFill>
                <a:latin typeface="Calibri"/>
              </a:rPr>
              <a:t>  doi.org/10.1109/TGRS.2011.2164411</a:t>
            </a:r>
            <a:endParaRPr sz="1100"/>
          </a:p>
          <a:p>
            <a:pPr algn="l">
              <a:spcAft>
                <a:spcPts val="600"/>
              </a:spcAft>
              <a:buNone/>
            </a:pPr>
            <a:r>
              <a:rPr sz="1100" b="0" i="0">
                <a:solidFill>
                  <a:srgbClr val="8C97A3"/>
                </a:solidFill>
                <a:latin typeface="Calibri"/>
              </a:rPr>
              <a:t>[27]  </a:t>
            </a:r>
            <a:r>
              <a:rPr sz="1100" b="0" i="0">
                <a:solidFill>
                  <a:srgbClr val="1D2733"/>
                </a:solidFill>
                <a:latin typeface="Calibri"/>
              </a:rPr>
              <a:t>F. Colone, K. Woodbridge, H. Guo, D. Mason, C. J. Baker, “Ambiguity function analysis of wireless LAN transmissions for passive radar,” IEEE TAES 47(1), 2011.</a:t>
            </a:r>
            <a:r>
              <a:rPr sz="1000" b="0" i="0">
                <a:solidFill>
                  <a:srgbClr val="1F5C99"/>
                </a:solidFill>
                <a:latin typeface="Calibri"/>
              </a:rPr>
              <a:t>  doi.org/10.1109/TAES.2011.5705673</a:t>
            </a:r>
            <a:endParaRPr sz="1100"/>
          </a:p>
          <a:p>
            <a:pPr algn="l">
              <a:spcAft>
                <a:spcPts val="600"/>
              </a:spcAft>
              <a:buNone/>
            </a:pPr>
            <a:r>
              <a:rPr sz="1100" b="0" i="0">
                <a:solidFill>
                  <a:srgbClr val="8C97A3"/>
                </a:solidFill>
                <a:latin typeface="Calibri"/>
              </a:rPr>
              <a:t>[28]  </a:t>
            </a:r>
            <a:r>
              <a:rPr sz="1100" b="0" i="0">
                <a:solidFill>
                  <a:srgbClr val="1D2733"/>
                </a:solidFill>
                <a:latin typeface="Calibri"/>
              </a:rPr>
              <a:t>H. C. Yildirim et al., “High resolution 802.11ax-based passive radar for human movement monitoring,” EuRAD 2020 (held January 2021).</a:t>
            </a:r>
            <a:r>
              <a:rPr sz="1000" b="0" i="0">
                <a:solidFill>
                  <a:srgbClr val="1F5C99"/>
                </a:solidFill>
                <a:latin typeface="Calibri"/>
              </a:rPr>
              <a:t>  research.dial.uclouvain.be/handle/2078.5/218703</a:t>
            </a:r>
            <a:endParaRPr sz="1100"/>
          </a:p>
          <a:p>
            <a:pPr algn="l">
              <a:spcAft>
                <a:spcPts val="600"/>
              </a:spcAft>
              <a:buNone/>
            </a:pPr>
            <a:r>
              <a:rPr sz="1100" b="0" i="0">
                <a:solidFill>
                  <a:srgbClr val="8C97A3"/>
                </a:solidFill>
                <a:latin typeface="Calibri"/>
              </a:rPr>
              <a:t>[29]  </a:t>
            </a:r>
            <a:r>
              <a:rPr sz="1100" b="0" i="0">
                <a:solidFill>
                  <a:srgbClr val="1D2733"/>
                </a:solidFill>
                <a:latin typeface="Calibri"/>
              </a:rPr>
              <a:t>S. M. Hernandez, E. Bulut, “Lightweight and standalone IoT based WiFi sensing for active repositioning and mobility,” WoWMoM 2020 (ESP32 CSI Tool).</a:t>
            </a:r>
            <a:r>
              <a:rPr sz="1000" b="0" i="0">
                <a:solidFill>
                  <a:srgbClr val="1F5C99"/>
                </a:solidFill>
                <a:latin typeface="Calibri"/>
              </a:rPr>
              <a:t>  github.com/StevenMHernandez/ESP32-CSI-Tool</a:t>
            </a:r>
            <a:endParaRPr sz="1100"/>
          </a:p>
          <a:p>
            <a:pPr algn="l">
              <a:spcAft>
                <a:spcPts val="600"/>
              </a:spcAft>
              <a:buNone/>
            </a:pPr>
            <a:r>
              <a:rPr sz="1100" b="0" i="0">
                <a:solidFill>
                  <a:srgbClr val="8C97A3"/>
                </a:solidFill>
                <a:latin typeface="Calibri"/>
              </a:rPr>
              <a:t>[30]  </a:t>
            </a:r>
            <a:r>
              <a:rPr sz="1100" b="0" i="0">
                <a:solidFill>
                  <a:srgbClr val="1D2733"/>
                </a:solidFill>
                <a:latin typeface="Calibri"/>
              </a:rPr>
              <a:t>CEPT ECC/DEC/(04)08 (amended 2021); Israel Wireless Telegraphy (Conformity Approvals) Regulations 2021.</a:t>
            </a:r>
            <a:r>
              <a:rPr sz="1000" b="0" i="0">
                <a:solidFill>
                  <a:srgbClr val="1F5C99"/>
                </a:solidFill>
                <a:latin typeface="Calibri"/>
              </a:rPr>
              <a:t>  docdb.cept.org/download/3450</a:t>
            </a:r>
            <a:endParaRPr sz="1100"/>
          </a:p>
          <a:p>
            <a:pPr algn="l">
              <a:spcAft>
                <a:spcPts val="600"/>
              </a:spcAft>
              <a:buNone/>
            </a:pPr>
            <a:r>
              <a:rPr sz="1100" b="0" i="0">
                <a:solidFill>
                  <a:srgbClr val="8C97A3"/>
                </a:solidFill>
                <a:latin typeface="Calibri"/>
              </a:rPr>
              <a:t>[31]  </a:t>
            </a:r>
            <a:r>
              <a:rPr sz="1100" b="0" i="0">
                <a:solidFill>
                  <a:srgbClr val="1D2733"/>
                </a:solidFill>
                <a:latin typeface="Calibri"/>
              </a:rPr>
              <a:t>h0m3us3r, eSpDR — ESP32-S3 + FPGA raw IQ at 80 MS/s.</a:t>
            </a:r>
            <a:r>
              <a:rPr sz="1000" b="0" i="0">
                <a:solidFill>
                  <a:srgbClr val="1F5C99"/>
                </a:solidFill>
                <a:latin typeface="Calibri"/>
              </a:rPr>
              <a:t>  github.com/h0m3us3r/eSpDR</a:t>
            </a:r>
            <a:endParaRPr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10880</Words>
  <Application>Microsoft Office PowerPoint</Application>
  <PresentationFormat>Widescreen</PresentationFormat>
  <Paragraphs>1258</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Cambria Math</vt:lpstr>
      <vt:lpstr>Office Theme</vt:lpstr>
      <vt:lpstr>A 4×4 phased-array research platform built from ESP32-C5 radios</vt:lpstr>
      <vt:lpstr>What are we trying to build?</vt:lpstr>
      <vt:lpstr>What already exists, and what is new here</vt:lpstr>
      <vt:lpstr>Why ESP32-C5?</vt:lpstr>
      <vt:lpstr>The antenna board we already have</vt:lpstr>
      <vt:lpstr>The hard part is synchronization</vt:lpstr>
      <vt:lpstr>Four synchronization domains — and what Ethernet is not for</vt:lpstr>
      <vt:lpstr>Sharing one 48 MHz reference</vt:lpstr>
      <vt:lpstr>A 5.2 GHz calibration network</vt:lpstr>
      <vt:lpstr>Calibration is a measurement loop</vt:lpstr>
      <vt:lpstr>Sixteen receivers create a data problem</vt:lpstr>
      <vt:lpstr>What ESP-SDR gives us today: snapshots, not streams</vt:lpstr>
      <vt:lpstr>Five ways to collect the data</vt:lpstr>
      <vt:lpstr>Two 8-element tiles and one timing board</vt:lpstr>
      <vt:lpstr>One tile: eight C5s, one S31, one Gigabit port</vt:lpstr>
      <vt:lpstr>Eight 2-bit streams on one 16-bit bus</vt:lpstr>
      <vt:lpstr>Two data modes</vt:lpstr>
      <vt:lpstr>Data-rate budget, stage by stage</vt:lpstr>
      <vt:lpstr>What happens to the IQ data?</vt:lpstr>
      <vt:lpstr>Plan B: a small FPGA between the C5s and the S31</vt:lpstr>
      <vt:lpstr>Tile PCB: geometry, seam and stack-up</vt:lpstr>
      <vt:lpstr>First useful experiment: receive beamforming</vt:lpstr>
      <vt:lpstr>Radar experiments</vt:lpstr>
      <vt:lpstr>Communications experiments</vt:lpstr>
      <vt:lpstr>Transmit: what we know and what we don't</vt:lpstr>
      <vt:lpstr>Transmit steering: easy maths, hard hardware</vt:lpstr>
      <vt:lpstr>Power, heat and board constraints</vt:lpstr>
      <vt:lpstr>What a tile and the full array cost</vt:lpstr>
      <vt:lpstr>Software stack</vt:lpstr>
      <vt:lpstr>Critical bench experiments before the tile PCB</vt:lpstr>
      <vt:lpstr>Development sequence</vt:lpstr>
      <vt:lpstr>Main technical risks</vt:lpstr>
      <vt:lpstr>What we know, what we infer, what we must test</vt:lpstr>
      <vt:lpstr>Alternatives we considered</vt:lpstr>
      <vt:lpstr>What a successful student project looks like</vt:lpstr>
      <vt:lpstr>References</vt:lpstr>
      <vt:lpstr>References (continued)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ESP32-C5 4x4 phased-array research platform</dc:title>
  <dc:subject>Student project proposal</dc:subject>
  <dc:creator>ESP32-C5 phased-array project</dc:creator>
  <cp:keywords/>
  <dc:description>generated using python-pptx</dc:description>
  <cp:lastModifiedBy>Sergei Efimov</cp:lastModifiedBy>
  <cp:revision>1</cp:revision>
  <dcterms:created xsi:type="dcterms:W3CDTF">2026-10-18T10:14:52Z</dcterms:created>
  <dcterms:modified xsi:type="dcterms:W3CDTF">2026-10-18T07:15:12Z</dcterms:modified>
  <cp:category/>
</cp:coreProperties>
</file>